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a talk about a small piece of software with an intentionally narrow job: stand between an intelligent requester and physical motors. We will spend most of the hour inside Leash, then use Pinkie for a bounded live proof.
[Sources]
- https://github.com/specdog/leash
- https://www.waveshare.com/product/ai/robots/ugv-rover-pt-jetson-orin-ai-kit.htm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at the boundary. In an agentic robot, the planner, human, autonomy stack, and recovery code may all want motion. If authority is implicit, every integration becomes a safety argument. Leash makes the question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metaphor is literal enough to be useful. Leash does not invent missions, recognize rooms, or decide what is interesting. It constrains the path from requested action to the physical body.
[Sources]
- https://github.com/specdog/leash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canonical rule from the project README. I use it as a design filter: language models and planners produce candidates; only Leash can authorize a candidate for hardware execution.
[Sources]
- https://github.com/specdog/leash/blob/566bc569b24bf5f392291b142469282fcdfac2b3/README.md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Pinkie is the current robot. The left image is a live camera snapshot from today; the right is the official Waveshare product image. The important point is not the brand. It is that real serial buses, stale sensors, batteries, and motor controllers turn vague intent into concrete failure modes.
[Sources]
- https://www.waveshare.com/product/ai/robots/ugv-rover-pt-jetson-orin-ai-kit.htm
- https://github.com/specdog/leash/blob/566bc569b24bf5f392291b142469282fcdfac2b3/implementations/waveshare-ugv/README.md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a motion request downward. Protocol parsing cannot write motors. The registry resolves a capability. Policy validates and authorizes. The runtime selects one adapter. Only that adapter owns the hardware path.
[Sources]
- https://github.com/specdog/leash/blob/566bc569b24bf5f392291b142469282fcdfac2b3/README.md
- https://github.com/specdog/leash/blob/566bc569b24bf5f392291b142469282fcdfac2b3/crates/leash-runtime/src/lib.rs
- https://github.com/specdog/leash/blob/566bc569b24bf5f392291b142469282fcdfac2b3/implementations/waveshare-ugv/adapter.rs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single-owner rule is operational, not philosophical. The runtime status reports the Waveshare controller owner. If another process owns the serial port, Leash cannot make a meaningful authority claim.
[Sources]
- https://github.com/specdog/leash/blob/566bc569b24bf5f392291b142469282fcdfac2b3/crates/leash-runtime/src/lib.rs
- https://github.com/specdog/leash/blob/566bc569b24bf5f392291b142469282fcdfac2b3/implementations/waveshare-ugv/adapter.rs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Leash exposes CLI, HTTP, and MCP-shaped access, but those are transports. The capability boundary is the stable idea. A caller submits a typed candidate and receives an authorization or a refusal—not direct hardware access.
[Sources]
- https://github.com/specdog/leash/blob/566bc569b24bf5f392291b142469282fcdfac2b3/src/http.rs
- https://github.com/specdog/leash/blob/566bc569b24bf5f392291b142469282fcdfac2b3/src/capability.rs
- https://github.com/specdog/leash/blob/566bc569b24bf5f392291b142469282fcdfac2b3/src/runtime.rs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architectural split. Intent is rich and nondeterministic. Authorization and the safety kernel are small and deterministic. The adapter translates to hardware. Evidence records the whole crossing so a later replay can explain what happened.
[Sources]
- https://github.com/specdog/leash/blob/566bc569b24bf5f392291b142469282fcdfac2b3/crates/leash-core/src
- https://github.com/specdog/leash/blob/566bc569b24bf5f392291b142469282fcdfac2b3/crates/leash-runtime/src
- https://github.com/specdog/leash/blob/566bc569b24bf5f392291b142469282fcdfac2b3/crates/leash-evidence/src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Capabilities name the effect and its contract. Unknown verbs do not fall through to magic. Unavailable hardware is not silently simulated. Each call ends as authorized, rejected, or unavailable, and that outcome can be recorded.
[Sources]
- https://github.com/specdog/leash/blob/566bc569b24bf5f392291b142469282fcdfac2b3/src/capability.rs
- https://github.com/specdog/leash/blob/566bc569b24bf5f392291b142469282fcdfac2b3/src/types.rs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real Leash syntax. ControllerIo is a marker trait with three supertraits: Read, Write, and Send. The blanket implementation means any type satisfying those bounds automatically implements ControllerIo. There are no methods to fake and no inheritance tree. The Send bound is architectural: ownership of the I/O object can move into the controller-owner thread.
[Sources]
- https://github.com/specdog/leash/blob/566bc569b24bf5f392291b142469282fcdfac2b3/crates/leash-waveshare/src/lib.rs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Leash’s CPU supervisor runs with a default ten-millisecond tick. It reads bounded inputs, makes a deterministic transition, writes an effect, and records evidence. The language-model loop is outside this deadline.
[Sources]
- https://github.com/specdog/leash/blob/566bc569b24bf5f392291b142469282fcdfac2b3/crates/leash-runtime/src/safety_supervisor.rs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NormalizedDrive is a one-field tuple struct whose field is private. Callers cannot construct NormalizedDrive(2.0); they must use new, which rejects non-finite and out-of-range values and returns Result. After construction, the rest of the program can rely on the invariant instead of rechecking every float.
[Sources]
- https://github.com/specdog/leash/blob/566bc569b24bf5f392291b142469282fcdfac2b3/crates/leash-core/src/drive.rs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Candidate&lt;C&gt; and Authorized&lt;C&gt; carry the same generic command type C, but they are different states. authorize consumes the candidate, checks the gate and deadline, allocates evidence identity, and returns Authorized&lt;C&gt;. Authorized’s fields are private, so a transport cannot assemble one with a struct literal. The compile-fail doctest proves that forgery does not compile.
[Sources]
- https://github.com/specdog/leash/blob/566bc569b24bf5f392291b142469282fcdfac2b3/crates/leash-core/src/drive.rs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supervisor has a bounded proposal channel and a separate priority safety path. Emergency stop is not allowed to wait behind ordinary motion requests. The CPU loop remains the final authority even when CUDA shadow computation is active.
[Sources]
- https://github.com/specdog/leash/blob/566bc569b24bf5f392291b142469282fcdfac2b3/crates/leash-runtime/src/safety_supervisor.rs
- https://github.com/specdog/leash/blob/566bc569b24bf5f392291b142469282fcdfac2b3/crates/leash-cuda/README.md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ActuationPort uses associated types rather than trait generics. Each implementation chooses one acknowledgement and error type, so the supervisor can be generic over the port without erasing its concrete contract. The Send plus static bounds allow the port to live in the supervisor thread. submit_drive takes mutable self and only Authorized&lt;DifferentialDrive&gt;, enforcing exclusive access and post-policy input at the signature.
[Sources]
- https://github.com/specdog/leash/blob/566bc569b24bf5f392291b142469282fcdfac2b3/crates/leash-runtime/src/supervisor.rs
- https://github.com/specdog/leash/blob/566bc569b24bf5f392291b142469282fcdfac2b3/crates/leash-waveshare/src/lib.rs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read-only sensor endpoint reported fresh LiDAR, camera, IMU, and odometry plus 83.3 percent battery. The design lesson is that a sensor value must carry freshness and health; stale but plausible values are dangerous.
[Sources]
- https://github.com/specdog/leash/blob/566bc569b24bf5f392291b142469282fcdfac2b3/src/types.rs
- https://github.com/specdog/leash/blob/566bc569b24bf5f392291b142469282fcdfac2b3/src/http.rs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runtime reported more than 4.8 million durable records. The point is not the number; it is the sequence. Replay should reconstruct the request, authorization, state transition, hardware write, telemetry, and result without asking an agent to narrate what it thinks happened.
[Sources]
- https://github.com/specdog/leash/blob/566bc569b24bf5f392291b142469282fcdfac2b3/crates/leash-evidence/src
- https://github.com/specdog/leash/blob/566bc569b24bf5f392291b142469282fcdfac2b3/crates/leash-runtime/src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safety lifecycle is explicit. Motion is not a boolean. Arm, move, stop, verify zero, and fault are different states with defined exits. Timeouts, E-stop, stale sensors, and ownership loss all have an explicit route away from motion.
[Sources]
- https://github.com/specdog/leash/blob/566bc569b24bf5f392291b142469282fcdfac2b3/crates/leash-runtime/src/safety_supervisor.rs
- https://github.com/specdog/leash/blob/566bc569b24bf5f392291b142469282fcdfac2b3/crates/leash-core/src/drive.rs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physical rollout evidence, E-stop acknowledgement was measured at 37.622 milliseconds and the final state was verified zero. This is the distinction: sending a stop is not the success condition. Observing and recording zero is.
[Sources]
- https://github.com/specdog/leash/blob/566bc569b24bf5f392291b142469282fcdfac2b3/crates/leash-runtime/evidence/jetson-orin-nx-rv2-16-physical-rollout-20260829.json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CUDA is active on Pinkie, but the live runtime reports CPU final authority. The CUDA design is shadow-first: compare results, measure performance, and fall back. Acceleration is not permission, and GPU availability is not a reason to widen the authority surface.
[Sources]
- https://github.com/specdog/leash/blob/566bc569b24bf5f392291b142469282fcdfac2b3/crates/leash-cuda/README.md
- https://github.com/specdog/leash/blob/566bc569b24bf5f392291b142469282fcdfac2b3/crates/leash-cuda/evidence/jetson-orin-nx-rv2-13-20260829.json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and Odom are zero-variant marker enums. Frame&lt;Tag&gt; carries PhantomData, so the tag exists at compile time without runtime storage. Pose2&lt;Map&gt; and Pose2&lt;Odom&gt; are different types; the compile-fail doctest proves they cannot be exchanged silently. The ROS2 bridge converts Nav2 output into typed proposals, but Leash still authorizes the effect.
[Sources]
- https://github.com/specdog/leash/blob/566bc569b24bf5f392291b142469282fcdfac2b3/crates/leash-core/src/frame.rs
- https://github.com/specdog/leash/blob/566bc569b24bf5f392291b142469282fcdfac2b3/crates/leash-ros2/src/lib.rs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measured artifacts committed with Leash: 58,306 nanoseconds p99 transition latency, zero deadline misses at 100 hertz, 110,293 durable records per second in the evidence run, and 37.622 milliseconds physical E-stop acknowledgement. They are not promises for every machine; they are reproducible evidence from this Jetson.
[Sources]
- https://github.com/specdog/leash/blob/566bc569b24bf5f392291b142469282fcdfac2b3/crates/leash-runtime/evidence/jetson-orin-nx-rv2-16-nomotion-20260829.json
- https://github.com/specdog/leash/blob/566bc569b24bf5f392291b142469282fcdfac2b3/crates/leash-runtime/evidence/jetson-orin-nx-evidence-20260829.json
- https://github.com/specdog/leash/blob/566bc569b24bf5f392291b142469282fcdfac2b3/crates/leash-runtime/evidence/jetson-orin-nx-rv2-16-physical-rollout-20260829.json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Leash is MIT licensed and modular. Core types, runtime policy, hardware adapters, evidence, and CUDA can evolve independently so long as they preserve the authority contract. The goal is not a universal robotics framework; it is a sharp boundary that can fit inside different stacks.
[Sources]
- https://github.com/specdog/leash/blob/566bc569b24bf5f392291b142469282fcdfac2b3/LICENSE
- https://github.com/specdog/leash/blob/566bc569b24bf5f392291b142469282fcdfac2b3/Cargo.toml
- https://github.com/specdog/leash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demo, I am separating live proof from future direction. Today we verified ownership, CPU authority, fresh sensors, camera, CUDA availability, and evidence. Mapping is currently initializing and visual odometry is unavailable, so I will not claim autonomous mapping or SLAM lock.
[Sources]
- https://github.com/specdog/leash/blob/566bc569b24bf5f392291b142469282fcdfac2b3/README.md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Qualia is intentionally outside Leash. It works on scene understanding, missions, ontologies, and longer-lived learning. Those asynchronous updates may improve future proposals, but they do not enter the ten-millisecond safety loop or gain motor authority.
[Sources]
- https://github.com/specdog/leash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entire relationship in one slide. Hermes or Qualia can form a mission and candidate. The candidate includes bounded magnitude, duration, and context. Leash validates and either authorizes an effect or records a refusal. The mission system remains replaceable.
[Sources]
- https://github.com/specdog/leash/blob/566bc569b24bf5f392291b142469282fcdfac2b3/src/types.rs
- https://github.com/specdog/leash/blob/566bc569b24bf5f392291b142469282fcdfac2b3/src/capability.rs
- https://github.com/specdog/leash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sequence is intentionally boring. First a read-only preflight. Then an explicit human approval and operator token. One low-speed pulse, no more than 0.10 normalized drive and no more than 500 milliseconds. Then verified stop and evidence. If any gate is red, I use the recorded fallback instead of improvising.
[Sources]
- https://github.com/specdog/leash/blob/566bc569b24bf5f392291b142469282fcdfac2b3/crates/leash-runtime/evidence/jetson-orin-nx-rv2-16-physical-rollout-20260829.json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takeaway is the rule: the planner proposes and the boundary decides. The QR points directly to this deck’s PDF and expires on the date shown. The repository is public and MIT licensed. Thank you—questions are welcome.
[Sources]
- https://github.com/specdog/leash
- https://docs.railway.com/storage-buckets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GEEK ON A LEASH</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01</a:t>
            </a:r>
            <a:endParaRPr lang="en-US" sz="950" dirty="0"/>
          </a:p>
        </p:txBody>
      </p:sp>
      <p:sp>
        <p:nvSpPr>
          <p:cNvPr id="5" name="Shape 3"/>
          <p:cNvSpPr/>
          <p:nvPr/>
        </p:nvSpPr>
        <p:spPr>
          <a:xfrm>
            <a:off x="411480" y="530352"/>
            <a:ext cx="6903720" cy="5440680"/>
          </a:xfrm>
          <a:prstGeom prst="rect">
            <a:avLst/>
          </a:prstGeom>
          <a:solidFill>
            <a:srgbClr val="2855FF"/>
          </a:solidFill>
          <a:ln w="38100">
            <a:solidFill>
              <a:srgbClr val="0B0B0B"/>
            </a:solidFill>
            <a:prstDash val="solid"/>
          </a:ln>
        </p:spPr>
      </p:sp>
      <p:sp>
        <p:nvSpPr>
          <p:cNvPr id="6" name="Text 4"/>
          <p:cNvSpPr/>
          <p:nvPr/>
        </p:nvSpPr>
        <p:spPr>
          <a:xfrm>
            <a:off x="713232" y="822960"/>
            <a:ext cx="6126480" cy="2148840"/>
          </a:xfrm>
          <a:prstGeom prst="rect">
            <a:avLst/>
          </a:prstGeom>
          <a:noFill/>
          <a:ln/>
        </p:spPr>
        <p:txBody>
          <a:bodyPr wrap="square" lIns="0" tIns="0" rIns="0" bIns="0" rtlCol="0" anchor="t">
            <a:normAutofit/>
          </a:bodyPr>
          <a:lstStyle/>
          <a:p>
            <a:pPr algn="l" indent="0" marL="0">
              <a:lnSpc>
                <a:spcPct val="100000"/>
              </a:lnSpc>
              <a:buNone/>
            </a:pPr>
            <a:r>
              <a:rPr lang="en-US" sz="4300" b="1" dirty="0">
                <a:solidFill>
                  <a:srgbClr val="FFFFFF"/>
                </a:solidFill>
                <a:latin typeface="Arial" pitchFamily="34" charset="0"/>
                <a:ea typeface="Arial" pitchFamily="34" charset="-122"/>
                <a:cs typeface="Arial" pitchFamily="34" charset="-120"/>
              </a:rPr>
              <a:t>GEEK ON</a:t>
            </a:r>
            <a:endParaRPr lang="en-US" sz="4300" dirty="0"/>
          </a:p>
          <a:p>
            <a:pPr algn="l" indent="0" marL="0">
              <a:lnSpc>
                <a:spcPct val="100000"/>
              </a:lnSpc>
              <a:buNone/>
            </a:pPr>
            <a:r>
              <a:rPr lang="en-US" sz="4300" b="1" dirty="0">
                <a:solidFill>
                  <a:srgbClr val="FFFFFF"/>
                </a:solidFill>
                <a:latin typeface="Arial" pitchFamily="34" charset="0"/>
                <a:ea typeface="Arial" pitchFamily="34" charset="-122"/>
                <a:cs typeface="Arial" pitchFamily="34" charset="-120"/>
              </a:rPr>
              <a:t>A LEASH</a:t>
            </a:r>
            <a:endParaRPr lang="en-US" sz="4300" dirty="0"/>
          </a:p>
        </p:txBody>
      </p:sp>
      <p:sp>
        <p:nvSpPr>
          <p:cNvPr id="7" name="Text 5"/>
          <p:cNvSpPr/>
          <p:nvPr/>
        </p:nvSpPr>
        <p:spPr>
          <a:xfrm>
            <a:off x="749808" y="3246120"/>
            <a:ext cx="5806440" cy="960120"/>
          </a:xfrm>
          <a:prstGeom prst="rect">
            <a:avLst/>
          </a:prstGeom>
          <a:noFill/>
          <a:ln/>
        </p:spPr>
        <p:txBody>
          <a:bodyPr wrap="square" lIns="0" tIns="0" rIns="0" bIns="0" rtlCol="0" anchor="t">
            <a:normAutofit/>
          </a:bodyPr>
          <a:lstStyle/>
          <a:p>
            <a:pPr algn="l" indent="0" marL="0">
              <a:lnSpc>
                <a:spcPct val="100000"/>
              </a:lnSpc>
              <a:buNone/>
            </a:pPr>
            <a:r>
              <a:rPr lang="en-US" sz="2300" b="1" dirty="0">
                <a:solidFill>
                  <a:srgbClr val="FFFFFF"/>
                </a:solidFill>
                <a:latin typeface="Arial" pitchFamily="34" charset="0"/>
                <a:ea typeface="Arial" pitchFamily="34" charset="-122"/>
                <a:cs typeface="Arial" pitchFamily="34" charset="-120"/>
              </a:rPr>
              <a:t>Rust at the boundary between</a:t>
            </a:r>
            <a:endParaRPr lang="en-US" sz="2300" dirty="0"/>
          </a:p>
          <a:p>
            <a:pPr algn="l" indent="0" marL="0">
              <a:lnSpc>
                <a:spcPct val="100000"/>
              </a:lnSpc>
              <a:buNone/>
            </a:pPr>
            <a:r>
              <a:rPr lang="en-US" sz="2300" b="1" dirty="0">
                <a:solidFill>
                  <a:srgbClr val="FFFFFF"/>
                </a:solidFill>
                <a:latin typeface="Arial" pitchFamily="34" charset="0"/>
                <a:ea typeface="Arial" pitchFamily="34" charset="-122"/>
                <a:cs typeface="Arial" pitchFamily="34" charset="-120"/>
              </a:rPr>
              <a:t>intent and motion</a:t>
            </a:r>
            <a:endParaRPr lang="en-US" sz="2300" dirty="0"/>
          </a:p>
        </p:txBody>
      </p:sp>
      <p:sp>
        <p:nvSpPr>
          <p:cNvPr id="8" name="Shape 6"/>
          <p:cNvSpPr/>
          <p:nvPr/>
        </p:nvSpPr>
        <p:spPr>
          <a:xfrm>
            <a:off x="749808" y="5074920"/>
            <a:ext cx="2331720" cy="384048"/>
          </a:xfrm>
          <a:prstGeom prst="roundRect">
            <a:avLst>
              <a:gd name="adj" fmla="val 19048"/>
            </a:avLst>
          </a:prstGeom>
          <a:solidFill>
            <a:srgbClr val="B8FF32"/>
          </a:solidFill>
          <a:ln w="19050">
            <a:solidFill>
              <a:srgbClr val="0B0B0B"/>
            </a:solidFill>
            <a:prstDash val="solid"/>
          </a:ln>
        </p:spPr>
      </p:sp>
      <p:sp>
        <p:nvSpPr>
          <p:cNvPr id="9" name="Text 7"/>
          <p:cNvSpPr/>
          <p:nvPr/>
        </p:nvSpPr>
        <p:spPr>
          <a:xfrm>
            <a:off x="859536" y="5148072"/>
            <a:ext cx="2112264" cy="219456"/>
          </a:xfrm>
          <a:prstGeom prst="rect">
            <a:avLst/>
          </a:prstGeom>
          <a:noFill/>
          <a:ln/>
        </p:spPr>
        <p:txBody>
          <a:bodyPr wrap="square" lIns="0" tIns="0" rIns="0" bIns="0" rtlCol="0" anchor="ctr">
            <a:normAutofit/>
          </a:bodyPr>
          <a:lstStyle/>
          <a:p>
            <a:pPr algn="ctr" indent="0" marL="0">
              <a:lnSpc>
                <a:spcPct val="100000"/>
              </a:lnSpc>
              <a:buNone/>
            </a:pPr>
            <a:r>
              <a:rPr lang="en-US" sz="1100" b="1" dirty="0">
                <a:solidFill>
                  <a:srgbClr val="0B0B0B"/>
                </a:solidFill>
                <a:latin typeface="Arial" pitchFamily="34" charset="0"/>
                <a:ea typeface="Arial" pitchFamily="34" charset="-122"/>
                <a:cs typeface="Arial" pitchFamily="34" charset="-120"/>
              </a:rPr>
              <a:t>OPEN SOURCE • MIT</a:t>
            </a:r>
            <a:endParaRPr lang="en-US" sz="1100" dirty="0"/>
          </a:p>
        </p:txBody>
      </p:sp>
      <p:sp>
        <p:nvSpPr>
          <p:cNvPr id="10" name="Shape 8"/>
          <p:cNvSpPr/>
          <p:nvPr/>
        </p:nvSpPr>
        <p:spPr>
          <a:xfrm>
            <a:off x="7744968" y="621792"/>
            <a:ext cx="3941064" cy="3941064"/>
          </a:xfrm>
          <a:prstGeom prst="rect">
            <a:avLst/>
          </a:prstGeom>
          <a:solidFill>
            <a:srgbClr val="FFFDF7"/>
          </a:solidFill>
          <a:ln w="38100">
            <a:solidFill>
              <a:srgbClr val="0B0B0B"/>
            </a:solidFill>
            <a:prstDash val="solid"/>
          </a:ln>
        </p:spPr>
      </p:sp>
      <p:pic>
        <p:nvPicPr>
          <p:cNvPr id="11" name="Image 0" descr="/Users/ericmanganaro/leash-worktrees/geek-on-a-leash-talk/talks/geek-on-a-leash/assets/waveshare-ugv-rover-front.jpg">    </p:cNvPr>
          <p:cNvPicPr>
            <a:picLocks noChangeAspect="1"/>
          </p:cNvPicPr>
          <p:nvPr/>
        </p:nvPicPr>
        <p:blipFill>
          <a:blip r:embed="rId1"/>
          <a:stretch>
            <a:fillRect/>
          </a:stretch>
        </p:blipFill>
        <p:spPr>
          <a:xfrm>
            <a:off x="7818120" y="694944"/>
            <a:ext cx="3794760" cy="3794760"/>
          </a:xfrm>
          <a:prstGeom prst="rect">
            <a:avLst/>
          </a:prstGeom>
        </p:spPr>
      </p:pic>
      <p:sp>
        <p:nvSpPr>
          <p:cNvPr id="12" name="Text 9"/>
          <p:cNvSpPr/>
          <p:nvPr/>
        </p:nvSpPr>
        <p:spPr>
          <a:xfrm>
            <a:off x="7882128" y="4809744"/>
            <a:ext cx="3566160" cy="310896"/>
          </a:xfrm>
          <a:prstGeom prst="rect">
            <a:avLst/>
          </a:prstGeom>
          <a:noFill/>
          <a:ln/>
        </p:spPr>
        <p:txBody>
          <a:bodyPr wrap="square" lIns="0" tIns="0" rIns="0" bIns="0" rtlCol="0" anchor="t">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ERIC MANGANARO</a:t>
            </a:r>
            <a:endParaRPr lang="en-US" sz="1800" dirty="0"/>
          </a:p>
        </p:txBody>
      </p:sp>
      <p:sp>
        <p:nvSpPr>
          <p:cNvPr id="13" name="Text 10"/>
          <p:cNvSpPr/>
          <p:nvPr/>
        </p:nvSpPr>
        <p:spPr>
          <a:xfrm>
            <a:off x="7882128" y="5193792"/>
            <a:ext cx="3566160" cy="274320"/>
          </a:xfrm>
          <a:prstGeom prst="rect">
            <a:avLst/>
          </a:prstGeom>
          <a:noFill/>
          <a:ln/>
        </p:spPr>
        <p:txBody>
          <a:bodyPr wrap="square" lIns="0" tIns="0" rIns="0" bIns="0" rtlCol="0" anchor="t">
            <a:normAutofit/>
          </a:bodyPr>
          <a:lstStyle/>
          <a:p>
            <a:pPr algn="l" indent="0" marL="0">
              <a:lnSpc>
                <a:spcPct val="100000"/>
              </a:lnSpc>
              <a:buNone/>
            </a:pPr>
            <a:r>
              <a:rPr lang="en-US" sz="1300" dirty="0">
                <a:solidFill>
                  <a:srgbClr val="6B6B66"/>
                </a:solidFill>
                <a:latin typeface="Arial" pitchFamily="34" charset="0"/>
                <a:ea typeface="Arial" pitchFamily="34" charset="-122"/>
                <a:cs typeface="Arial" pitchFamily="34" charset="-120"/>
              </a:rPr>
              <a:t>Leash + Pinkie • 60 minutes</a:t>
            </a:r>
            <a:endParaRPr lang="en-US" sz="1300" dirty="0"/>
          </a:p>
        </p:txBody>
      </p:sp>
      <p:pic>
        <p:nvPicPr>
          <p:cNvPr id="14" name="Image 1" descr="/Users/ericmanganaro/leash-worktrees/geek-on-a-leash-talk/talks/geek-on-a-leash/output/geek-on-a-leash-qr.png">    </p:cNvPr>
          <p:cNvPicPr>
            <a:picLocks noChangeAspect="1"/>
          </p:cNvPicPr>
          <p:nvPr/>
        </p:nvPicPr>
        <p:blipFill>
          <a:blip r:embed="rId2"/>
          <a:stretch>
            <a:fillRect/>
          </a:stretch>
        </p:blipFill>
        <p:spPr>
          <a:xfrm>
            <a:off x="10241280" y="4773168"/>
            <a:ext cx="1097280" cy="1097280"/>
          </a:xfrm>
          <a:prstGeom prst="rect">
            <a:avLst/>
          </a:prstGeom>
        </p:spPr>
      </p:pic>
      <p:sp>
        <p:nvSpPr>
          <p:cNvPr id="15" name="Text 11"/>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github.com/specdog/leash</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D63D"/>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THE PROBLEM</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02</a:t>
            </a:r>
            <a:endParaRPr lang="en-US" sz="950" dirty="0"/>
          </a:p>
        </p:txBody>
      </p:sp>
      <p:sp>
        <p:nvSpPr>
          <p:cNvPr id="5" name="Text 3"/>
          <p:cNvSpPr/>
          <p:nvPr/>
        </p:nvSpPr>
        <p:spPr>
          <a:xfrm>
            <a:off x="502920" y="658368"/>
            <a:ext cx="11109960" cy="914400"/>
          </a:xfrm>
          <a:prstGeom prst="rect">
            <a:avLst/>
          </a:prstGeom>
          <a:noFill/>
          <a:ln/>
        </p:spPr>
        <p:txBody>
          <a:bodyPr wrap="square" lIns="0" tIns="0" rIns="0" bIns="0" rtlCol="0" anchor="ctr">
            <a:normAutofit/>
          </a:bodyPr>
          <a:lstStyle/>
          <a:p>
            <a:pPr indent="0" marL="0">
              <a:buNone/>
            </a:pPr>
            <a:r>
              <a:rPr lang="en-US" sz="3600" b="1" dirty="0">
                <a:solidFill>
                  <a:srgbClr val="0B0B0B"/>
                </a:solidFill>
                <a:latin typeface="Arial Black" pitchFamily="34" charset="0"/>
                <a:ea typeface="Arial Black" pitchFamily="34" charset="-122"/>
                <a:cs typeface="Arial Black" pitchFamily="34" charset="-120"/>
              </a:rPr>
              <a:t>Who gets to write the motors?</a:t>
            </a:r>
            <a:endParaRPr lang="en-US" sz="3600" dirty="0"/>
          </a:p>
        </p:txBody>
      </p:sp>
      <p:sp>
        <p:nvSpPr>
          <p:cNvPr id="6" name="Shape 4"/>
          <p:cNvSpPr/>
          <p:nvPr/>
        </p:nvSpPr>
        <p:spPr>
          <a:xfrm>
            <a:off x="594360" y="1920240"/>
            <a:ext cx="2240280" cy="1143000"/>
          </a:xfrm>
          <a:prstGeom prst="rect">
            <a:avLst/>
          </a:prstGeom>
          <a:solidFill>
            <a:srgbClr val="FFFDF7"/>
          </a:solidFill>
          <a:ln w="27940">
            <a:solidFill>
              <a:srgbClr val="0B0B0B"/>
            </a:solidFill>
            <a:prstDash val="solid"/>
          </a:ln>
        </p:spPr>
      </p:sp>
      <p:sp>
        <p:nvSpPr>
          <p:cNvPr id="7" name="Text 5"/>
          <p:cNvSpPr/>
          <p:nvPr/>
        </p:nvSpPr>
        <p:spPr>
          <a:xfrm>
            <a:off x="758952" y="2084832"/>
            <a:ext cx="1911096" cy="813816"/>
          </a:xfrm>
          <a:prstGeom prst="rect">
            <a:avLst/>
          </a:prstGeom>
          <a:noFill/>
          <a:ln/>
        </p:spPr>
        <p:txBody>
          <a:bodyPr wrap="square" lIns="0" tIns="0" rIns="0" bIns="0" rtlCol="0" anchor="ctr">
            <a:normAutofit/>
          </a:bodyPr>
          <a:lstStyle/>
          <a:p>
            <a:pPr algn="ctr" indent="0" marL="0">
              <a:lnSpc>
                <a:spcPct val="100000"/>
              </a:lnSpc>
              <a:buNone/>
            </a:pPr>
            <a:r>
              <a:rPr lang="en-US" sz="2200" b="1" dirty="0">
                <a:solidFill>
                  <a:srgbClr val="0B0B0B"/>
                </a:solidFill>
                <a:latin typeface="Arial" pitchFamily="34" charset="0"/>
                <a:ea typeface="Arial" pitchFamily="34" charset="-122"/>
                <a:cs typeface="Arial" pitchFamily="34" charset="-120"/>
              </a:rPr>
              <a:t>HUMAN</a:t>
            </a:r>
            <a:endParaRPr lang="en-US" sz="2200" dirty="0"/>
          </a:p>
        </p:txBody>
      </p:sp>
      <p:sp>
        <p:nvSpPr>
          <p:cNvPr id="8" name="Shape 6"/>
          <p:cNvSpPr/>
          <p:nvPr/>
        </p:nvSpPr>
        <p:spPr>
          <a:xfrm>
            <a:off x="594360" y="4023360"/>
            <a:ext cx="2240280" cy="1143000"/>
          </a:xfrm>
          <a:prstGeom prst="rect">
            <a:avLst/>
          </a:prstGeom>
          <a:solidFill>
            <a:srgbClr val="DDE5FF"/>
          </a:solidFill>
          <a:ln w="27940">
            <a:solidFill>
              <a:srgbClr val="0B0B0B"/>
            </a:solidFill>
            <a:prstDash val="solid"/>
          </a:ln>
        </p:spPr>
      </p:sp>
      <p:sp>
        <p:nvSpPr>
          <p:cNvPr id="9" name="Text 7"/>
          <p:cNvSpPr/>
          <p:nvPr/>
        </p:nvSpPr>
        <p:spPr>
          <a:xfrm>
            <a:off x="758952" y="4187952"/>
            <a:ext cx="1911096" cy="813816"/>
          </a:xfrm>
          <a:prstGeom prst="rect">
            <a:avLst/>
          </a:prstGeom>
          <a:noFill/>
          <a:ln/>
        </p:spPr>
        <p:txBody>
          <a:bodyPr wrap="square" lIns="0" tIns="0" rIns="0" bIns="0" rtlCol="0" anchor="ctr">
            <a:normAutofit/>
          </a:bodyPr>
          <a:lstStyle/>
          <a:p>
            <a:pPr algn="ctr" indent="0" marL="0">
              <a:lnSpc>
                <a:spcPct val="100000"/>
              </a:lnSpc>
              <a:buNone/>
            </a:pPr>
            <a:r>
              <a:rPr lang="en-US" sz="2200" b="1" dirty="0">
                <a:solidFill>
                  <a:srgbClr val="0B0B0B"/>
                </a:solidFill>
                <a:latin typeface="Arial" pitchFamily="34" charset="0"/>
                <a:ea typeface="Arial" pitchFamily="34" charset="-122"/>
                <a:cs typeface="Arial" pitchFamily="34" charset="-120"/>
              </a:rPr>
              <a:t>AGENT</a:t>
            </a:r>
            <a:endParaRPr lang="en-US" sz="2200" dirty="0"/>
          </a:p>
        </p:txBody>
      </p:sp>
      <p:sp>
        <p:nvSpPr>
          <p:cNvPr id="10" name="Shape 8"/>
          <p:cNvSpPr/>
          <p:nvPr/>
        </p:nvSpPr>
        <p:spPr>
          <a:xfrm>
            <a:off x="2971800" y="2487168"/>
            <a:ext cx="2011680" cy="1371600"/>
          </a:xfrm>
          <a:prstGeom prst="line">
            <a:avLst/>
          </a:prstGeom>
          <a:noFill/>
          <a:ln w="38100">
            <a:solidFill>
              <a:srgbClr val="0B0B0B"/>
            </a:solidFill>
            <a:prstDash val="solid"/>
            <a:tailEnd type="triangle"/>
          </a:ln>
        </p:spPr>
      </p:sp>
      <p:sp>
        <p:nvSpPr>
          <p:cNvPr id="11" name="Shape 9"/>
          <p:cNvSpPr/>
          <p:nvPr/>
        </p:nvSpPr>
        <p:spPr>
          <a:xfrm>
            <a:off x="2971800" y="4590288"/>
            <a:ext cx="2011680" cy="-1371600"/>
          </a:xfrm>
          <a:prstGeom prst="line">
            <a:avLst/>
          </a:prstGeom>
          <a:noFill/>
          <a:ln w="38100">
            <a:solidFill>
              <a:srgbClr val="0B0B0B"/>
            </a:solidFill>
            <a:prstDash val="solid"/>
            <a:tailEnd type="triangle"/>
          </a:ln>
        </p:spPr>
      </p:sp>
      <p:sp>
        <p:nvSpPr>
          <p:cNvPr id="12" name="Shape 10"/>
          <p:cNvSpPr/>
          <p:nvPr/>
        </p:nvSpPr>
        <p:spPr>
          <a:xfrm>
            <a:off x="4983480" y="2304288"/>
            <a:ext cx="1874520" cy="1874520"/>
          </a:xfrm>
          <a:prstGeom prst="rect">
            <a:avLst/>
          </a:prstGeom>
          <a:solidFill>
            <a:srgbClr val="FF5B9D"/>
          </a:solidFill>
          <a:ln w="27940">
            <a:solidFill>
              <a:srgbClr val="0B0B0B"/>
            </a:solidFill>
            <a:prstDash val="solid"/>
          </a:ln>
        </p:spPr>
      </p:sp>
      <p:sp>
        <p:nvSpPr>
          <p:cNvPr id="13" name="Text 11"/>
          <p:cNvSpPr/>
          <p:nvPr/>
        </p:nvSpPr>
        <p:spPr>
          <a:xfrm>
            <a:off x="5148072" y="2468880"/>
            <a:ext cx="1545336" cy="1545336"/>
          </a:xfrm>
          <a:prstGeom prst="rect">
            <a:avLst/>
          </a:prstGeom>
          <a:noFill/>
          <a:ln/>
        </p:spPr>
        <p:txBody>
          <a:bodyPr wrap="square" lIns="0" tIns="0" rIns="0" bIns="0" rtlCol="0" anchor="ctr">
            <a:normAutofit/>
          </a:bodyPr>
          <a:lstStyle/>
          <a:p>
            <a:pPr algn="ctr" indent="0" marL="0">
              <a:lnSpc>
                <a:spcPct val="100000"/>
              </a:lnSpc>
              <a:buNone/>
            </a:pPr>
            <a:r>
              <a:rPr lang="en-US" sz="4800" b="1" dirty="0">
                <a:solidFill>
                  <a:srgbClr val="0B0B0B"/>
                </a:solidFill>
                <a:latin typeface="Arial" pitchFamily="34" charset="0"/>
                <a:ea typeface="Arial" pitchFamily="34" charset="-122"/>
                <a:cs typeface="Arial" pitchFamily="34" charset="-120"/>
              </a:rPr>
              <a:t>?</a:t>
            </a:r>
            <a:endParaRPr lang="en-US" sz="4800" dirty="0"/>
          </a:p>
        </p:txBody>
      </p:sp>
      <p:sp>
        <p:nvSpPr>
          <p:cNvPr id="14" name="Shape 12"/>
          <p:cNvSpPr/>
          <p:nvPr/>
        </p:nvSpPr>
        <p:spPr>
          <a:xfrm>
            <a:off x="6995160" y="3246120"/>
            <a:ext cx="1920240" cy="0"/>
          </a:xfrm>
          <a:prstGeom prst="line">
            <a:avLst/>
          </a:prstGeom>
          <a:noFill/>
          <a:ln w="38100">
            <a:solidFill>
              <a:srgbClr val="0B0B0B"/>
            </a:solidFill>
            <a:prstDash val="solid"/>
            <a:tailEnd type="triangle"/>
          </a:ln>
        </p:spPr>
      </p:sp>
      <p:sp>
        <p:nvSpPr>
          <p:cNvPr id="15" name="Shape 13"/>
          <p:cNvSpPr/>
          <p:nvPr/>
        </p:nvSpPr>
        <p:spPr>
          <a:xfrm>
            <a:off x="9006840" y="2286000"/>
            <a:ext cx="2514600" cy="1920240"/>
          </a:xfrm>
          <a:prstGeom prst="rect">
            <a:avLst/>
          </a:prstGeom>
          <a:solidFill>
            <a:srgbClr val="0B0B0B"/>
          </a:solidFill>
          <a:ln w="27940">
            <a:solidFill>
              <a:srgbClr val="0B0B0B"/>
            </a:solidFill>
            <a:prstDash val="solid"/>
          </a:ln>
        </p:spPr>
      </p:sp>
      <p:sp>
        <p:nvSpPr>
          <p:cNvPr id="16" name="Text 14"/>
          <p:cNvSpPr/>
          <p:nvPr/>
        </p:nvSpPr>
        <p:spPr>
          <a:xfrm>
            <a:off x="9171432" y="2450592"/>
            <a:ext cx="2185416" cy="1591056"/>
          </a:xfrm>
          <a:prstGeom prst="rect">
            <a:avLst/>
          </a:prstGeom>
          <a:noFill/>
          <a:ln/>
        </p:spPr>
        <p:txBody>
          <a:bodyPr wrap="square" lIns="0" tIns="0" rIns="0" bIns="0" rtlCol="0" anchor="ctr">
            <a:normAutofit/>
          </a:bodyPr>
          <a:lstStyle/>
          <a:p>
            <a:pPr algn="ctr" indent="0" marL="0">
              <a:lnSpc>
                <a:spcPct val="100000"/>
              </a:lnSpc>
              <a:buNone/>
            </a:pPr>
            <a:r>
              <a:rPr lang="en-US" sz="2400" b="1" dirty="0">
                <a:solidFill>
                  <a:srgbClr val="FFFFFF"/>
                </a:solidFill>
                <a:latin typeface="Arial" pitchFamily="34" charset="0"/>
                <a:ea typeface="Arial" pitchFamily="34" charset="-122"/>
                <a:cs typeface="Arial" pitchFamily="34" charset="-120"/>
              </a:rPr>
              <a:t>MOTOR</a:t>
            </a:r>
            <a:endParaRPr lang="en-US" sz="2400" dirty="0"/>
          </a:p>
          <a:p>
            <a:pPr algn="ctr" indent="0" marL="0">
              <a:lnSpc>
                <a:spcPct val="100000"/>
              </a:lnSpc>
              <a:buNone/>
            </a:pPr>
            <a:r>
              <a:rPr lang="en-US" sz="2400" b="1" dirty="0">
                <a:solidFill>
                  <a:srgbClr val="FFFFFF"/>
                </a:solidFill>
                <a:latin typeface="Arial" pitchFamily="34" charset="0"/>
                <a:ea typeface="Arial" pitchFamily="34" charset="-122"/>
                <a:cs typeface="Arial" pitchFamily="34" charset="-120"/>
              </a:rPr>
              <a:t>DRIVER</a:t>
            </a:r>
            <a:endParaRPr lang="en-US" sz="2400" dirty="0"/>
          </a:p>
        </p:txBody>
      </p:sp>
      <p:sp>
        <p:nvSpPr>
          <p:cNvPr id="17" name="Text 15"/>
          <p:cNvSpPr/>
          <p:nvPr/>
        </p:nvSpPr>
        <p:spPr>
          <a:xfrm>
            <a:off x="3566160" y="5120640"/>
            <a:ext cx="5120640" cy="749808"/>
          </a:xfrm>
          <a:prstGeom prst="rect">
            <a:avLst/>
          </a:prstGeom>
          <a:noFill/>
          <a:ln/>
        </p:spPr>
        <p:txBody>
          <a:bodyPr wrap="square" lIns="0" tIns="0" rIns="0" bIns="0" rtlCol="0" anchor="t">
            <a:normAutofit/>
          </a:bodyPr>
          <a:lstStyle/>
          <a:p>
            <a:pPr algn="ctr" indent="0" marL="0">
              <a:lnSpc>
                <a:spcPct val="100000"/>
              </a:lnSpc>
              <a:buNone/>
            </a:pPr>
            <a:r>
              <a:rPr lang="en-US" sz="1900" b="1" dirty="0">
                <a:solidFill>
                  <a:srgbClr val="0B0B0B"/>
                </a:solidFill>
                <a:latin typeface="Arial" pitchFamily="34" charset="0"/>
                <a:ea typeface="Arial" pitchFamily="34" charset="-122"/>
                <a:cs typeface="Arial" pitchFamily="34" charset="-120"/>
              </a:rPr>
              <a:t>The dangerous bug is not bad planning.</a:t>
            </a:r>
            <a:endParaRPr lang="en-US" sz="1900" dirty="0"/>
          </a:p>
          <a:p>
            <a:pPr algn="ctr" indent="0" marL="0">
              <a:lnSpc>
                <a:spcPct val="100000"/>
              </a:lnSpc>
              <a:buNone/>
            </a:pPr>
            <a:r>
              <a:rPr lang="en-US" sz="1900" b="1" dirty="0">
                <a:solidFill>
                  <a:srgbClr val="0B0B0B"/>
                </a:solidFill>
                <a:latin typeface="Arial" pitchFamily="34" charset="0"/>
                <a:ea typeface="Arial" pitchFamily="34" charset="-122"/>
                <a:cs typeface="Arial" pitchFamily="34" charset="-120"/>
              </a:rPr>
              <a:t>It is ambiguous authority.</a:t>
            </a:r>
            <a:endParaRPr lang="en-US" sz="1900" dirty="0"/>
          </a:p>
        </p:txBody>
      </p:sp>
      <p:sp>
        <p:nvSpPr>
          <p:cNvPr id="18" name="Text 16"/>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github.com/specdog/leash</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THE METAPHOR</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03</a:t>
            </a:r>
            <a:endParaRPr lang="en-US" sz="950" dirty="0"/>
          </a:p>
        </p:txBody>
      </p:sp>
      <p:sp>
        <p:nvSpPr>
          <p:cNvPr id="5" name="Text 3"/>
          <p:cNvSpPr/>
          <p:nvPr/>
        </p:nvSpPr>
        <p:spPr>
          <a:xfrm>
            <a:off x="502920" y="566928"/>
            <a:ext cx="11109960" cy="914400"/>
          </a:xfrm>
          <a:prstGeom prst="rect">
            <a:avLst/>
          </a:prstGeom>
          <a:noFill/>
          <a:ln/>
        </p:spPr>
        <p:txBody>
          <a:bodyPr wrap="square" lIns="0" tIns="0" rIns="0" bIns="0" rtlCol="0" anchor="ctr">
            <a:normAutofit/>
          </a:bodyPr>
          <a:lstStyle/>
          <a:p>
            <a:pPr indent="0" marL="0">
              <a:buNone/>
            </a:pPr>
            <a:r>
              <a:rPr lang="en-US" sz="3400" b="1" dirty="0">
                <a:solidFill>
                  <a:srgbClr val="0B0B0B"/>
                </a:solidFill>
                <a:latin typeface="Arial Black" pitchFamily="34" charset="0"/>
                <a:ea typeface="Arial Black" pitchFamily="34" charset="-122"/>
                <a:cs typeface="Arial Black" pitchFamily="34" charset="-120"/>
              </a:rPr>
              <a:t>A leash does not choose the walk.</a:t>
            </a:r>
            <a:endParaRPr lang="en-US" sz="3400" dirty="0"/>
          </a:p>
        </p:txBody>
      </p:sp>
      <p:sp>
        <p:nvSpPr>
          <p:cNvPr id="6" name="Text 4"/>
          <p:cNvSpPr/>
          <p:nvPr/>
        </p:nvSpPr>
        <p:spPr>
          <a:xfrm>
            <a:off x="566928" y="1353312"/>
            <a:ext cx="6675120" cy="502920"/>
          </a:xfrm>
          <a:prstGeom prst="rect">
            <a:avLst/>
          </a:prstGeom>
          <a:noFill/>
          <a:ln/>
        </p:spPr>
        <p:txBody>
          <a:bodyPr wrap="square" lIns="0" tIns="0" rIns="0" bIns="0" rtlCol="0" anchor="t">
            <a:normAutofit/>
          </a:bodyPr>
          <a:lstStyle/>
          <a:p>
            <a:pPr algn="l" indent="0" marL="0">
              <a:lnSpc>
                <a:spcPct val="100000"/>
              </a:lnSpc>
              <a:buNone/>
            </a:pPr>
            <a:r>
              <a:rPr lang="en-US" sz="2500" b="1" dirty="0">
                <a:solidFill>
                  <a:srgbClr val="2855FF"/>
                </a:solidFill>
                <a:latin typeface="Arial" pitchFamily="34" charset="0"/>
                <a:ea typeface="Arial" pitchFamily="34" charset="-122"/>
                <a:cs typeface="Arial" pitchFamily="34" charset="-120"/>
              </a:rPr>
              <a:t>It limits how intent reaches the body.</a:t>
            </a:r>
            <a:endParaRPr lang="en-US" sz="2500" dirty="0"/>
          </a:p>
        </p:txBody>
      </p:sp>
      <p:sp>
        <p:nvSpPr>
          <p:cNvPr id="7" name="Shape 5"/>
          <p:cNvSpPr/>
          <p:nvPr/>
        </p:nvSpPr>
        <p:spPr>
          <a:xfrm>
            <a:off x="960120" y="2880360"/>
            <a:ext cx="566928" cy="566928"/>
          </a:xfrm>
          <a:prstGeom prst="ellipse">
            <a:avLst/>
          </a:prstGeom>
          <a:solidFill>
            <a:srgbClr val="FF5B9D"/>
          </a:solidFill>
          <a:ln w="25400">
            <a:solidFill>
              <a:srgbClr val="0B0B0B"/>
            </a:solidFill>
            <a:prstDash val="solid"/>
          </a:ln>
        </p:spPr>
      </p:sp>
      <p:sp>
        <p:nvSpPr>
          <p:cNvPr id="8" name="Text 6"/>
          <p:cNvSpPr/>
          <p:nvPr/>
        </p:nvSpPr>
        <p:spPr>
          <a:xfrm>
            <a:off x="658368" y="3584448"/>
            <a:ext cx="1188720" cy="320040"/>
          </a:xfrm>
          <a:prstGeom prst="rect">
            <a:avLst/>
          </a:prstGeom>
          <a:noFill/>
          <a:ln/>
        </p:spPr>
        <p:txBody>
          <a:bodyPr wrap="square" lIns="0" tIns="0" rIns="0" bIns="0" rtlCol="0" anchor="t">
            <a:normAutofit/>
          </a:bodyPr>
          <a:lstStyle/>
          <a:p>
            <a:pPr algn="ctr" indent="0" marL="0">
              <a:lnSpc>
                <a:spcPct val="100000"/>
              </a:lnSpc>
              <a:buNone/>
            </a:pPr>
            <a:r>
              <a:rPr lang="en-US" sz="1500" b="1" dirty="0">
                <a:solidFill>
                  <a:srgbClr val="0B0B0B"/>
                </a:solidFill>
                <a:latin typeface="Arial" pitchFamily="34" charset="0"/>
                <a:ea typeface="Arial" pitchFamily="34" charset="-122"/>
                <a:cs typeface="Arial" pitchFamily="34" charset="-120"/>
              </a:rPr>
              <a:t>intent</a:t>
            </a:r>
            <a:endParaRPr lang="en-US" sz="1500" dirty="0"/>
          </a:p>
        </p:txBody>
      </p:sp>
      <p:sp>
        <p:nvSpPr>
          <p:cNvPr id="9" name="Shape 7"/>
          <p:cNvSpPr/>
          <p:nvPr/>
        </p:nvSpPr>
        <p:spPr>
          <a:xfrm rot="120000">
            <a:off x="1508760" y="2176272"/>
            <a:ext cx="5989320" cy="1965960"/>
          </a:xfrm>
          <a:prstGeom prst="arc">
            <a:avLst/>
          </a:prstGeom>
          <a:solidFill>
            <a:srgbClr val="F7F2E8">
              <a:alpha val="0"/>
            </a:srgbClr>
          </a:solidFill>
          <a:ln w="88900">
            <a:solidFill>
              <a:srgbClr val="2855FF"/>
            </a:solidFill>
            <a:prstDash val="solid"/>
          </a:ln>
        </p:spPr>
      </p:sp>
      <p:sp>
        <p:nvSpPr>
          <p:cNvPr id="10" name="Shape 8"/>
          <p:cNvSpPr/>
          <p:nvPr/>
        </p:nvSpPr>
        <p:spPr>
          <a:xfrm>
            <a:off x="7315200" y="2880360"/>
            <a:ext cx="566928" cy="566928"/>
          </a:xfrm>
          <a:prstGeom prst="ellipse">
            <a:avLst/>
          </a:prstGeom>
          <a:solidFill>
            <a:srgbClr val="B8FF32"/>
          </a:solidFill>
          <a:ln w="25400">
            <a:solidFill>
              <a:srgbClr val="0B0B0B"/>
            </a:solidFill>
            <a:prstDash val="solid"/>
          </a:ln>
        </p:spPr>
      </p:sp>
      <p:sp>
        <p:nvSpPr>
          <p:cNvPr id="11" name="Text 9"/>
          <p:cNvSpPr/>
          <p:nvPr/>
        </p:nvSpPr>
        <p:spPr>
          <a:xfrm>
            <a:off x="7040880" y="3584448"/>
            <a:ext cx="1188720" cy="320040"/>
          </a:xfrm>
          <a:prstGeom prst="rect">
            <a:avLst/>
          </a:prstGeom>
          <a:noFill/>
          <a:ln/>
        </p:spPr>
        <p:txBody>
          <a:bodyPr wrap="square" lIns="0" tIns="0" rIns="0" bIns="0" rtlCol="0" anchor="t">
            <a:normAutofit/>
          </a:bodyPr>
          <a:lstStyle/>
          <a:p>
            <a:pPr algn="ctr" indent="0" marL="0">
              <a:lnSpc>
                <a:spcPct val="100000"/>
              </a:lnSpc>
              <a:buNone/>
            </a:pPr>
            <a:r>
              <a:rPr lang="en-US" sz="1500" b="1" dirty="0">
                <a:solidFill>
                  <a:srgbClr val="0B0B0B"/>
                </a:solidFill>
                <a:latin typeface="Arial" pitchFamily="34" charset="0"/>
                <a:ea typeface="Arial" pitchFamily="34" charset="-122"/>
                <a:cs typeface="Arial" pitchFamily="34" charset="-120"/>
              </a:rPr>
              <a:t>motion</a:t>
            </a:r>
            <a:endParaRPr lang="en-US" sz="1500" dirty="0"/>
          </a:p>
        </p:txBody>
      </p:sp>
      <p:sp>
        <p:nvSpPr>
          <p:cNvPr id="12" name="Shape 10"/>
          <p:cNvSpPr/>
          <p:nvPr/>
        </p:nvSpPr>
        <p:spPr>
          <a:xfrm>
            <a:off x="3703320" y="2542032"/>
            <a:ext cx="1691640" cy="1005840"/>
          </a:xfrm>
          <a:prstGeom prst="rect">
            <a:avLst/>
          </a:prstGeom>
          <a:solidFill>
            <a:srgbClr val="FFD63D"/>
          </a:solidFill>
          <a:ln w="27940">
            <a:solidFill>
              <a:srgbClr val="0B0B0B"/>
            </a:solidFill>
            <a:prstDash val="solid"/>
          </a:ln>
        </p:spPr>
      </p:sp>
      <p:sp>
        <p:nvSpPr>
          <p:cNvPr id="13" name="Text 11"/>
          <p:cNvSpPr/>
          <p:nvPr/>
        </p:nvSpPr>
        <p:spPr>
          <a:xfrm>
            <a:off x="3867912" y="2706624"/>
            <a:ext cx="1362456" cy="676656"/>
          </a:xfrm>
          <a:prstGeom prst="rect">
            <a:avLst/>
          </a:prstGeom>
          <a:noFill/>
          <a:ln/>
        </p:spPr>
        <p:txBody>
          <a:bodyPr wrap="square" lIns="0" tIns="0" rIns="0" bIns="0" rtlCol="0" anchor="ctr">
            <a:normAutofit/>
          </a:bodyPr>
          <a:lstStyle/>
          <a:p>
            <a:pPr algn="ctr" indent="0" marL="0">
              <a:lnSpc>
                <a:spcPct val="100000"/>
              </a:lnSpc>
              <a:buNone/>
            </a:pPr>
            <a:r>
              <a:rPr lang="en-US" sz="2200" b="1" dirty="0">
                <a:solidFill>
                  <a:srgbClr val="0B0B0B"/>
                </a:solidFill>
                <a:latin typeface="Arial" pitchFamily="34" charset="0"/>
                <a:ea typeface="Arial" pitchFamily="34" charset="-122"/>
                <a:cs typeface="Arial" pitchFamily="34" charset="-120"/>
              </a:rPr>
              <a:t>LEASH</a:t>
            </a:r>
            <a:endParaRPr lang="en-US" sz="2200" dirty="0"/>
          </a:p>
        </p:txBody>
      </p:sp>
      <p:sp>
        <p:nvSpPr>
          <p:cNvPr id="14" name="Text 12"/>
          <p:cNvSpPr/>
          <p:nvPr/>
        </p:nvSpPr>
        <p:spPr>
          <a:xfrm>
            <a:off x="8458200" y="2450592"/>
            <a:ext cx="2971800" cy="1280160"/>
          </a:xfrm>
          <a:prstGeom prst="rect">
            <a:avLst/>
          </a:prstGeom>
          <a:noFill/>
          <a:ln/>
        </p:spPr>
        <p:txBody>
          <a:bodyPr wrap="square" lIns="0" tIns="0" rIns="0" bIns="0" rtlCol="0" anchor="t">
            <a:normAutofit/>
          </a:bodyPr>
          <a:lstStyle/>
          <a:p>
            <a:pPr algn="l" indent="0" marL="0">
              <a:lnSpc>
                <a:spcPct val="100000"/>
              </a:lnSpc>
              <a:buNone/>
            </a:pPr>
            <a:r>
              <a:rPr lang="en-US" sz="2500" b="1" dirty="0">
                <a:solidFill>
                  <a:srgbClr val="0B0B0B"/>
                </a:solidFill>
                <a:latin typeface="Arial" pitchFamily="34" charset="0"/>
                <a:ea typeface="Arial" pitchFamily="34" charset="-122"/>
                <a:cs typeface="Arial" pitchFamily="34" charset="-120"/>
              </a:rPr>
              <a:t>The planner proposes.</a:t>
            </a:r>
            <a:endParaRPr lang="en-US" sz="2500" dirty="0"/>
          </a:p>
          <a:p>
            <a:pPr algn="l" indent="0" marL="0">
              <a:lnSpc>
                <a:spcPct val="100000"/>
              </a:lnSpc>
              <a:buNone/>
            </a:pPr>
            <a:r>
              <a:rPr lang="en-US" sz="2500" b="1" dirty="0">
                <a:solidFill>
                  <a:srgbClr val="0B0B0B"/>
                </a:solidFill>
                <a:latin typeface="Arial" pitchFamily="34" charset="0"/>
                <a:ea typeface="Arial" pitchFamily="34" charset="-122"/>
                <a:cs typeface="Arial" pitchFamily="34" charset="-120"/>
              </a:rPr>
              <a:t>The boundary decides.</a:t>
            </a:r>
            <a:endParaRPr lang="en-US" sz="2500" dirty="0"/>
          </a:p>
        </p:txBody>
      </p:sp>
      <p:sp>
        <p:nvSpPr>
          <p:cNvPr id="15" name="Shape 13"/>
          <p:cNvSpPr/>
          <p:nvPr/>
        </p:nvSpPr>
        <p:spPr>
          <a:xfrm>
            <a:off x="8476488" y="4160520"/>
            <a:ext cx="2834640" cy="384048"/>
          </a:xfrm>
          <a:prstGeom prst="roundRect">
            <a:avLst>
              <a:gd name="adj" fmla="val 19048"/>
            </a:avLst>
          </a:prstGeom>
          <a:solidFill>
            <a:srgbClr val="B8FF32"/>
          </a:solidFill>
          <a:ln w="19050">
            <a:solidFill>
              <a:srgbClr val="0B0B0B"/>
            </a:solidFill>
            <a:prstDash val="solid"/>
          </a:ln>
        </p:spPr>
      </p:sp>
      <p:sp>
        <p:nvSpPr>
          <p:cNvPr id="16" name="Text 14"/>
          <p:cNvSpPr/>
          <p:nvPr/>
        </p:nvSpPr>
        <p:spPr>
          <a:xfrm>
            <a:off x="8586216" y="4233672"/>
            <a:ext cx="2615184" cy="219456"/>
          </a:xfrm>
          <a:prstGeom prst="rect">
            <a:avLst/>
          </a:prstGeom>
          <a:noFill/>
          <a:ln/>
        </p:spPr>
        <p:txBody>
          <a:bodyPr wrap="square" lIns="0" tIns="0" rIns="0" bIns="0" rtlCol="0" anchor="ctr">
            <a:normAutofit/>
          </a:bodyPr>
          <a:lstStyle/>
          <a:p>
            <a:pPr algn="ctr" indent="0" marL="0">
              <a:lnSpc>
                <a:spcPct val="100000"/>
              </a:lnSpc>
              <a:buNone/>
            </a:pPr>
            <a:r>
              <a:rPr lang="en-US" sz="1050" b="1" dirty="0">
                <a:solidFill>
                  <a:srgbClr val="0B0B0B"/>
                </a:solidFill>
                <a:latin typeface="Arial" pitchFamily="34" charset="0"/>
                <a:ea typeface="Arial" pitchFamily="34" charset="-122"/>
                <a:cs typeface="Arial" pitchFamily="34" charset="-120"/>
              </a:rPr>
              <a:t>SMALL • FAST • AUDITABLE</a:t>
            </a:r>
            <a:endParaRPr lang="en-US" sz="1050" dirty="0"/>
          </a:p>
        </p:txBody>
      </p:sp>
      <p:sp>
        <p:nvSpPr>
          <p:cNvPr id="17" name="Text 15"/>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github.com/specdog/leash</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B0B"/>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THE CANONICAL RULE</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04</a:t>
            </a:r>
            <a:endParaRPr lang="en-US" sz="950" dirty="0"/>
          </a:p>
        </p:txBody>
      </p:sp>
      <p:sp>
        <p:nvSpPr>
          <p:cNvPr id="5" name="Text 3"/>
          <p:cNvSpPr/>
          <p:nvPr/>
        </p:nvSpPr>
        <p:spPr>
          <a:xfrm>
            <a:off x="548640" y="685800"/>
            <a:ext cx="914400" cy="914400"/>
          </a:xfrm>
          <a:prstGeom prst="rect">
            <a:avLst/>
          </a:prstGeom>
          <a:noFill/>
          <a:ln/>
        </p:spPr>
        <p:txBody>
          <a:bodyPr wrap="square" lIns="0" tIns="0" rIns="0" bIns="0" rtlCol="0" anchor="t">
            <a:normAutofit/>
          </a:bodyPr>
          <a:lstStyle/>
          <a:p>
            <a:pPr algn="l" indent="0" marL="0">
              <a:lnSpc>
                <a:spcPct val="100000"/>
              </a:lnSpc>
              <a:buNone/>
            </a:pPr>
            <a:r>
              <a:rPr lang="en-US" sz="8000" b="1" dirty="0">
                <a:solidFill>
                  <a:srgbClr val="B8FF32"/>
                </a:solidFill>
                <a:latin typeface="Arial" pitchFamily="34" charset="0"/>
                <a:ea typeface="Arial" pitchFamily="34" charset="-122"/>
                <a:cs typeface="Arial" pitchFamily="34" charset="-120"/>
              </a:rPr>
              <a:t>“</a:t>
            </a:r>
            <a:endParaRPr lang="en-US" sz="8000" dirty="0"/>
          </a:p>
        </p:txBody>
      </p:sp>
      <p:sp>
        <p:nvSpPr>
          <p:cNvPr id="6" name="Text 4"/>
          <p:cNvSpPr/>
          <p:nvPr/>
        </p:nvSpPr>
        <p:spPr>
          <a:xfrm>
            <a:off x="1207008" y="1069848"/>
            <a:ext cx="9875520" cy="694944"/>
          </a:xfrm>
          <a:prstGeom prst="rect">
            <a:avLst/>
          </a:prstGeom>
          <a:noFill/>
          <a:ln/>
        </p:spPr>
        <p:txBody>
          <a:bodyPr wrap="square" lIns="0" tIns="0" rIns="0" bIns="0" rtlCol="0" anchor="t">
            <a:normAutofit/>
          </a:bodyPr>
          <a:lstStyle/>
          <a:p>
            <a:pPr algn="l" indent="0" marL="0">
              <a:lnSpc>
                <a:spcPct val="100000"/>
              </a:lnSpc>
              <a:buNone/>
            </a:pPr>
            <a:r>
              <a:rPr lang="en-US" sz="3600" b="1" dirty="0">
                <a:solidFill>
                  <a:srgbClr val="FFFFFF"/>
                </a:solidFill>
                <a:latin typeface="Arial" pitchFamily="34" charset="0"/>
                <a:ea typeface="Arial" pitchFamily="34" charset="-122"/>
                <a:cs typeface="Arial" pitchFamily="34" charset="-120"/>
              </a:rPr>
              <a:t>AI may request motion.</a:t>
            </a:r>
            <a:endParaRPr lang="en-US" sz="3600" dirty="0"/>
          </a:p>
        </p:txBody>
      </p:sp>
      <p:sp>
        <p:nvSpPr>
          <p:cNvPr id="7" name="Text 5"/>
          <p:cNvSpPr/>
          <p:nvPr/>
        </p:nvSpPr>
        <p:spPr>
          <a:xfrm>
            <a:off x="1207008" y="2066544"/>
            <a:ext cx="9784080" cy="1901952"/>
          </a:xfrm>
          <a:prstGeom prst="rect">
            <a:avLst/>
          </a:prstGeom>
          <a:noFill/>
          <a:ln/>
        </p:spPr>
        <p:txBody>
          <a:bodyPr wrap="square" lIns="0" tIns="0" rIns="0" bIns="0" rtlCol="0" anchor="t">
            <a:normAutofit/>
          </a:bodyPr>
          <a:lstStyle/>
          <a:p>
            <a:pPr algn="l" indent="0" marL="0">
              <a:lnSpc>
                <a:spcPct val="100000"/>
              </a:lnSpc>
              <a:buNone/>
            </a:pPr>
            <a:r>
              <a:rPr lang="en-US" sz="4300" b="1" dirty="0">
                <a:solidFill>
                  <a:srgbClr val="B8FF32"/>
                </a:solidFill>
                <a:latin typeface="Arial" pitchFamily="34" charset="0"/>
                <a:ea typeface="Arial" pitchFamily="34" charset="-122"/>
                <a:cs typeface="Arial" pitchFamily="34" charset="-120"/>
              </a:rPr>
              <a:t>LEASH DECIDES WHETHER</a:t>
            </a:r>
            <a:endParaRPr lang="en-US" sz="4300" dirty="0"/>
          </a:p>
          <a:p>
            <a:pPr algn="l" indent="0" marL="0">
              <a:lnSpc>
                <a:spcPct val="100000"/>
              </a:lnSpc>
              <a:buNone/>
            </a:pPr>
            <a:r>
              <a:rPr lang="en-US" sz="4300" b="1" dirty="0">
                <a:solidFill>
                  <a:srgbClr val="B8FF32"/>
                </a:solidFill>
                <a:latin typeface="Arial" pitchFamily="34" charset="0"/>
                <a:ea typeface="Arial" pitchFamily="34" charset="-122"/>
                <a:cs typeface="Arial" pitchFamily="34" charset="-120"/>
              </a:rPr>
              <a:t>IT IS ALLOWED.</a:t>
            </a:r>
            <a:endParaRPr lang="en-US" sz="4300" dirty="0"/>
          </a:p>
        </p:txBody>
      </p:sp>
      <p:sp>
        <p:nvSpPr>
          <p:cNvPr id="8" name="Shape 6"/>
          <p:cNvSpPr/>
          <p:nvPr/>
        </p:nvSpPr>
        <p:spPr>
          <a:xfrm>
            <a:off x="1225296" y="4572000"/>
            <a:ext cx="9875520" cy="0"/>
          </a:xfrm>
          <a:prstGeom prst="line">
            <a:avLst/>
          </a:prstGeom>
          <a:noFill/>
          <a:ln w="25400">
            <a:solidFill>
              <a:srgbClr val="FFFFFF"/>
            </a:solidFill>
            <a:prstDash val="solid"/>
          </a:ln>
        </p:spPr>
      </p:sp>
      <p:sp>
        <p:nvSpPr>
          <p:cNvPr id="9" name="Text 7"/>
          <p:cNvSpPr/>
          <p:nvPr/>
        </p:nvSpPr>
        <p:spPr>
          <a:xfrm>
            <a:off x="1234440" y="4873752"/>
            <a:ext cx="8778240" cy="457200"/>
          </a:xfrm>
          <a:prstGeom prst="rect">
            <a:avLst/>
          </a:prstGeom>
          <a:noFill/>
          <a:ln/>
        </p:spPr>
        <p:txBody>
          <a:bodyPr wrap="square" lIns="0" tIns="0" rIns="0" bIns="0" rtlCol="0" anchor="t">
            <a:normAutofit/>
          </a:bodyPr>
          <a:lstStyle/>
          <a:p>
            <a:pPr algn="l" indent="0" marL="0">
              <a:lnSpc>
                <a:spcPct val="100000"/>
              </a:lnSpc>
              <a:buNone/>
            </a:pPr>
            <a:r>
              <a:rPr lang="en-US" sz="2100" b="1" dirty="0">
                <a:solidFill>
                  <a:srgbClr val="FFFFFF"/>
                </a:solidFill>
                <a:latin typeface="Arial" pitchFamily="34" charset="0"/>
                <a:ea typeface="Arial" pitchFamily="34" charset="-122"/>
                <a:cs typeface="Arial" pitchFamily="34" charset="-120"/>
              </a:rPr>
              <a:t>This sentence is the architecture test.</a:t>
            </a:r>
            <a:endParaRPr lang="en-US" sz="2100" dirty="0"/>
          </a:p>
        </p:txBody>
      </p:sp>
      <p:sp>
        <p:nvSpPr>
          <p:cNvPr id="10" name="Text 8"/>
          <p:cNvSpPr/>
          <p:nvPr/>
        </p:nvSpPr>
        <p:spPr>
          <a:xfrm>
            <a:off x="1234440" y="5468112"/>
            <a:ext cx="9875520" cy="384048"/>
          </a:xfrm>
          <a:prstGeom prst="rect">
            <a:avLst/>
          </a:prstGeom>
          <a:noFill/>
          <a:ln/>
        </p:spPr>
        <p:txBody>
          <a:bodyPr wrap="square" lIns="0" tIns="0" rIns="0" bIns="0" rtlCol="0" anchor="t">
            <a:normAutofit/>
          </a:bodyPr>
          <a:lstStyle/>
          <a:p>
            <a:pPr algn="l" indent="0" marL="0">
              <a:lnSpc>
                <a:spcPct val="100000"/>
              </a:lnSpc>
              <a:buNone/>
            </a:pPr>
            <a:r>
              <a:rPr lang="en-US" sz="1600" dirty="0">
                <a:solidFill>
                  <a:srgbClr val="F7F2E8"/>
                </a:solidFill>
                <a:latin typeface="Arial" pitchFamily="34" charset="0"/>
                <a:ea typeface="Arial" pitchFamily="34" charset="-122"/>
                <a:cs typeface="Arial" pitchFamily="34" charset="-120"/>
              </a:rPr>
              <a:t>If a feature violates it, the feature belongs somewhere else.</a:t>
            </a:r>
            <a:endParaRPr lang="en-US" sz="1600" dirty="0"/>
          </a:p>
        </p:txBody>
      </p:sp>
      <p:sp>
        <p:nvSpPr>
          <p:cNvPr id="11" name="Text 9"/>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https://github.com/specdog/leash</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THE MACHINE</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05</a:t>
            </a:r>
            <a:endParaRPr lang="en-US" sz="950" dirty="0"/>
          </a:p>
        </p:txBody>
      </p:sp>
      <p:sp>
        <p:nvSpPr>
          <p:cNvPr id="5" name="Text 3"/>
          <p:cNvSpPr/>
          <p:nvPr/>
        </p:nvSpPr>
        <p:spPr>
          <a:xfrm>
            <a:off x="502920" y="566928"/>
            <a:ext cx="11109960" cy="914400"/>
          </a:xfrm>
          <a:prstGeom prst="rect">
            <a:avLst/>
          </a:prstGeom>
          <a:noFill/>
          <a:ln/>
        </p:spPr>
        <p:txBody>
          <a:bodyPr wrap="square" lIns="0" tIns="0" rIns="0" bIns="0" rtlCol="0" anchor="ctr">
            <a:normAutofit/>
          </a:bodyPr>
          <a:lstStyle/>
          <a:p>
            <a:pPr indent="0" marL="0">
              <a:buNone/>
            </a:pPr>
            <a:r>
              <a:rPr lang="en-US" sz="3100" b="1" dirty="0">
                <a:solidFill>
                  <a:srgbClr val="0B0B0B"/>
                </a:solidFill>
                <a:latin typeface="Arial Black" pitchFamily="34" charset="0"/>
                <a:ea typeface="Arial Black" pitchFamily="34" charset="-122"/>
                <a:cs typeface="Arial Black" pitchFamily="34" charset="-120"/>
              </a:rPr>
              <a:t>Pinkie is where the abstractions meet friction.</a:t>
            </a:r>
            <a:endParaRPr lang="en-US" sz="3100" dirty="0"/>
          </a:p>
        </p:txBody>
      </p:sp>
      <p:sp>
        <p:nvSpPr>
          <p:cNvPr id="6" name="Shape 4"/>
          <p:cNvSpPr/>
          <p:nvPr/>
        </p:nvSpPr>
        <p:spPr>
          <a:xfrm>
            <a:off x="566928" y="1435608"/>
            <a:ext cx="5038344" cy="3803904"/>
          </a:xfrm>
          <a:prstGeom prst="rect">
            <a:avLst/>
          </a:prstGeom>
          <a:solidFill>
            <a:srgbClr val="FFFDF7"/>
          </a:solidFill>
          <a:ln w="38100">
            <a:solidFill>
              <a:srgbClr val="FF5B9D"/>
            </a:solidFill>
            <a:prstDash val="solid"/>
          </a:ln>
        </p:spPr>
      </p:sp>
      <p:pic>
        <p:nvPicPr>
          <p:cNvPr id="7" name="Image 0" descr="/Users/ericmanganaro/leash-worktrees/geek-on-a-leash-talk/talks/geek-on-a-leash/assets/pinkie-live-camera-2026-09-01.jpg">    </p:cNvPr>
          <p:cNvPicPr>
            <a:picLocks noChangeAspect="1"/>
          </p:cNvPicPr>
          <p:nvPr/>
        </p:nvPicPr>
        <p:blipFill>
          <a:blip r:embed="rId1"/>
          <a:stretch>
            <a:fillRect/>
          </a:stretch>
        </p:blipFill>
        <p:spPr>
          <a:xfrm>
            <a:off x="640080" y="1508760"/>
            <a:ext cx="4892040" cy="3657600"/>
          </a:xfrm>
          <a:prstGeom prst="rect">
            <a:avLst/>
          </a:prstGeom>
        </p:spPr>
      </p:pic>
      <p:sp>
        <p:nvSpPr>
          <p:cNvPr id="8" name="Shape 5"/>
          <p:cNvSpPr/>
          <p:nvPr/>
        </p:nvSpPr>
        <p:spPr>
          <a:xfrm>
            <a:off x="6556248" y="1225296"/>
            <a:ext cx="4718304" cy="4718304"/>
          </a:xfrm>
          <a:prstGeom prst="rect">
            <a:avLst/>
          </a:prstGeom>
          <a:solidFill>
            <a:srgbClr val="FFFDF7"/>
          </a:solidFill>
          <a:ln w="38100">
            <a:solidFill>
              <a:srgbClr val="0B0B0B"/>
            </a:solidFill>
            <a:prstDash val="solid"/>
          </a:ln>
        </p:spPr>
      </p:sp>
      <p:pic>
        <p:nvPicPr>
          <p:cNvPr id="9" name="Image 1" descr="/Users/ericmanganaro/leash-worktrees/geek-on-a-leash-talk/talks/geek-on-a-leash/assets/waveshare-ugv-rover-angle.jpg">    </p:cNvPr>
          <p:cNvPicPr>
            <a:picLocks noChangeAspect="1"/>
          </p:cNvPicPr>
          <p:nvPr/>
        </p:nvPicPr>
        <p:blipFill>
          <a:blip r:embed="rId2"/>
          <a:stretch>
            <a:fillRect/>
          </a:stretch>
        </p:blipFill>
        <p:spPr>
          <a:xfrm>
            <a:off x="6629400" y="1298448"/>
            <a:ext cx="4572000" cy="4572000"/>
          </a:xfrm>
          <a:prstGeom prst="rect">
            <a:avLst/>
          </a:prstGeom>
        </p:spPr>
      </p:pic>
      <p:sp>
        <p:nvSpPr>
          <p:cNvPr id="10" name="Shape 6"/>
          <p:cNvSpPr/>
          <p:nvPr/>
        </p:nvSpPr>
        <p:spPr>
          <a:xfrm>
            <a:off x="768096" y="5394960"/>
            <a:ext cx="2743200" cy="384048"/>
          </a:xfrm>
          <a:prstGeom prst="roundRect">
            <a:avLst>
              <a:gd name="adj" fmla="val 19048"/>
            </a:avLst>
          </a:prstGeom>
          <a:solidFill>
            <a:srgbClr val="B8FF32"/>
          </a:solidFill>
          <a:ln w="19050">
            <a:solidFill>
              <a:srgbClr val="0B0B0B"/>
            </a:solidFill>
            <a:prstDash val="solid"/>
          </a:ln>
        </p:spPr>
      </p:sp>
      <p:sp>
        <p:nvSpPr>
          <p:cNvPr id="11" name="Text 7"/>
          <p:cNvSpPr/>
          <p:nvPr/>
        </p:nvSpPr>
        <p:spPr>
          <a:xfrm>
            <a:off x="877824" y="5468112"/>
            <a:ext cx="2523744" cy="219456"/>
          </a:xfrm>
          <a:prstGeom prst="rect">
            <a:avLst/>
          </a:prstGeom>
          <a:noFill/>
          <a:ln/>
        </p:spPr>
        <p:txBody>
          <a:bodyPr wrap="square" lIns="0" tIns="0" rIns="0" bIns="0" rtlCol="0" anchor="ctr">
            <a:normAutofit/>
          </a:bodyPr>
          <a:lstStyle/>
          <a:p>
            <a:pPr algn="ctr" indent="0" marL="0">
              <a:lnSpc>
                <a:spcPct val="100000"/>
              </a:lnSpc>
              <a:buNone/>
            </a:pPr>
            <a:r>
              <a:rPr lang="en-US" sz="1000" b="1" dirty="0">
                <a:solidFill>
                  <a:srgbClr val="0B0B0B"/>
                </a:solidFill>
                <a:latin typeface="Arial" pitchFamily="34" charset="0"/>
                <a:ea typeface="Arial" pitchFamily="34" charset="-122"/>
                <a:cs typeface="Arial" pitchFamily="34" charset="-120"/>
              </a:rPr>
              <a:t>LIVE CAMERA • 2026-09-01</a:t>
            </a:r>
            <a:endParaRPr lang="en-US" sz="1000" dirty="0"/>
          </a:p>
        </p:txBody>
      </p:sp>
      <p:sp>
        <p:nvSpPr>
          <p:cNvPr id="12" name="Text 8"/>
          <p:cNvSpPr/>
          <p:nvPr/>
        </p:nvSpPr>
        <p:spPr>
          <a:xfrm>
            <a:off x="6675120" y="5230368"/>
            <a:ext cx="4572000" cy="749808"/>
          </a:xfrm>
          <a:prstGeom prst="rect">
            <a:avLst/>
          </a:prstGeom>
          <a:noFill/>
          <a:ln/>
        </p:spPr>
        <p:txBody>
          <a:bodyPr wrap="square" lIns="0" tIns="0" rIns="0" bIns="0" rtlCol="0" anchor="t">
            <a:normAutofit/>
          </a:bodyPr>
          <a:lstStyle/>
          <a:p>
            <a:pPr algn="l" indent="0" marL="0">
              <a:lnSpc>
                <a:spcPct val="100000"/>
              </a:lnSpc>
              <a:buNone/>
            </a:pPr>
            <a:r>
              <a:rPr lang="en-US" sz="1400" b="1" dirty="0">
                <a:solidFill>
                  <a:srgbClr val="0B0B0B"/>
                </a:solidFill>
                <a:latin typeface="Arial" pitchFamily="34" charset="0"/>
                <a:ea typeface="Arial" pitchFamily="34" charset="-122"/>
                <a:cs typeface="Arial" pitchFamily="34" charset="-120"/>
              </a:rPr>
              <a:t>Waveshare UGV</a:t>
            </a:r>
            <a:endParaRPr lang="en-US" sz="1400" dirty="0"/>
          </a:p>
          <a:p>
            <a:pPr algn="l" indent="0" marL="0">
              <a:lnSpc>
                <a:spcPct val="100000"/>
              </a:lnSpc>
              <a:buNone/>
            </a:pPr>
            <a:r>
              <a:rPr lang="en-US" sz="1400" b="1" dirty="0">
                <a:solidFill>
                  <a:srgbClr val="0B0B0B"/>
                </a:solidFill>
                <a:latin typeface="Arial" pitchFamily="34" charset="0"/>
                <a:ea typeface="Arial" pitchFamily="34" charset="-122"/>
                <a:cs typeface="Arial" pitchFamily="34" charset="-120"/>
              </a:rPr>
              <a:t>Jetson Orin NX</a:t>
            </a:r>
            <a:endParaRPr lang="en-US" sz="1400" dirty="0"/>
          </a:p>
          <a:p>
            <a:pPr algn="l" indent="0" marL="0">
              <a:lnSpc>
                <a:spcPct val="100000"/>
              </a:lnSpc>
              <a:buNone/>
            </a:pPr>
            <a:r>
              <a:rPr lang="en-US" sz="1400" b="1" dirty="0">
                <a:solidFill>
                  <a:srgbClr val="0B0B0B"/>
                </a:solidFill>
                <a:latin typeface="Arial" pitchFamily="34" charset="0"/>
                <a:ea typeface="Arial" pitchFamily="34" charset="-122"/>
                <a:cs typeface="Arial" pitchFamily="34" charset="-120"/>
              </a:rPr>
              <a:t>LiDAR + camera + IMU + odometry</a:t>
            </a:r>
            <a:endParaRPr lang="en-US" sz="1400" dirty="0"/>
          </a:p>
        </p:txBody>
      </p:sp>
      <p:sp>
        <p:nvSpPr>
          <p:cNvPr id="13" name="Text 9"/>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github.com/specdog/leash</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DE5FF"/>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THE HARDWARE CHAIN</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06</a:t>
            </a:r>
            <a:endParaRPr lang="en-US" sz="950" dirty="0"/>
          </a:p>
        </p:txBody>
      </p:sp>
      <p:sp>
        <p:nvSpPr>
          <p:cNvPr id="5" name="Text 3"/>
          <p:cNvSpPr/>
          <p:nvPr/>
        </p:nvSpPr>
        <p:spPr>
          <a:xfrm>
            <a:off x="502920" y="566928"/>
            <a:ext cx="11109960" cy="914400"/>
          </a:xfrm>
          <a:prstGeom prst="rect">
            <a:avLst/>
          </a:prstGeom>
          <a:noFill/>
          <a:ln/>
        </p:spPr>
        <p:txBody>
          <a:bodyPr wrap="square" lIns="0" tIns="0" rIns="0" bIns="0" rtlCol="0" anchor="ctr">
            <a:normAutofit/>
          </a:bodyPr>
          <a:lstStyle/>
          <a:p>
            <a:pPr indent="0" marL="0">
              <a:buNone/>
            </a:pPr>
            <a:r>
              <a:rPr lang="en-US" sz="3000" b="1" dirty="0">
                <a:solidFill>
                  <a:srgbClr val="0B0B0B"/>
                </a:solidFill>
                <a:latin typeface="Arial Black" pitchFamily="34" charset="0"/>
                <a:ea typeface="Arial Black" pitchFamily="34" charset="-122"/>
                <a:cs typeface="Arial Black" pitchFamily="34" charset="-120"/>
              </a:rPr>
              <a:t>Every layer narrows what the next layer may do.</a:t>
            </a:r>
            <a:endParaRPr lang="en-US" sz="3000" dirty="0"/>
          </a:p>
        </p:txBody>
      </p:sp>
      <p:sp>
        <p:nvSpPr>
          <p:cNvPr id="6" name="Shape 4"/>
          <p:cNvSpPr/>
          <p:nvPr/>
        </p:nvSpPr>
        <p:spPr>
          <a:xfrm>
            <a:off x="1051560" y="1508760"/>
            <a:ext cx="7818120" cy="594360"/>
          </a:xfrm>
          <a:prstGeom prst="rect">
            <a:avLst/>
          </a:prstGeom>
          <a:solidFill>
            <a:srgbClr val="FFFDF7"/>
          </a:solidFill>
          <a:ln w="27940">
            <a:solidFill>
              <a:srgbClr val="0B0B0B"/>
            </a:solidFill>
            <a:prstDash val="solid"/>
          </a:ln>
        </p:spPr>
      </p:sp>
      <p:sp>
        <p:nvSpPr>
          <p:cNvPr id="7" name="Text 5"/>
          <p:cNvSpPr/>
          <p:nvPr/>
        </p:nvSpPr>
        <p:spPr>
          <a:xfrm>
            <a:off x="1216152" y="1673352"/>
            <a:ext cx="7488936" cy="265176"/>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0B0B0B"/>
                </a:solidFill>
                <a:latin typeface="Arial" pitchFamily="34" charset="0"/>
                <a:ea typeface="Arial" pitchFamily="34" charset="-122"/>
                <a:cs typeface="Arial" pitchFamily="34" charset="-120"/>
              </a:rPr>
              <a:t>MISSION / HUMAN</a:t>
            </a:r>
            <a:endParaRPr lang="en-US" sz="1600" dirty="0"/>
          </a:p>
        </p:txBody>
      </p:sp>
      <p:sp>
        <p:nvSpPr>
          <p:cNvPr id="8" name="Shape 6"/>
          <p:cNvSpPr/>
          <p:nvPr/>
        </p:nvSpPr>
        <p:spPr>
          <a:xfrm>
            <a:off x="4965192" y="2130552"/>
            <a:ext cx="0" cy="246888"/>
          </a:xfrm>
          <a:prstGeom prst="line">
            <a:avLst/>
          </a:prstGeom>
          <a:noFill/>
          <a:ln w="27940">
            <a:solidFill>
              <a:srgbClr val="0B0B0B"/>
            </a:solidFill>
            <a:prstDash val="solid"/>
            <a:tailEnd type="triangle"/>
          </a:ln>
        </p:spPr>
      </p:sp>
      <p:sp>
        <p:nvSpPr>
          <p:cNvPr id="9" name="Shape 7"/>
          <p:cNvSpPr/>
          <p:nvPr/>
        </p:nvSpPr>
        <p:spPr>
          <a:xfrm>
            <a:off x="1673352" y="2414016"/>
            <a:ext cx="6574536" cy="594360"/>
          </a:xfrm>
          <a:prstGeom prst="rect">
            <a:avLst/>
          </a:prstGeom>
          <a:solidFill>
            <a:srgbClr val="FFD63D"/>
          </a:solidFill>
          <a:ln w="27940">
            <a:solidFill>
              <a:srgbClr val="0B0B0B"/>
            </a:solidFill>
            <a:prstDash val="solid"/>
          </a:ln>
        </p:spPr>
      </p:sp>
      <p:sp>
        <p:nvSpPr>
          <p:cNvPr id="10" name="Text 8"/>
          <p:cNvSpPr/>
          <p:nvPr/>
        </p:nvSpPr>
        <p:spPr>
          <a:xfrm>
            <a:off x="1837944" y="2578608"/>
            <a:ext cx="6245352" cy="265176"/>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0B0B0B"/>
                </a:solidFill>
                <a:latin typeface="Arial" pitchFamily="34" charset="0"/>
                <a:ea typeface="Arial" pitchFamily="34" charset="-122"/>
                <a:cs typeface="Arial" pitchFamily="34" charset="-120"/>
              </a:rPr>
              <a:t>HTTP • CLI • MCP</a:t>
            </a:r>
            <a:endParaRPr lang="en-US" sz="1600" dirty="0"/>
          </a:p>
        </p:txBody>
      </p:sp>
      <p:sp>
        <p:nvSpPr>
          <p:cNvPr id="11" name="Shape 9"/>
          <p:cNvSpPr/>
          <p:nvPr/>
        </p:nvSpPr>
        <p:spPr>
          <a:xfrm>
            <a:off x="4965192" y="3035808"/>
            <a:ext cx="0" cy="246888"/>
          </a:xfrm>
          <a:prstGeom prst="line">
            <a:avLst/>
          </a:prstGeom>
          <a:noFill/>
          <a:ln w="27940">
            <a:solidFill>
              <a:srgbClr val="0B0B0B"/>
            </a:solidFill>
            <a:prstDash val="solid"/>
            <a:tailEnd type="triangle"/>
          </a:ln>
        </p:spPr>
      </p:sp>
      <p:sp>
        <p:nvSpPr>
          <p:cNvPr id="12" name="Shape 10"/>
          <p:cNvSpPr/>
          <p:nvPr/>
        </p:nvSpPr>
        <p:spPr>
          <a:xfrm>
            <a:off x="2295144" y="3319272"/>
            <a:ext cx="5330952" cy="594360"/>
          </a:xfrm>
          <a:prstGeom prst="rect">
            <a:avLst/>
          </a:prstGeom>
          <a:solidFill>
            <a:srgbClr val="B8FF32"/>
          </a:solidFill>
          <a:ln w="27940">
            <a:solidFill>
              <a:srgbClr val="0B0B0B"/>
            </a:solidFill>
            <a:prstDash val="solid"/>
          </a:ln>
        </p:spPr>
      </p:sp>
      <p:sp>
        <p:nvSpPr>
          <p:cNvPr id="13" name="Text 11"/>
          <p:cNvSpPr/>
          <p:nvPr/>
        </p:nvSpPr>
        <p:spPr>
          <a:xfrm>
            <a:off x="2459736" y="3483864"/>
            <a:ext cx="5001768" cy="265176"/>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0B0B0B"/>
                </a:solidFill>
                <a:latin typeface="Arial" pitchFamily="34" charset="0"/>
                <a:ea typeface="Arial" pitchFamily="34" charset="-122"/>
                <a:cs typeface="Arial" pitchFamily="34" charset="-120"/>
              </a:rPr>
              <a:t>LEASH RUNTIME</a:t>
            </a:r>
            <a:endParaRPr lang="en-US" sz="1600" dirty="0"/>
          </a:p>
        </p:txBody>
      </p:sp>
      <p:sp>
        <p:nvSpPr>
          <p:cNvPr id="14" name="Shape 12"/>
          <p:cNvSpPr/>
          <p:nvPr/>
        </p:nvSpPr>
        <p:spPr>
          <a:xfrm>
            <a:off x="4965192" y="3941064"/>
            <a:ext cx="0" cy="246888"/>
          </a:xfrm>
          <a:prstGeom prst="line">
            <a:avLst/>
          </a:prstGeom>
          <a:noFill/>
          <a:ln w="27940">
            <a:solidFill>
              <a:srgbClr val="0B0B0B"/>
            </a:solidFill>
            <a:prstDash val="solid"/>
            <a:tailEnd type="triangle"/>
          </a:ln>
        </p:spPr>
      </p:sp>
      <p:sp>
        <p:nvSpPr>
          <p:cNvPr id="15" name="Shape 13"/>
          <p:cNvSpPr/>
          <p:nvPr/>
        </p:nvSpPr>
        <p:spPr>
          <a:xfrm>
            <a:off x="2916936" y="4224528"/>
            <a:ext cx="4087368" cy="594360"/>
          </a:xfrm>
          <a:prstGeom prst="rect">
            <a:avLst/>
          </a:prstGeom>
          <a:solidFill>
            <a:srgbClr val="FF5B9D"/>
          </a:solidFill>
          <a:ln w="27940">
            <a:solidFill>
              <a:srgbClr val="0B0B0B"/>
            </a:solidFill>
            <a:prstDash val="solid"/>
          </a:ln>
        </p:spPr>
      </p:sp>
      <p:sp>
        <p:nvSpPr>
          <p:cNvPr id="16" name="Text 14"/>
          <p:cNvSpPr/>
          <p:nvPr/>
        </p:nvSpPr>
        <p:spPr>
          <a:xfrm>
            <a:off x="3081528" y="4389120"/>
            <a:ext cx="3758184" cy="265176"/>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0B0B0B"/>
                </a:solidFill>
                <a:latin typeface="Arial" pitchFamily="34" charset="0"/>
                <a:ea typeface="Arial" pitchFamily="34" charset="-122"/>
                <a:cs typeface="Arial" pitchFamily="34" charset="-120"/>
              </a:rPr>
              <a:t>WAVESHARE ADAPTER</a:t>
            </a:r>
            <a:endParaRPr lang="en-US" sz="1600" dirty="0"/>
          </a:p>
        </p:txBody>
      </p:sp>
      <p:sp>
        <p:nvSpPr>
          <p:cNvPr id="17" name="Shape 15"/>
          <p:cNvSpPr/>
          <p:nvPr/>
        </p:nvSpPr>
        <p:spPr>
          <a:xfrm>
            <a:off x="4965192" y="4846320"/>
            <a:ext cx="0" cy="246888"/>
          </a:xfrm>
          <a:prstGeom prst="line">
            <a:avLst/>
          </a:prstGeom>
          <a:noFill/>
          <a:ln w="27940">
            <a:solidFill>
              <a:srgbClr val="0B0B0B"/>
            </a:solidFill>
            <a:prstDash val="solid"/>
            <a:tailEnd type="triangle"/>
          </a:ln>
        </p:spPr>
      </p:sp>
      <p:sp>
        <p:nvSpPr>
          <p:cNvPr id="18" name="Shape 16"/>
          <p:cNvSpPr/>
          <p:nvPr/>
        </p:nvSpPr>
        <p:spPr>
          <a:xfrm>
            <a:off x="3538728" y="5129784"/>
            <a:ext cx="2843784" cy="594360"/>
          </a:xfrm>
          <a:prstGeom prst="rect">
            <a:avLst/>
          </a:prstGeom>
          <a:solidFill>
            <a:srgbClr val="0B0B0B"/>
          </a:solidFill>
          <a:ln w="27940">
            <a:solidFill>
              <a:srgbClr val="0B0B0B"/>
            </a:solidFill>
            <a:prstDash val="solid"/>
          </a:ln>
        </p:spPr>
      </p:sp>
      <p:sp>
        <p:nvSpPr>
          <p:cNvPr id="19" name="Text 17"/>
          <p:cNvSpPr/>
          <p:nvPr/>
        </p:nvSpPr>
        <p:spPr>
          <a:xfrm>
            <a:off x="3703320" y="5294376"/>
            <a:ext cx="2514600" cy="265176"/>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FFFFFF"/>
                </a:solidFill>
                <a:latin typeface="Arial" pitchFamily="34" charset="0"/>
                <a:ea typeface="Arial" pitchFamily="34" charset="-122"/>
                <a:cs typeface="Arial" pitchFamily="34" charset="-120"/>
              </a:rPr>
              <a:t>UART → CONTROLLER → MOTORS</a:t>
            </a:r>
            <a:endParaRPr lang="en-US" sz="1600" dirty="0"/>
          </a:p>
        </p:txBody>
      </p:sp>
      <p:sp>
        <p:nvSpPr>
          <p:cNvPr id="20" name="Text 18"/>
          <p:cNvSpPr/>
          <p:nvPr/>
        </p:nvSpPr>
        <p:spPr>
          <a:xfrm>
            <a:off x="9464040" y="1600200"/>
            <a:ext cx="1371600" cy="310896"/>
          </a:xfrm>
          <a:prstGeom prst="rect">
            <a:avLst/>
          </a:prstGeom>
          <a:noFill/>
          <a:ln/>
        </p:spPr>
        <p:txBody>
          <a:bodyPr wrap="square" lIns="0" tIns="0" rIns="0" bIns="0" rtlCol="0" anchor="t">
            <a:normAutofit/>
          </a:bodyPr>
          <a:lstStyle/>
          <a:p>
            <a:pPr algn="ctr" indent="0" marL="0">
              <a:lnSpc>
                <a:spcPct val="100000"/>
              </a:lnSpc>
              <a:buNone/>
            </a:pPr>
            <a:r>
              <a:rPr lang="en-US" sz="1300" b="1" dirty="0">
                <a:solidFill>
                  <a:srgbClr val="2855FF"/>
                </a:solidFill>
                <a:latin typeface="Arial" pitchFamily="34" charset="0"/>
                <a:ea typeface="Arial" pitchFamily="34" charset="-122"/>
                <a:cs typeface="Arial" pitchFamily="34" charset="-120"/>
              </a:rPr>
              <a:t>REQUEST</a:t>
            </a:r>
            <a:endParaRPr lang="en-US" sz="1300" dirty="0"/>
          </a:p>
        </p:txBody>
      </p:sp>
      <p:sp>
        <p:nvSpPr>
          <p:cNvPr id="21" name="Shape 19"/>
          <p:cNvSpPr/>
          <p:nvPr/>
        </p:nvSpPr>
        <p:spPr>
          <a:xfrm>
            <a:off x="10149840" y="2011680"/>
            <a:ext cx="0" cy="2606040"/>
          </a:xfrm>
          <a:prstGeom prst="line">
            <a:avLst/>
          </a:prstGeom>
          <a:noFill/>
          <a:ln w="50800">
            <a:solidFill>
              <a:srgbClr val="2855FF"/>
            </a:solidFill>
            <a:prstDash val="solid"/>
            <a:tailEnd type="triangle"/>
          </a:ln>
        </p:spPr>
      </p:sp>
      <p:sp>
        <p:nvSpPr>
          <p:cNvPr id="22" name="Text 20"/>
          <p:cNvSpPr/>
          <p:nvPr/>
        </p:nvSpPr>
        <p:spPr>
          <a:xfrm>
            <a:off x="9464040" y="4882896"/>
            <a:ext cx="1371600" cy="310896"/>
          </a:xfrm>
          <a:prstGeom prst="rect">
            <a:avLst/>
          </a:prstGeom>
          <a:noFill/>
          <a:ln/>
        </p:spPr>
        <p:txBody>
          <a:bodyPr wrap="square" lIns="0" tIns="0" rIns="0" bIns="0" rtlCol="0" anchor="t">
            <a:normAutofit/>
          </a:bodyPr>
          <a:lstStyle/>
          <a:p>
            <a:pPr algn="ctr" indent="0" marL="0">
              <a:lnSpc>
                <a:spcPct val="100000"/>
              </a:lnSpc>
              <a:buNone/>
            </a:pPr>
            <a:r>
              <a:rPr lang="en-US" sz="1300" b="1" dirty="0">
                <a:solidFill>
                  <a:srgbClr val="2855FF"/>
                </a:solidFill>
                <a:latin typeface="Arial" pitchFamily="34" charset="0"/>
                <a:ea typeface="Arial" pitchFamily="34" charset="-122"/>
                <a:cs typeface="Arial" pitchFamily="34" charset="-120"/>
              </a:rPr>
              <a:t>EFFECT</a:t>
            </a:r>
            <a:endParaRPr lang="en-US" sz="1300" dirty="0"/>
          </a:p>
        </p:txBody>
      </p:sp>
      <p:sp>
        <p:nvSpPr>
          <p:cNvPr id="23" name="Text 21"/>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github.com/specdog/leash</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D63D"/>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THE DEVICE OWNER</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07</a:t>
            </a:r>
            <a:endParaRPr lang="en-US" sz="950" dirty="0"/>
          </a:p>
        </p:txBody>
      </p:sp>
      <p:sp>
        <p:nvSpPr>
          <p:cNvPr id="5" name="Text 3"/>
          <p:cNvSpPr/>
          <p:nvPr/>
        </p:nvSpPr>
        <p:spPr>
          <a:xfrm>
            <a:off x="502920" y="566928"/>
            <a:ext cx="11109960" cy="914400"/>
          </a:xfrm>
          <a:prstGeom prst="rect">
            <a:avLst/>
          </a:prstGeom>
          <a:noFill/>
          <a:ln/>
        </p:spPr>
        <p:txBody>
          <a:bodyPr wrap="square" lIns="0" tIns="0" rIns="0" bIns="0" rtlCol="0" anchor="ctr">
            <a:normAutofit/>
          </a:bodyPr>
          <a:lstStyle/>
          <a:p>
            <a:pPr indent="0" marL="0">
              <a:buNone/>
            </a:pPr>
            <a:r>
              <a:rPr lang="en-US" sz="3500" b="1" dirty="0">
                <a:solidFill>
                  <a:srgbClr val="0B0B0B"/>
                </a:solidFill>
                <a:latin typeface="Arial Black" pitchFamily="34" charset="0"/>
                <a:ea typeface="Arial Black" pitchFamily="34" charset="-122"/>
                <a:cs typeface="Arial Black" pitchFamily="34" charset="-120"/>
              </a:rPr>
              <a:t>One serial owner. Zero mystery writers.</a:t>
            </a:r>
            <a:endParaRPr lang="en-US" sz="3500" dirty="0"/>
          </a:p>
        </p:txBody>
      </p:sp>
      <p:sp>
        <p:nvSpPr>
          <p:cNvPr id="6" name="Shape 4"/>
          <p:cNvSpPr/>
          <p:nvPr/>
        </p:nvSpPr>
        <p:spPr>
          <a:xfrm>
            <a:off x="731520" y="1828800"/>
            <a:ext cx="1234440" cy="713232"/>
          </a:xfrm>
          <a:prstGeom prst="rect">
            <a:avLst/>
          </a:prstGeom>
          <a:solidFill>
            <a:srgbClr val="FFFDF7"/>
          </a:solidFill>
          <a:ln w="27940">
            <a:solidFill>
              <a:srgbClr val="0B0B0B"/>
            </a:solidFill>
            <a:prstDash val="solid"/>
          </a:ln>
        </p:spPr>
      </p:sp>
      <p:sp>
        <p:nvSpPr>
          <p:cNvPr id="7" name="Text 5"/>
          <p:cNvSpPr/>
          <p:nvPr/>
        </p:nvSpPr>
        <p:spPr>
          <a:xfrm>
            <a:off x="896112" y="1993392"/>
            <a:ext cx="905256" cy="384048"/>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CLI</a:t>
            </a:r>
            <a:endParaRPr lang="en-US" sz="1800" dirty="0"/>
          </a:p>
        </p:txBody>
      </p:sp>
      <p:sp>
        <p:nvSpPr>
          <p:cNvPr id="8" name="Shape 6"/>
          <p:cNvSpPr/>
          <p:nvPr/>
        </p:nvSpPr>
        <p:spPr>
          <a:xfrm>
            <a:off x="2029968" y="2194560"/>
            <a:ext cx="2194560" cy="1280160"/>
          </a:xfrm>
          <a:prstGeom prst="line">
            <a:avLst/>
          </a:prstGeom>
          <a:noFill/>
          <a:ln w="25400">
            <a:solidFill>
              <a:srgbClr val="0B0B0B"/>
            </a:solidFill>
            <a:prstDash val="solid"/>
            <a:tailEnd type="triangle"/>
          </a:ln>
        </p:spPr>
      </p:sp>
      <p:sp>
        <p:nvSpPr>
          <p:cNvPr id="9" name="Shape 7"/>
          <p:cNvSpPr/>
          <p:nvPr/>
        </p:nvSpPr>
        <p:spPr>
          <a:xfrm>
            <a:off x="2331720" y="2743200"/>
            <a:ext cx="1234440" cy="713232"/>
          </a:xfrm>
          <a:prstGeom prst="rect">
            <a:avLst/>
          </a:prstGeom>
          <a:solidFill>
            <a:srgbClr val="FFFDF7"/>
          </a:solidFill>
          <a:ln w="27940">
            <a:solidFill>
              <a:srgbClr val="0B0B0B"/>
            </a:solidFill>
            <a:prstDash val="solid"/>
          </a:ln>
        </p:spPr>
      </p:sp>
      <p:sp>
        <p:nvSpPr>
          <p:cNvPr id="10" name="Text 8"/>
          <p:cNvSpPr/>
          <p:nvPr/>
        </p:nvSpPr>
        <p:spPr>
          <a:xfrm>
            <a:off x="2496312" y="2907792"/>
            <a:ext cx="905256" cy="384048"/>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HTTP</a:t>
            </a:r>
            <a:endParaRPr lang="en-US" sz="1800" dirty="0"/>
          </a:p>
        </p:txBody>
      </p:sp>
      <p:sp>
        <p:nvSpPr>
          <p:cNvPr id="11" name="Shape 9"/>
          <p:cNvSpPr/>
          <p:nvPr/>
        </p:nvSpPr>
        <p:spPr>
          <a:xfrm>
            <a:off x="3630168" y="3108960"/>
            <a:ext cx="1920240" cy="365760"/>
          </a:xfrm>
          <a:prstGeom prst="line">
            <a:avLst/>
          </a:prstGeom>
          <a:noFill/>
          <a:ln w="25400">
            <a:solidFill>
              <a:srgbClr val="0B0B0B"/>
            </a:solidFill>
            <a:prstDash val="solid"/>
            <a:tailEnd type="triangle"/>
          </a:ln>
        </p:spPr>
      </p:sp>
      <p:sp>
        <p:nvSpPr>
          <p:cNvPr id="12" name="Shape 10"/>
          <p:cNvSpPr/>
          <p:nvPr/>
        </p:nvSpPr>
        <p:spPr>
          <a:xfrm>
            <a:off x="3931920" y="1828800"/>
            <a:ext cx="1234440" cy="713232"/>
          </a:xfrm>
          <a:prstGeom prst="rect">
            <a:avLst/>
          </a:prstGeom>
          <a:solidFill>
            <a:srgbClr val="FFFDF7"/>
          </a:solidFill>
          <a:ln w="27940">
            <a:solidFill>
              <a:srgbClr val="0B0B0B"/>
            </a:solidFill>
            <a:prstDash val="solid"/>
          </a:ln>
        </p:spPr>
      </p:sp>
      <p:sp>
        <p:nvSpPr>
          <p:cNvPr id="13" name="Text 11"/>
          <p:cNvSpPr/>
          <p:nvPr/>
        </p:nvSpPr>
        <p:spPr>
          <a:xfrm>
            <a:off x="4096512" y="1993392"/>
            <a:ext cx="905256" cy="384048"/>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MCP</a:t>
            </a:r>
            <a:endParaRPr lang="en-US" sz="1800" dirty="0"/>
          </a:p>
        </p:txBody>
      </p:sp>
      <p:sp>
        <p:nvSpPr>
          <p:cNvPr id="14" name="Shape 12"/>
          <p:cNvSpPr/>
          <p:nvPr/>
        </p:nvSpPr>
        <p:spPr>
          <a:xfrm>
            <a:off x="5230368" y="2194560"/>
            <a:ext cx="1645920" cy="1280160"/>
          </a:xfrm>
          <a:prstGeom prst="line">
            <a:avLst/>
          </a:prstGeom>
          <a:noFill/>
          <a:ln w="25400">
            <a:solidFill>
              <a:srgbClr val="0B0B0B"/>
            </a:solidFill>
            <a:prstDash val="solid"/>
            <a:tailEnd type="triangle"/>
          </a:ln>
        </p:spPr>
      </p:sp>
      <p:sp>
        <p:nvSpPr>
          <p:cNvPr id="15" name="Shape 13"/>
          <p:cNvSpPr/>
          <p:nvPr/>
        </p:nvSpPr>
        <p:spPr>
          <a:xfrm>
            <a:off x="5532120" y="2743200"/>
            <a:ext cx="1234440" cy="713232"/>
          </a:xfrm>
          <a:prstGeom prst="rect">
            <a:avLst/>
          </a:prstGeom>
          <a:solidFill>
            <a:srgbClr val="FFDCEB"/>
          </a:solidFill>
          <a:ln w="27940">
            <a:solidFill>
              <a:srgbClr val="0B0B0B"/>
            </a:solidFill>
            <a:prstDash val="solid"/>
          </a:ln>
        </p:spPr>
      </p:sp>
      <p:sp>
        <p:nvSpPr>
          <p:cNvPr id="16" name="Text 14"/>
          <p:cNvSpPr/>
          <p:nvPr/>
        </p:nvSpPr>
        <p:spPr>
          <a:xfrm>
            <a:off x="5696712" y="2907792"/>
            <a:ext cx="905256" cy="384048"/>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NAV</a:t>
            </a:r>
            <a:endParaRPr lang="en-US" sz="1800" dirty="0"/>
          </a:p>
        </p:txBody>
      </p:sp>
      <p:sp>
        <p:nvSpPr>
          <p:cNvPr id="17" name="Shape 15"/>
          <p:cNvSpPr/>
          <p:nvPr/>
        </p:nvSpPr>
        <p:spPr>
          <a:xfrm>
            <a:off x="6830568" y="3108960"/>
            <a:ext cx="1371600" cy="365760"/>
          </a:xfrm>
          <a:prstGeom prst="line">
            <a:avLst/>
          </a:prstGeom>
          <a:noFill/>
          <a:ln w="25400">
            <a:solidFill>
              <a:srgbClr val="0B0B0B"/>
            </a:solidFill>
            <a:prstDash val="solid"/>
            <a:tailEnd type="triangle"/>
          </a:ln>
        </p:spPr>
      </p:sp>
      <p:sp>
        <p:nvSpPr>
          <p:cNvPr id="18" name="Shape 16"/>
          <p:cNvSpPr/>
          <p:nvPr/>
        </p:nvSpPr>
        <p:spPr>
          <a:xfrm>
            <a:off x="7955280" y="1993392"/>
            <a:ext cx="1965960" cy="1874520"/>
          </a:xfrm>
          <a:prstGeom prst="rect">
            <a:avLst/>
          </a:prstGeom>
          <a:solidFill>
            <a:srgbClr val="B8FF32"/>
          </a:solidFill>
          <a:ln w="27940">
            <a:solidFill>
              <a:srgbClr val="0B0B0B"/>
            </a:solidFill>
            <a:prstDash val="solid"/>
          </a:ln>
        </p:spPr>
      </p:sp>
      <p:sp>
        <p:nvSpPr>
          <p:cNvPr id="19" name="Text 17"/>
          <p:cNvSpPr/>
          <p:nvPr/>
        </p:nvSpPr>
        <p:spPr>
          <a:xfrm>
            <a:off x="8119872" y="2157984"/>
            <a:ext cx="1636776" cy="1545336"/>
          </a:xfrm>
          <a:prstGeom prst="rect">
            <a:avLst/>
          </a:prstGeom>
          <a:noFill/>
          <a:ln/>
        </p:spPr>
        <p:txBody>
          <a:bodyPr wrap="square" lIns="0" tIns="0" rIns="0" bIns="0" rtlCol="0" anchor="ctr">
            <a:normAutofit/>
          </a:bodyPr>
          <a:lstStyle/>
          <a:p>
            <a:pPr algn="ctr" indent="0" marL="0">
              <a:lnSpc>
                <a:spcPct val="100000"/>
              </a:lnSpc>
              <a:buNone/>
            </a:pPr>
            <a:r>
              <a:rPr lang="en-US" sz="2000" b="1" dirty="0">
                <a:solidFill>
                  <a:srgbClr val="0B0B0B"/>
                </a:solidFill>
                <a:latin typeface="Arial" pitchFamily="34" charset="0"/>
                <a:ea typeface="Arial" pitchFamily="34" charset="-122"/>
                <a:cs typeface="Arial" pitchFamily="34" charset="-120"/>
              </a:rPr>
              <a:t>LEASH</a:t>
            </a:r>
            <a:endParaRPr lang="en-US" sz="2000" dirty="0"/>
          </a:p>
          <a:p>
            <a:pPr algn="ctr" indent="0" marL="0">
              <a:lnSpc>
                <a:spcPct val="100000"/>
              </a:lnSpc>
              <a:buNone/>
            </a:pPr>
            <a:r>
              <a:rPr lang="en-US" sz="2000" b="1" dirty="0">
                <a:solidFill>
                  <a:srgbClr val="0B0B0B"/>
                </a:solidFill>
                <a:latin typeface="Arial" pitchFamily="34" charset="0"/>
                <a:ea typeface="Arial" pitchFamily="34" charset="-122"/>
                <a:cs typeface="Arial" pitchFamily="34" charset="-120"/>
              </a:rPr>
              <a:t>DEVICE OWNER</a:t>
            </a:r>
            <a:endParaRPr lang="en-US" sz="2000" dirty="0"/>
          </a:p>
        </p:txBody>
      </p:sp>
      <p:sp>
        <p:nvSpPr>
          <p:cNvPr id="20" name="Shape 18"/>
          <p:cNvSpPr/>
          <p:nvPr/>
        </p:nvSpPr>
        <p:spPr>
          <a:xfrm>
            <a:off x="10021824" y="2926080"/>
            <a:ext cx="685800" cy="0"/>
          </a:xfrm>
          <a:prstGeom prst="line">
            <a:avLst/>
          </a:prstGeom>
          <a:noFill/>
          <a:ln w="38100">
            <a:solidFill>
              <a:srgbClr val="0B0B0B"/>
            </a:solidFill>
            <a:prstDash val="solid"/>
            <a:tailEnd type="triangle"/>
          </a:ln>
        </p:spPr>
      </p:sp>
      <p:sp>
        <p:nvSpPr>
          <p:cNvPr id="21" name="Shape 19"/>
          <p:cNvSpPr/>
          <p:nvPr/>
        </p:nvSpPr>
        <p:spPr>
          <a:xfrm>
            <a:off x="10771632" y="2487168"/>
            <a:ext cx="777240" cy="868680"/>
          </a:xfrm>
          <a:prstGeom prst="rect">
            <a:avLst/>
          </a:prstGeom>
          <a:solidFill>
            <a:srgbClr val="0B0B0B"/>
          </a:solidFill>
          <a:ln w="27940">
            <a:solidFill>
              <a:srgbClr val="0B0B0B"/>
            </a:solidFill>
            <a:prstDash val="solid"/>
          </a:ln>
        </p:spPr>
      </p:sp>
      <p:sp>
        <p:nvSpPr>
          <p:cNvPr id="22" name="Text 20"/>
          <p:cNvSpPr/>
          <p:nvPr/>
        </p:nvSpPr>
        <p:spPr>
          <a:xfrm>
            <a:off x="10936224" y="2651760"/>
            <a:ext cx="448056" cy="539496"/>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FFFFFF"/>
                </a:solidFill>
                <a:latin typeface="Arial" pitchFamily="34" charset="0"/>
                <a:ea typeface="Arial" pitchFamily="34" charset="-122"/>
                <a:cs typeface="Arial" pitchFamily="34" charset="-120"/>
              </a:rPr>
              <a:t>UART</a:t>
            </a:r>
            <a:endParaRPr lang="en-US" sz="1600" dirty="0"/>
          </a:p>
        </p:txBody>
      </p:sp>
      <p:sp>
        <p:nvSpPr>
          <p:cNvPr id="23" name="Text 21"/>
          <p:cNvSpPr/>
          <p:nvPr/>
        </p:nvSpPr>
        <p:spPr>
          <a:xfrm>
            <a:off x="1874520" y="4800600"/>
            <a:ext cx="8138160" cy="566928"/>
          </a:xfrm>
          <a:prstGeom prst="rect">
            <a:avLst/>
          </a:prstGeom>
          <a:noFill/>
          <a:ln/>
        </p:spPr>
        <p:txBody>
          <a:bodyPr wrap="square" lIns="0" tIns="0" rIns="0" bIns="0" rtlCol="0" anchor="t">
            <a:normAutofit/>
          </a:bodyPr>
          <a:lstStyle/>
          <a:p>
            <a:pPr algn="ctr" indent="0" marL="0">
              <a:lnSpc>
                <a:spcPct val="100000"/>
              </a:lnSpc>
              <a:buNone/>
            </a:pPr>
            <a:r>
              <a:rPr lang="en-US" sz="2400" b="1" dirty="0">
                <a:solidFill>
                  <a:srgbClr val="0B0B0B"/>
                </a:solidFill>
                <a:latin typeface="Arial" pitchFamily="34" charset="0"/>
                <a:ea typeface="Arial" pitchFamily="34" charset="-122"/>
                <a:cs typeface="Arial" pitchFamily="34" charset="-120"/>
              </a:rPr>
              <a:t>All roads converge before bytes reach the controller.</a:t>
            </a:r>
            <a:endParaRPr lang="en-US" sz="2400" dirty="0"/>
          </a:p>
        </p:txBody>
      </p:sp>
      <p:sp>
        <p:nvSpPr>
          <p:cNvPr id="24" name="Text 22"/>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github.com/specdog/leash</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B0B"/>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THE SURFACE</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08</a:t>
            </a:r>
            <a:endParaRPr lang="en-US" sz="950" dirty="0"/>
          </a:p>
        </p:txBody>
      </p:sp>
      <p:sp>
        <p:nvSpPr>
          <p:cNvPr id="5" name="Text 3"/>
          <p:cNvSpPr/>
          <p:nvPr/>
        </p:nvSpPr>
        <p:spPr>
          <a:xfrm>
            <a:off x="502920" y="566928"/>
            <a:ext cx="11109960" cy="914400"/>
          </a:xfrm>
          <a:prstGeom prst="rect">
            <a:avLst/>
          </a:prstGeom>
          <a:noFill/>
          <a:ln/>
        </p:spPr>
        <p:txBody>
          <a:bodyPr wrap="square" lIns="0" tIns="0" rIns="0" bIns="0" rtlCol="0" anchor="ctr">
            <a:normAutofit/>
          </a:bodyPr>
          <a:lstStyle/>
          <a:p>
            <a:pPr indent="0" marL="0">
              <a:buNone/>
            </a:pPr>
            <a:r>
              <a:rPr lang="en-US" sz="3200" b="1" dirty="0">
                <a:solidFill>
                  <a:srgbClr val="FFFFFF"/>
                </a:solidFill>
                <a:latin typeface="Arial Black" pitchFamily="34" charset="0"/>
                <a:ea typeface="Arial Black" pitchFamily="34" charset="-122"/>
                <a:cs typeface="Arial Black" pitchFamily="34" charset="-120"/>
              </a:rPr>
              <a:t>Three protocols. One capability contract.</a:t>
            </a:r>
            <a:endParaRPr lang="en-US" sz="3200" dirty="0"/>
          </a:p>
        </p:txBody>
      </p:sp>
      <p:sp>
        <p:nvSpPr>
          <p:cNvPr id="6" name="Shape 4"/>
          <p:cNvSpPr/>
          <p:nvPr/>
        </p:nvSpPr>
        <p:spPr>
          <a:xfrm>
            <a:off x="640080" y="1554480"/>
            <a:ext cx="5440680" cy="822960"/>
          </a:xfrm>
          <a:prstGeom prst="rect">
            <a:avLst/>
          </a:prstGeom>
          <a:solidFill>
            <a:srgbClr val="FFFDF7"/>
          </a:solidFill>
          <a:ln w="27940">
            <a:solidFill>
              <a:srgbClr val="0B0B0B"/>
            </a:solidFill>
            <a:prstDash val="solid"/>
          </a:ln>
        </p:spPr>
      </p:sp>
      <p:sp>
        <p:nvSpPr>
          <p:cNvPr id="7" name="Text 5"/>
          <p:cNvSpPr/>
          <p:nvPr/>
        </p:nvSpPr>
        <p:spPr>
          <a:xfrm>
            <a:off x="868680" y="1783080"/>
            <a:ext cx="4983480" cy="365760"/>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Courier New" pitchFamily="34" charset="0"/>
                <a:ea typeface="Courier New" pitchFamily="34" charset="-122"/>
                <a:cs typeface="Courier New" pitchFamily="34" charset="-120"/>
              </a:rPr>
              <a:t>$ leash drive --linear 0.08 --for 400ms</a:t>
            </a:r>
            <a:endParaRPr lang="en-US" sz="1600" dirty="0"/>
          </a:p>
        </p:txBody>
      </p:sp>
      <p:sp>
        <p:nvSpPr>
          <p:cNvPr id="8" name="Shape 6"/>
          <p:cNvSpPr/>
          <p:nvPr/>
        </p:nvSpPr>
        <p:spPr>
          <a:xfrm>
            <a:off x="6263640" y="1554480"/>
            <a:ext cx="5257800" cy="822960"/>
          </a:xfrm>
          <a:prstGeom prst="rect">
            <a:avLst/>
          </a:prstGeom>
          <a:solidFill>
            <a:srgbClr val="DDE5FF"/>
          </a:solidFill>
          <a:ln w="27940">
            <a:solidFill>
              <a:srgbClr val="0B0B0B"/>
            </a:solidFill>
            <a:prstDash val="solid"/>
          </a:ln>
        </p:spPr>
      </p:sp>
      <p:sp>
        <p:nvSpPr>
          <p:cNvPr id="9" name="Text 7"/>
          <p:cNvSpPr/>
          <p:nvPr/>
        </p:nvSpPr>
        <p:spPr>
          <a:xfrm>
            <a:off x="6492240" y="1783080"/>
            <a:ext cx="4800600" cy="365760"/>
          </a:xfrm>
          <a:prstGeom prst="rect">
            <a:avLst/>
          </a:prstGeom>
          <a:noFill/>
          <a:ln/>
        </p:spPr>
        <p:txBody>
          <a:bodyPr wrap="square" lIns="0" tIns="0" rIns="0" bIns="0" rtlCol="0" anchor="ctr">
            <a:normAutofit/>
          </a:bodyPr>
          <a:lstStyle/>
          <a:p>
            <a:pPr algn="l" indent="0" marL="0">
              <a:lnSpc>
                <a:spcPct val="100000"/>
              </a:lnSpc>
              <a:buNone/>
            </a:pPr>
            <a:r>
              <a:rPr lang="en-US" sz="1500" b="1" dirty="0">
                <a:solidFill>
                  <a:srgbClr val="0B0B0B"/>
                </a:solidFill>
                <a:latin typeface="Courier New" pitchFamily="34" charset="0"/>
                <a:ea typeface="Courier New" pitchFamily="34" charset="-122"/>
                <a:cs typeface="Courier New" pitchFamily="34" charset="-120"/>
              </a:rPr>
              <a:t>POST /v1/capabilities/drive/propose</a:t>
            </a:r>
            <a:endParaRPr lang="en-US" sz="1500" dirty="0"/>
          </a:p>
        </p:txBody>
      </p:sp>
      <p:sp>
        <p:nvSpPr>
          <p:cNvPr id="10" name="Shape 8"/>
          <p:cNvSpPr/>
          <p:nvPr/>
        </p:nvSpPr>
        <p:spPr>
          <a:xfrm>
            <a:off x="640080" y="2743200"/>
            <a:ext cx="6583680" cy="822960"/>
          </a:xfrm>
          <a:prstGeom prst="rect">
            <a:avLst/>
          </a:prstGeom>
          <a:solidFill>
            <a:srgbClr val="FFDCEB"/>
          </a:solidFill>
          <a:ln w="27940">
            <a:solidFill>
              <a:srgbClr val="0B0B0B"/>
            </a:solidFill>
            <a:prstDash val="solid"/>
          </a:ln>
        </p:spPr>
      </p:sp>
      <p:sp>
        <p:nvSpPr>
          <p:cNvPr id="11" name="Text 9"/>
          <p:cNvSpPr/>
          <p:nvPr/>
        </p:nvSpPr>
        <p:spPr>
          <a:xfrm>
            <a:off x="868680" y="2971800"/>
            <a:ext cx="6126480" cy="365760"/>
          </a:xfrm>
          <a:prstGeom prst="rect">
            <a:avLst/>
          </a:prstGeom>
          <a:noFill/>
          <a:ln/>
        </p:spPr>
        <p:txBody>
          <a:bodyPr wrap="square" lIns="0" tIns="0" rIns="0" bIns="0" rtlCol="0" anchor="ctr">
            <a:normAutofit/>
          </a:bodyPr>
          <a:lstStyle/>
          <a:p>
            <a:pPr algn="l" indent="0" marL="0">
              <a:lnSpc>
                <a:spcPct val="100000"/>
              </a:lnSpc>
              <a:buNone/>
            </a:pPr>
            <a:r>
              <a:rPr lang="en-US" sz="1500" b="1" dirty="0">
                <a:solidFill>
                  <a:srgbClr val="0B0B0B"/>
                </a:solidFill>
                <a:latin typeface="Courier New" pitchFamily="34" charset="0"/>
                <a:ea typeface="Courier New" pitchFamily="34" charset="-122"/>
                <a:cs typeface="Courier New" pitchFamily="34" charset="-120"/>
              </a:rPr>
              <a:t>tools.call("drive.propose", candidate)</a:t>
            </a:r>
            <a:endParaRPr lang="en-US" sz="1500" dirty="0"/>
          </a:p>
        </p:txBody>
      </p:sp>
      <p:sp>
        <p:nvSpPr>
          <p:cNvPr id="12" name="Shape 10"/>
          <p:cNvSpPr/>
          <p:nvPr/>
        </p:nvSpPr>
        <p:spPr>
          <a:xfrm>
            <a:off x="3383280" y="4023360"/>
            <a:ext cx="2743200" cy="0"/>
          </a:xfrm>
          <a:prstGeom prst="line">
            <a:avLst/>
          </a:prstGeom>
          <a:noFill/>
          <a:ln w="50800">
            <a:solidFill>
              <a:srgbClr val="B8FF32"/>
            </a:solidFill>
            <a:prstDash val="solid"/>
            <a:tailEnd type="triangle"/>
          </a:ln>
        </p:spPr>
      </p:sp>
      <p:sp>
        <p:nvSpPr>
          <p:cNvPr id="13" name="Shape 11"/>
          <p:cNvSpPr/>
          <p:nvPr/>
        </p:nvSpPr>
        <p:spPr>
          <a:xfrm>
            <a:off x="6263640" y="3657600"/>
            <a:ext cx="5257800" cy="914400"/>
          </a:xfrm>
          <a:prstGeom prst="rect">
            <a:avLst/>
          </a:prstGeom>
          <a:solidFill>
            <a:srgbClr val="B8FF32"/>
          </a:solidFill>
          <a:ln w="27940">
            <a:solidFill>
              <a:srgbClr val="0B0B0B"/>
            </a:solidFill>
            <a:prstDash val="solid"/>
          </a:ln>
        </p:spPr>
      </p:sp>
      <p:sp>
        <p:nvSpPr>
          <p:cNvPr id="14" name="Text 12"/>
          <p:cNvSpPr/>
          <p:nvPr/>
        </p:nvSpPr>
        <p:spPr>
          <a:xfrm>
            <a:off x="6428232" y="3822192"/>
            <a:ext cx="4928616" cy="585216"/>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0B0B0B"/>
                </a:solidFill>
                <a:latin typeface="Courier New" pitchFamily="34" charset="0"/>
                <a:ea typeface="Courier New" pitchFamily="34" charset="-122"/>
                <a:cs typeface="Courier New" pitchFamily="34" charset="-120"/>
              </a:rPr>
              <a:t>Capability&lt; Candidate → Authorized &gt;</a:t>
            </a:r>
            <a:endParaRPr lang="en-US" sz="1600" dirty="0"/>
          </a:p>
        </p:txBody>
      </p:sp>
      <p:sp>
        <p:nvSpPr>
          <p:cNvPr id="15" name="Text 13"/>
          <p:cNvSpPr/>
          <p:nvPr/>
        </p:nvSpPr>
        <p:spPr>
          <a:xfrm>
            <a:off x="658368" y="5074920"/>
            <a:ext cx="7315200" cy="475488"/>
          </a:xfrm>
          <a:prstGeom prst="rect">
            <a:avLst/>
          </a:prstGeom>
          <a:noFill/>
          <a:ln/>
        </p:spPr>
        <p:txBody>
          <a:bodyPr wrap="square" lIns="0" tIns="0" rIns="0" bIns="0" rtlCol="0" anchor="t">
            <a:normAutofit/>
          </a:bodyPr>
          <a:lstStyle/>
          <a:p>
            <a:pPr algn="l" indent="0" marL="0">
              <a:lnSpc>
                <a:spcPct val="100000"/>
              </a:lnSpc>
              <a:buNone/>
            </a:pPr>
            <a:r>
              <a:rPr lang="en-US" sz="2500" b="1" dirty="0">
                <a:solidFill>
                  <a:srgbClr val="FFFFFF"/>
                </a:solidFill>
                <a:latin typeface="Arial" pitchFamily="34" charset="0"/>
                <a:ea typeface="Arial" pitchFamily="34" charset="-122"/>
                <a:cs typeface="Arial" pitchFamily="34" charset="-120"/>
              </a:rPr>
              <a:t>Syntax changes. Authority does not.</a:t>
            </a:r>
            <a:endParaRPr lang="en-US" sz="2500" dirty="0"/>
          </a:p>
        </p:txBody>
      </p:sp>
      <p:sp>
        <p:nvSpPr>
          <p:cNvPr id="16" name="Text 14"/>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https://github.com/specdog/leash</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THE STACK</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09</a:t>
            </a:r>
            <a:endParaRPr lang="en-US" sz="950" dirty="0"/>
          </a:p>
        </p:txBody>
      </p:sp>
      <p:sp>
        <p:nvSpPr>
          <p:cNvPr id="5" name="Text 3"/>
          <p:cNvSpPr/>
          <p:nvPr/>
        </p:nvSpPr>
        <p:spPr>
          <a:xfrm>
            <a:off x="502920" y="566928"/>
            <a:ext cx="11109960" cy="914400"/>
          </a:xfrm>
          <a:prstGeom prst="rect">
            <a:avLst/>
          </a:prstGeom>
          <a:noFill/>
          <a:ln/>
        </p:spPr>
        <p:txBody>
          <a:bodyPr wrap="square" lIns="0" tIns="0" rIns="0" bIns="0" rtlCol="0" anchor="ctr">
            <a:normAutofit/>
          </a:bodyPr>
          <a:lstStyle/>
          <a:p>
            <a:pPr indent="0" marL="0">
              <a:buNone/>
            </a:pPr>
            <a:r>
              <a:rPr lang="en-US" sz="2900" b="1" dirty="0">
                <a:solidFill>
                  <a:srgbClr val="0B0B0B"/>
                </a:solidFill>
                <a:latin typeface="Arial Black" pitchFamily="34" charset="0"/>
                <a:ea typeface="Arial Black" pitchFamily="34" charset="-122"/>
                <a:cs typeface="Arial Black" pitchFamily="34" charset="-120"/>
              </a:rPr>
              <a:t>Policy above mechanism. Evidence beside both.</a:t>
            </a:r>
            <a:endParaRPr lang="en-US" sz="2900" dirty="0"/>
          </a:p>
        </p:txBody>
      </p:sp>
      <p:sp>
        <p:nvSpPr>
          <p:cNvPr id="6" name="Shape 4"/>
          <p:cNvSpPr/>
          <p:nvPr/>
        </p:nvSpPr>
        <p:spPr>
          <a:xfrm>
            <a:off x="640080" y="1325880"/>
            <a:ext cx="2240280" cy="612648"/>
          </a:xfrm>
          <a:prstGeom prst="rect">
            <a:avLst/>
          </a:prstGeom>
          <a:solidFill>
            <a:srgbClr val="DDE5FF"/>
          </a:solidFill>
          <a:ln w="27940">
            <a:solidFill>
              <a:srgbClr val="0B0B0B"/>
            </a:solidFill>
            <a:prstDash val="solid"/>
          </a:ln>
        </p:spPr>
      </p:sp>
      <p:sp>
        <p:nvSpPr>
          <p:cNvPr id="7" name="Text 5"/>
          <p:cNvSpPr/>
          <p:nvPr/>
        </p:nvSpPr>
        <p:spPr>
          <a:xfrm>
            <a:off x="804672" y="1490472"/>
            <a:ext cx="1911096" cy="283464"/>
          </a:xfrm>
          <a:prstGeom prst="rect">
            <a:avLst/>
          </a:prstGeom>
          <a:noFill/>
          <a:ln/>
        </p:spPr>
        <p:txBody>
          <a:bodyPr wrap="square" lIns="0" tIns="0" rIns="0" bIns="0" rtlCol="0" anchor="ctr">
            <a:normAutofit/>
          </a:bodyPr>
          <a:lstStyle/>
          <a:p>
            <a:pPr algn="ctr" indent="0" marL="0">
              <a:lnSpc>
                <a:spcPct val="100000"/>
              </a:lnSpc>
              <a:buNone/>
            </a:pPr>
            <a:r>
              <a:rPr lang="en-US" sz="1500" b="1" dirty="0">
                <a:solidFill>
                  <a:srgbClr val="0B0B0B"/>
                </a:solidFill>
                <a:latin typeface="Arial" pitchFamily="34" charset="0"/>
                <a:ea typeface="Arial" pitchFamily="34" charset="-122"/>
                <a:cs typeface="Arial" pitchFamily="34" charset="-120"/>
              </a:rPr>
              <a:t>INTENT</a:t>
            </a:r>
            <a:endParaRPr lang="en-US" sz="1500" dirty="0"/>
          </a:p>
        </p:txBody>
      </p:sp>
      <p:sp>
        <p:nvSpPr>
          <p:cNvPr id="8" name="Text 6"/>
          <p:cNvSpPr/>
          <p:nvPr/>
        </p:nvSpPr>
        <p:spPr>
          <a:xfrm>
            <a:off x="3246120" y="1472184"/>
            <a:ext cx="4206240" cy="301752"/>
          </a:xfrm>
          <a:prstGeom prst="rect">
            <a:avLst/>
          </a:prstGeom>
          <a:noFill/>
          <a:ln/>
        </p:spPr>
        <p:txBody>
          <a:bodyPr wrap="square" lIns="0" tIns="0" rIns="0" bIns="0" rtlCol="0" anchor="t">
            <a:normAutofit/>
          </a:bodyPr>
          <a:lstStyle/>
          <a:p>
            <a:pPr algn="l" indent="0" marL="0">
              <a:lnSpc>
                <a:spcPct val="100000"/>
              </a:lnSpc>
              <a:buNone/>
            </a:pPr>
            <a:r>
              <a:rPr lang="en-US" sz="1600" b="1" dirty="0">
                <a:solidFill>
                  <a:srgbClr val="6B6B66"/>
                </a:solidFill>
                <a:latin typeface="Arial" pitchFamily="34" charset="0"/>
                <a:ea typeface="Arial" pitchFamily="34" charset="-122"/>
                <a:cs typeface="Arial" pitchFamily="34" charset="-120"/>
              </a:rPr>
              <a:t>mission • operator • autonomy</a:t>
            </a:r>
            <a:endParaRPr lang="en-US" sz="1600" dirty="0"/>
          </a:p>
        </p:txBody>
      </p:sp>
      <p:sp>
        <p:nvSpPr>
          <p:cNvPr id="9" name="Shape 7"/>
          <p:cNvSpPr/>
          <p:nvPr/>
        </p:nvSpPr>
        <p:spPr>
          <a:xfrm>
            <a:off x="640080" y="2176272"/>
            <a:ext cx="2240280" cy="612648"/>
          </a:xfrm>
          <a:prstGeom prst="rect">
            <a:avLst/>
          </a:prstGeom>
          <a:solidFill>
            <a:srgbClr val="FFD63D"/>
          </a:solidFill>
          <a:ln w="27940">
            <a:solidFill>
              <a:srgbClr val="0B0B0B"/>
            </a:solidFill>
            <a:prstDash val="solid"/>
          </a:ln>
        </p:spPr>
      </p:sp>
      <p:sp>
        <p:nvSpPr>
          <p:cNvPr id="10" name="Text 8"/>
          <p:cNvSpPr/>
          <p:nvPr/>
        </p:nvSpPr>
        <p:spPr>
          <a:xfrm>
            <a:off x="804672" y="2340864"/>
            <a:ext cx="1911096" cy="283464"/>
          </a:xfrm>
          <a:prstGeom prst="rect">
            <a:avLst/>
          </a:prstGeom>
          <a:noFill/>
          <a:ln/>
        </p:spPr>
        <p:txBody>
          <a:bodyPr wrap="square" lIns="0" tIns="0" rIns="0" bIns="0" rtlCol="0" anchor="ctr">
            <a:normAutofit/>
          </a:bodyPr>
          <a:lstStyle/>
          <a:p>
            <a:pPr algn="ctr" indent="0" marL="0">
              <a:lnSpc>
                <a:spcPct val="100000"/>
              </a:lnSpc>
              <a:buNone/>
            </a:pPr>
            <a:r>
              <a:rPr lang="en-US" sz="1500" b="1" dirty="0">
                <a:solidFill>
                  <a:srgbClr val="0B0B0B"/>
                </a:solidFill>
                <a:latin typeface="Arial" pitchFamily="34" charset="0"/>
                <a:ea typeface="Arial" pitchFamily="34" charset="-122"/>
                <a:cs typeface="Arial" pitchFamily="34" charset="-120"/>
              </a:rPr>
              <a:t>CAPABILITY</a:t>
            </a:r>
            <a:endParaRPr lang="en-US" sz="1500" dirty="0"/>
          </a:p>
        </p:txBody>
      </p:sp>
      <p:sp>
        <p:nvSpPr>
          <p:cNvPr id="11" name="Text 9"/>
          <p:cNvSpPr/>
          <p:nvPr/>
        </p:nvSpPr>
        <p:spPr>
          <a:xfrm>
            <a:off x="3246120" y="2322576"/>
            <a:ext cx="4206240" cy="301752"/>
          </a:xfrm>
          <a:prstGeom prst="rect">
            <a:avLst/>
          </a:prstGeom>
          <a:noFill/>
          <a:ln/>
        </p:spPr>
        <p:txBody>
          <a:bodyPr wrap="square" lIns="0" tIns="0" rIns="0" bIns="0" rtlCol="0" anchor="t">
            <a:normAutofit/>
          </a:bodyPr>
          <a:lstStyle/>
          <a:p>
            <a:pPr algn="l" indent="0" marL="0">
              <a:lnSpc>
                <a:spcPct val="100000"/>
              </a:lnSpc>
              <a:buNone/>
            </a:pPr>
            <a:r>
              <a:rPr lang="en-US" sz="1600" b="1" dirty="0">
                <a:solidFill>
                  <a:srgbClr val="6B6B66"/>
                </a:solidFill>
                <a:latin typeface="Arial" pitchFamily="34" charset="0"/>
                <a:ea typeface="Arial" pitchFamily="34" charset="-122"/>
                <a:cs typeface="Arial" pitchFamily="34" charset="-120"/>
              </a:rPr>
              <a:t>resolve • validate • authorize</a:t>
            </a:r>
            <a:endParaRPr lang="en-US" sz="1600" dirty="0"/>
          </a:p>
        </p:txBody>
      </p:sp>
      <p:sp>
        <p:nvSpPr>
          <p:cNvPr id="12" name="Shape 10"/>
          <p:cNvSpPr/>
          <p:nvPr/>
        </p:nvSpPr>
        <p:spPr>
          <a:xfrm>
            <a:off x="640080" y="3026664"/>
            <a:ext cx="2240280" cy="612648"/>
          </a:xfrm>
          <a:prstGeom prst="rect">
            <a:avLst/>
          </a:prstGeom>
          <a:solidFill>
            <a:srgbClr val="B8FF32"/>
          </a:solidFill>
          <a:ln w="27940">
            <a:solidFill>
              <a:srgbClr val="0B0B0B"/>
            </a:solidFill>
            <a:prstDash val="solid"/>
          </a:ln>
        </p:spPr>
      </p:sp>
      <p:sp>
        <p:nvSpPr>
          <p:cNvPr id="13" name="Text 11"/>
          <p:cNvSpPr/>
          <p:nvPr/>
        </p:nvSpPr>
        <p:spPr>
          <a:xfrm>
            <a:off x="804672" y="3191256"/>
            <a:ext cx="1911096" cy="283464"/>
          </a:xfrm>
          <a:prstGeom prst="rect">
            <a:avLst/>
          </a:prstGeom>
          <a:noFill/>
          <a:ln/>
        </p:spPr>
        <p:txBody>
          <a:bodyPr wrap="square" lIns="0" tIns="0" rIns="0" bIns="0" rtlCol="0" anchor="ctr">
            <a:normAutofit/>
          </a:bodyPr>
          <a:lstStyle/>
          <a:p>
            <a:pPr algn="ctr" indent="0" marL="0">
              <a:lnSpc>
                <a:spcPct val="100000"/>
              </a:lnSpc>
              <a:buNone/>
            </a:pPr>
            <a:r>
              <a:rPr lang="en-US" sz="1500" b="1" dirty="0">
                <a:solidFill>
                  <a:srgbClr val="0B0B0B"/>
                </a:solidFill>
                <a:latin typeface="Arial" pitchFamily="34" charset="0"/>
                <a:ea typeface="Arial" pitchFamily="34" charset="-122"/>
                <a:cs typeface="Arial" pitchFamily="34" charset="-120"/>
              </a:rPr>
              <a:t>SAFETY KERNEL</a:t>
            </a:r>
            <a:endParaRPr lang="en-US" sz="1500" dirty="0"/>
          </a:p>
        </p:txBody>
      </p:sp>
      <p:sp>
        <p:nvSpPr>
          <p:cNvPr id="14" name="Text 12"/>
          <p:cNvSpPr/>
          <p:nvPr/>
        </p:nvSpPr>
        <p:spPr>
          <a:xfrm>
            <a:off x="3246120" y="3172968"/>
            <a:ext cx="4206240" cy="301752"/>
          </a:xfrm>
          <a:prstGeom prst="rect">
            <a:avLst/>
          </a:prstGeom>
          <a:noFill/>
          <a:ln/>
        </p:spPr>
        <p:txBody>
          <a:bodyPr wrap="square" lIns="0" tIns="0" rIns="0" bIns="0" rtlCol="0" anchor="t">
            <a:normAutofit/>
          </a:bodyPr>
          <a:lstStyle/>
          <a:p>
            <a:pPr algn="l" indent="0" marL="0">
              <a:lnSpc>
                <a:spcPct val="100000"/>
              </a:lnSpc>
              <a:buNone/>
            </a:pPr>
            <a:r>
              <a:rPr lang="en-US" sz="1600" b="1" dirty="0">
                <a:solidFill>
                  <a:srgbClr val="6B6B66"/>
                </a:solidFill>
                <a:latin typeface="Arial" pitchFamily="34" charset="0"/>
                <a:ea typeface="Arial" pitchFamily="34" charset="-122"/>
                <a:cs typeface="Arial" pitchFamily="34" charset="-120"/>
              </a:rPr>
              <a:t>deadline • E-stop • verified zero</a:t>
            </a:r>
            <a:endParaRPr lang="en-US" sz="1600" dirty="0"/>
          </a:p>
        </p:txBody>
      </p:sp>
      <p:sp>
        <p:nvSpPr>
          <p:cNvPr id="15" name="Shape 13"/>
          <p:cNvSpPr/>
          <p:nvPr/>
        </p:nvSpPr>
        <p:spPr>
          <a:xfrm>
            <a:off x="640080" y="3877056"/>
            <a:ext cx="2240280" cy="612648"/>
          </a:xfrm>
          <a:prstGeom prst="rect">
            <a:avLst/>
          </a:prstGeom>
          <a:solidFill>
            <a:srgbClr val="FF5B9D"/>
          </a:solidFill>
          <a:ln w="27940">
            <a:solidFill>
              <a:srgbClr val="0B0B0B"/>
            </a:solidFill>
            <a:prstDash val="solid"/>
          </a:ln>
        </p:spPr>
      </p:sp>
      <p:sp>
        <p:nvSpPr>
          <p:cNvPr id="16" name="Text 14"/>
          <p:cNvSpPr/>
          <p:nvPr/>
        </p:nvSpPr>
        <p:spPr>
          <a:xfrm>
            <a:off x="804672" y="4041648"/>
            <a:ext cx="1911096" cy="283464"/>
          </a:xfrm>
          <a:prstGeom prst="rect">
            <a:avLst/>
          </a:prstGeom>
          <a:noFill/>
          <a:ln/>
        </p:spPr>
        <p:txBody>
          <a:bodyPr wrap="square" lIns="0" tIns="0" rIns="0" bIns="0" rtlCol="0" anchor="ctr">
            <a:normAutofit/>
          </a:bodyPr>
          <a:lstStyle/>
          <a:p>
            <a:pPr algn="ctr" indent="0" marL="0">
              <a:lnSpc>
                <a:spcPct val="100000"/>
              </a:lnSpc>
              <a:buNone/>
            </a:pPr>
            <a:r>
              <a:rPr lang="en-US" sz="1500" b="1" dirty="0">
                <a:solidFill>
                  <a:srgbClr val="0B0B0B"/>
                </a:solidFill>
                <a:latin typeface="Arial" pitchFamily="34" charset="0"/>
                <a:ea typeface="Arial" pitchFamily="34" charset="-122"/>
                <a:cs typeface="Arial" pitchFamily="34" charset="-120"/>
              </a:rPr>
              <a:t>ADAPTER</a:t>
            </a:r>
            <a:endParaRPr lang="en-US" sz="1500" dirty="0"/>
          </a:p>
        </p:txBody>
      </p:sp>
      <p:sp>
        <p:nvSpPr>
          <p:cNvPr id="17" name="Text 15"/>
          <p:cNvSpPr/>
          <p:nvPr/>
        </p:nvSpPr>
        <p:spPr>
          <a:xfrm>
            <a:off x="3246120" y="4023360"/>
            <a:ext cx="4206240" cy="301752"/>
          </a:xfrm>
          <a:prstGeom prst="rect">
            <a:avLst/>
          </a:prstGeom>
          <a:noFill/>
          <a:ln/>
        </p:spPr>
        <p:txBody>
          <a:bodyPr wrap="square" lIns="0" tIns="0" rIns="0" bIns="0" rtlCol="0" anchor="t">
            <a:normAutofit/>
          </a:bodyPr>
          <a:lstStyle/>
          <a:p>
            <a:pPr algn="l" indent="0" marL="0">
              <a:lnSpc>
                <a:spcPct val="100000"/>
              </a:lnSpc>
              <a:buNone/>
            </a:pPr>
            <a:r>
              <a:rPr lang="en-US" sz="1600" b="1" dirty="0">
                <a:solidFill>
                  <a:srgbClr val="6B6B66"/>
                </a:solidFill>
                <a:latin typeface="Arial" pitchFamily="34" charset="0"/>
                <a:ea typeface="Arial" pitchFamily="34" charset="-122"/>
                <a:cs typeface="Arial" pitchFamily="34" charset="-120"/>
              </a:rPr>
              <a:t>encode • transmit • read back</a:t>
            </a:r>
            <a:endParaRPr lang="en-US" sz="1600" dirty="0"/>
          </a:p>
        </p:txBody>
      </p:sp>
      <p:sp>
        <p:nvSpPr>
          <p:cNvPr id="18" name="Shape 16"/>
          <p:cNvSpPr/>
          <p:nvPr/>
        </p:nvSpPr>
        <p:spPr>
          <a:xfrm>
            <a:off x="640080" y="4727448"/>
            <a:ext cx="2240280" cy="612648"/>
          </a:xfrm>
          <a:prstGeom prst="rect">
            <a:avLst/>
          </a:prstGeom>
          <a:solidFill>
            <a:srgbClr val="0B0B0B"/>
          </a:solidFill>
          <a:ln w="27940">
            <a:solidFill>
              <a:srgbClr val="0B0B0B"/>
            </a:solidFill>
            <a:prstDash val="solid"/>
          </a:ln>
        </p:spPr>
      </p:sp>
      <p:sp>
        <p:nvSpPr>
          <p:cNvPr id="19" name="Text 17"/>
          <p:cNvSpPr/>
          <p:nvPr/>
        </p:nvSpPr>
        <p:spPr>
          <a:xfrm>
            <a:off x="804672" y="4892040"/>
            <a:ext cx="1911096" cy="283464"/>
          </a:xfrm>
          <a:prstGeom prst="rect">
            <a:avLst/>
          </a:prstGeom>
          <a:noFill/>
          <a:ln/>
        </p:spPr>
        <p:txBody>
          <a:bodyPr wrap="square" lIns="0" tIns="0" rIns="0" bIns="0" rtlCol="0" anchor="ctr">
            <a:normAutofit/>
          </a:bodyPr>
          <a:lstStyle/>
          <a:p>
            <a:pPr algn="ctr" indent="0" marL="0">
              <a:lnSpc>
                <a:spcPct val="100000"/>
              </a:lnSpc>
              <a:buNone/>
            </a:pPr>
            <a:r>
              <a:rPr lang="en-US" sz="1500" b="1" dirty="0">
                <a:solidFill>
                  <a:srgbClr val="FFFFFF"/>
                </a:solidFill>
                <a:latin typeface="Arial" pitchFamily="34" charset="0"/>
                <a:ea typeface="Arial" pitchFamily="34" charset="-122"/>
                <a:cs typeface="Arial" pitchFamily="34" charset="-120"/>
              </a:rPr>
              <a:t>HARDWARE</a:t>
            </a:r>
            <a:endParaRPr lang="en-US" sz="1500" dirty="0"/>
          </a:p>
        </p:txBody>
      </p:sp>
      <p:sp>
        <p:nvSpPr>
          <p:cNvPr id="20" name="Text 18"/>
          <p:cNvSpPr/>
          <p:nvPr/>
        </p:nvSpPr>
        <p:spPr>
          <a:xfrm>
            <a:off x="3246120" y="4873752"/>
            <a:ext cx="4206240" cy="301752"/>
          </a:xfrm>
          <a:prstGeom prst="rect">
            <a:avLst/>
          </a:prstGeom>
          <a:noFill/>
          <a:ln/>
        </p:spPr>
        <p:txBody>
          <a:bodyPr wrap="square" lIns="0" tIns="0" rIns="0" bIns="0" rtlCol="0" anchor="t">
            <a:normAutofit/>
          </a:bodyPr>
          <a:lstStyle/>
          <a:p>
            <a:pPr algn="l" indent="0" marL="0">
              <a:lnSpc>
                <a:spcPct val="100000"/>
              </a:lnSpc>
              <a:buNone/>
            </a:pPr>
            <a:r>
              <a:rPr lang="en-US" sz="1600" b="1" dirty="0">
                <a:solidFill>
                  <a:srgbClr val="6B6B66"/>
                </a:solidFill>
                <a:latin typeface="Arial" pitchFamily="34" charset="0"/>
                <a:ea typeface="Arial" pitchFamily="34" charset="-122"/>
                <a:cs typeface="Arial" pitchFamily="34" charset="-120"/>
              </a:rPr>
              <a:t>controller • motors • sensors</a:t>
            </a:r>
            <a:endParaRPr lang="en-US" sz="1600" dirty="0"/>
          </a:p>
        </p:txBody>
      </p:sp>
      <p:sp>
        <p:nvSpPr>
          <p:cNvPr id="21" name="Shape 19"/>
          <p:cNvSpPr/>
          <p:nvPr/>
        </p:nvSpPr>
        <p:spPr>
          <a:xfrm>
            <a:off x="8229600" y="1325880"/>
            <a:ext cx="2926080" cy="4005072"/>
          </a:xfrm>
          <a:prstGeom prst="rect">
            <a:avLst/>
          </a:prstGeom>
          <a:solidFill>
            <a:srgbClr val="2855FF"/>
          </a:solidFill>
          <a:ln w="31750">
            <a:solidFill>
              <a:srgbClr val="0B0B0B"/>
            </a:solidFill>
            <a:prstDash val="solid"/>
          </a:ln>
        </p:spPr>
      </p:sp>
      <p:sp>
        <p:nvSpPr>
          <p:cNvPr id="22" name="Text 20"/>
          <p:cNvSpPr/>
          <p:nvPr/>
        </p:nvSpPr>
        <p:spPr>
          <a:xfrm>
            <a:off x="8613648" y="1700784"/>
            <a:ext cx="2194560" cy="411480"/>
          </a:xfrm>
          <a:prstGeom prst="rect">
            <a:avLst/>
          </a:prstGeom>
          <a:noFill/>
          <a:ln/>
        </p:spPr>
        <p:txBody>
          <a:bodyPr wrap="square" lIns="0" tIns="0" rIns="0" bIns="0" rtlCol="0" anchor="t">
            <a:normAutofit/>
          </a:bodyPr>
          <a:lstStyle/>
          <a:p>
            <a:pPr algn="ctr" indent="0" marL="0">
              <a:lnSpc>
                <a:spcPct val="100000"/>
              </a:lnSpc>
              <a:buNone/>
            </a:pPr>
            <a:r>
              <a:rPr lang="en-US" sz="2300" b="1" dirty="0">
                <a:solidFill>
                  <a:srgbClr val="FFFFFF"/>
                </a:solidFill>
                <a:latin typeface="Arial" pitchFamily="34" charset="0"/>
                <a:ea typeface="Arial" pitchFamily="34" charset="-122"/>
                <a:cs typeface="Arial" pitchFamily="34" charset="-120"/>
              </a:rPr>
              <a:t>EVIDENCE</a:t>
            </a:r>
            <a:endParaRPr lang="en-US" sz="2300" dirty="0"/>
          </a:p>
        </p:txBody>
      </p:sp>
      <p:sp>
        <p:nvSpPr>
          <p:cNvPr id="23" name="Text 21"/>
          <p:cNvSpPr/>
          <p:nvPr/>
        </p:nvSpPr>
        <p:spPr>
          <a:xfrm>
            <a:off x="8686800" y="2395728"/>
            <a:ext cx="2011680" cy="2011680"/>
          </a:xfrm>
          <a:prstGeom prst="rect">
            <a:avLst/>
          </a:prstGeom>
          <a:noFill/>
          <a:ln/>
        </p:spPr>
        <p:txBody>
          <a:bodyPr wrap="square" lIns="0" tIns="0" rIns="0" bIns="0" rtlCol="0" anchor="t">
            <a:normAutofit/>
          </a:bodyPr>
          <a:lstStyle/>
          <a:p>
            <a:pPr algn="ctr" indent="0" marL="0">
              <a:lnSpc>
                <a:spcPct val="100000"/>
              </a:lnSpc>
              <a:buNone/>
            </a:pPr>
            <a:r>
              <a:rPr lang="en-US" sz="2000" b="1" dirty="0">
                <a:solidFill>
                  <a:srgbClr val="FFFFFF"/>
                </a:solidFill>
                <a:latin typeface="Arial" pitchFamily="34" charset="0"/>
                <a:ea typeface="Arial" pitchFamily="34" charset="-122"/>
                <a:cs typeface="Arial" pitchFamily="34" charset="-120"/>
              </a:rPr>
              <a:t>proposal</a:t>
            </a:r>
            <a:endParaRPr lang="en-US" sz="2000" dirty="0"/>
          </a:p>
          <a:p>
            <a:pPr algn="ctr" indent="0" marL="0">
              <a:lnSpc>
                <a:spcPct val="100000"/>
              </a:lnSpc>
              <a:buNone/>
            </a:pPr>
            <a:r>
              <a:rPr lang="en-US" sz="2000" b="1" dirty="0">
                <a:solidFill>
                  <a:srgbClr val="FFFFFF"/>
                </a:solidFill>
                <a:latin typeface="Arial" pitchFamily="34" charset="0"/>
                <a:ea typeface="Arial" pitchFamily="34" charset="-122"/>
                <a:cs typeface="Arial" pitchFamily="34" charset="-120"/>
              </a:rPr>
              <a:t>decision</a:t>
            </a:r>
            <a:endParaRPr lang="en-US" sz="2000" dirty="0"/>
          </a:p>
          <a:p>
            <a:pPr algn="ctr" indent="0" marL="0">
              <a:lnSpc>
                <a:spcPct val="100000"/>
              </a:lnSpc>
              <a:buNone/>
            </a:pPr>
            <a:r>
              <a:rPr lang="en-US" sz="2000" b="1" dirty="0">
                <a:solidFill>
                  <a:srgbClr val="FFFFFF"/>
                </a:solidFill>
                <a:latin typeface="Arial" pitchFamily="34" charset="0"/>
                <a:ea typeface="Arial" pitchFamily="34" charset="-122"/>
                <a:cs typeface="Arial" pitchFamily="34" charset="-120"/>
              </a:rPr>
              <a:t>transition</a:t>
            </a:r>
            <a:endParaRPr lang="en-US" sz="2000" dirty="0"/>
          </a:p>
          <a:p>
            <a:pPr algn="ctr" indent="0" marL="0">
              <a:lnSpc>
                <a:spcPct val="100000"/>
              </a:lnSpc>
              <a:buNone/>
            </a:pPr>
            <a:r>
              <a:rPr lang="en-US" sz="2000" b="1" dirty="0">
                <a:solidFill>
                  <a:srgbClr val="FFFFFF"/>
                </a:solidFill>
                <a:latin typeface="Arial" pitchFamily="34" charset="0"/>
                <a:ea typeface="Arial" pitchFamily="34" charset="-122"/>
                <a:cs typeface="Arial" pitchFamily="34" charset="-120"/>
              </a:rPr>
              <a:t>telemetry</a:t>
            </a:r>
            <a:endParaRPr lang="en-US" sz="2000" dirty="0"/>
          </a:p>
          <a:p>
            <a:pPr algn="ctr" indent="0" marL="0">
              <a:lnSpc>
                <a:spcPct val="100000"/>
              </a:lnSpc>
              <a:buNone/>
            </a:pPr>
            <a:r>
              <a:rPr lang="en-US" sz="2000" b="1" dirty="0">
                <a:solidFill>
                  <a:srgbClr val="FFFFFF"/>
                </a:solidFill>
                <a:latin typeface="Arial" pitchFamily="34" charset="0"/>
                <a:ea typeface="Arial" pitchFamily="34" charset="-122"/>
                <a:cs typeface="Arial" pitchFamily="34" charset="-120"/>
              </a:rPr>
              <a:t>result</a:t>
            </a:r>
            <a:endParaRPr lang="en-US" sz="2000" dirty="0"/>
          </a:p>
        </p:txBody>
      </p:sp>
      <p:sp>
        <p:nvSpPr>
          <p:cNvPr id="24" name="Text 22"/>
          <p:cNvSpPr/>
          <p:nvPr/>
        </p:nvSpPr>
        <p:spPr>
          <a:xfrm>
            <a:off x="8001000" y="5650992"/>
            <a:ext cx="3383280" cy="329184"/>
          </a:xfrm>
          <a:prstGeom prst="rect">
            <a:avLst/>
          </a:prstGeom>
          <a:noFill/>
          <a:ln/>
        </p:spPr>
        <p:txBody>
          <a:bodyPr wrap="square" lIns="0" tIns="0" rIns="0" bIns="0" rtlCol="0" anchor="t">
            <a:normAutofit/>
          </a:bodyPr>
          <a:lstStyle/>
          <a:p>
            <a:pPr algn="ctr" indent="0" marL="0">
              <a:lnSpc>
                <a:spcPct val="100000"/>
              </a:lnSpc>
              <a:buNone/>
            </a:pPr>
            <a:r>
              <a:rPr lang="en-US" sz="1400" b="1" dirty="0">
                <a:solidFill>
                  <a:srgbClr val="0B0B0B"/>
                </a:solidFill>
                <a:latin typeface="Arial" pitchFamily="34" charset="0"/>
                <a:ea typeface="Arial" pitchFamily="34" charset="-122"/>
                <a:cs typeface="Arial" pitchFamily="34" charset="-120"/>
              </a:rPr>
              <a:t>Append-only, not an afterthought.</a:t>
            </a:r>
            <a:endParaRPr lang="en-US" sz="1400" dirty="0"/>
          </a:p>
        </p:txBody>
      </p:sp>
      <p:sp>
        <p:nvSpPr>
          <p:cNvPr id="25" name="Text 23"/>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github.com/specdog/leash</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4FFAE"/>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CAPABILITIES</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10</a:t>
            </a:r>
            <a:endParaRPr lang="en-US" sz="950" dirty="0"/>
          </a:p>
        </p:txBody>
      </p:sp>
      <p:sp>
        <p:nvSpPr>
          <p:cNvPr id="5" name="Text 3"/>
          <p:cNvSpPr/>
          <p:nvPr/>
        </p:nvSpPr>
        <p:spPr>
          <a:xfrm>
            <a:off x="502920" y="566928"/>
            <a:ext cx="11109960" cy="914400"/>
          </a:xfrm>
          <a:prstGeom prst="rect">
            <a:avLst/>
          </a:prstGeom>
          <a:noFill/>
          <a:ln/>
        </p:spPr>
        <p:txBody>
          <a:bodyPr wrap="square" lIns="0" tIns="0" rIns="0" bIns="0" rtlCol="0" anchor="ctr">
            <a:normAutofit/>
          </a:bodyPr>
          <a:lstStyle/>
          <a:p>
            <a:pPr indent="0" marL="0">
              <a:buNone/>
            </a:pPr>
            <a:r>
              <a:rPr lang="en-US" sz="3100" b="1" dirty="0">
                <a:solidFill>
                  <a:srgbClr val="0B0B0B"/>
                </a:solidFill>
                <a:latin typeface="Arial Black" pitchFamily="34" charset="0"/>
                <a:ea typeface="Arial Black" pitchFamily="34" charset="-122"/>
                <a:cs typeface="Arial Black" pitchFamily="34" charset="-120"/>
              </a:rPr>
              <a:t>A registry turns verbs into explicit authority.</a:t>
            </a:r>
            <a:endParaRPr lang="en-US" sz="3100" dirty="0"/>
          </a:p>
        </p:txBody>
      </p:sp>
      <p:sp>
        <p:nvSpPr>
          <p:cNvPr id="6" name="Shape 4"/>
          <p:cNvSpPr/>
          <p:nvPr/>
        </p:nvSpPr>
        <p:spPr>
          <a:xfrm>
            <a:off x="685800" y="1325880"/>
            <a:ext cx="1828800" cy="585216"/>
          </a:xfrm>
          <a:prstGeom prst="rect">
            <a:avLst/>
          </a:prstGeom>
          <a:solidFill>
            <a:srgbClr val="FF5B9D"/>
          </a:solidFill>
          <a:ln w="27940">
            <a:solidFill>
              <a:srgbClr val="0B0B0B"/>
            </a:solidFill>
            <a:prstDash val="solid"/>
          </a:ln>
        </p:spPr>
      </p:sp>
      <p:sp>
        <p:nvSpPr>
          <p:cNvPr id="7" name="Text 5"/>
          <p:cNvSpPr/>
          <p:nvPr/>
        </p:nvSpPr>
        <p:spPr>
          <a:xfrm>
            <a:off x="850392" y="1490472"/>
            <a:ext cx="1499616" cy="256032"/>
          </a:xfrm>
          <a:prstGeom prst="rect">
            <a:avLst/>
          </a:prstGeom>
          <a:noFill/>
          <a:ln/>
        </p:spPr>
        <p:txBody>
          <a:bodyPr wrap="square" lIns="0" tIns="0" rIns="0" bIns="0" rtlCol="0" anchor="ctr">
            <a:normAutofit/>
          </a:bodyPr>
          <a:lstStyle/>
          <a:p>
            <a:pPr algn="ctr" indent="0" marL="0">
              <a:lnSpc>
                <a:spcPct val="100000"/>
              </a:lnSpc>
              <a:buNone/>
            </a:pPr>
            <a:r>
              <a:rPr lang="en-US" sz="1700" b="1" dirty="0">
                <a:solidFill>
                  <a:srgbClr val="0B0B0B"/>
                </a:solidFill>
                <a:latin typeface="Arial" pitchFamily="34" charset="0"/>
                <a:ea typeface="Arial" pitchFamily="34" charset="-122"/>
                <a:cs typeface="Arial" pitchFamily="34" charset="-120"/>
              </a:rPr>
              <a:t>drive</a:t>
            </a:r>
            <a:endParaRPr lang="en-US" sz="1700" dirty="0"/>
          </a:p>
        </p:txBody>
      </p:sp>
      <p:sp>
        <p:nvSpPr>
          <p:cNvPr id="8" name="Shape 6"/>
          <p:cNvSpPr/>
          <p:nvPr/>
        </p:nvSpPr>
        <p:spPr>
          <a:xfrm>
            <a:off x="2633472" y="1618488"/>
            <a:ext cx="1051560" cy="0"/>
          </a:xfrm>
          <a:prstGeom prst="line">
            <a:avLst/>
          </a:prstGeom>
          <a:noFill/>
          <a:ln w="27940">
            <a:solidFill>
              <a:srgbClr val="0B0B0B"/>
            </a:solidFill>
            <a:prstDash val="solid"/>
            <a:tailEnd type="triangle"/>
          </a:ln>
        </p:spPr>
      </p:sp>
      <p:sp>
        <p:nvSpPr>
          <p:cNvPr id="9" name="Shape 7"/>
          <p:cNvSpPr/>
          <p:nvPr/>
        </p:nvSpPr>
        <p:spPr>
          <a:xfrm>
            <a:off x="685800" y="2194560"/>
            <a:ext cx="1828800" cy="585216"/>
          </a:xfrm>
          <a:prstGeom prst="rect">
            <a:avLst/>
          </a:prstGeom>
          <a:solidFill>
            <a:srgbClr val="EF3340"/>
          </a:solidFill>
          <a:ln w="27940">
            <a:solidFill>
              <a:srgbClr val="0B0B0B"/>
            </a:solidFill>
            <a:prstDash val="solid"/>
          </a:ln>
        </p:spPr>
      </p:sp>
      <p:sp>
        <p:nvSpPr>
          <p:cNvPr id="10" name="Text 8"/>
          <p:cNvSpPr/>
          <p:nvPr/>
        </p:nvSpPr>
        <p:spPr>
          <a:xfrm>
            <a:off x="850392" y="2359152"/>
            <a:ext cx="1499616" cy="256032"/>
          </a:xfrm>
          <a:prstGeom prst="rect">
            <a:avLst/>
          </a:prstGeom>
          <a:noFill/>
          <a:ln/>
        </p:spPr>
        <p:txBody>
          <a:bodyPr wrap="square" lIns="0" tIns="0" rIns="0" bIns="0" rtlCol="0" anchor="ctr">
            <a:normAutofit/>
          </a:bodyPr>
          <a:lstStyle/>
          <a:p>
            <a:pPr algn="ctr" indent="0" marL="0">
              <a:lnSpc>
                <a:spcPct val="100000"/>
              </a:lnSpc>
              <a:buNone/>
            </a:pPr>
            <a:r>
              <a:rPr lang="en-US" sz="1700" b="1" dirty="0">
                <a:solidFill>
                  <a:srgbClr val="FFFFFF"/>
                </a:solidFill>
                <a:latin typeface="Arial" pitchFamily="34" charset="0"/>
                <a:ea typeface="Arial" pitchFamily="34" charset="-122"/>
                <a:cs typeface="Arial" pitchFamily="34" charset="-120"/>
              </a:rPr>
              <a:t>stop</a:t>
            </a:r>
            <a:endParaRPr lang="en-US" sz="1700" dirty="0"/>
          </a:p>
        </p:txBody>
      </p:sp>
      <p:sp>
        <p:nvSpPr>
          <p:cNvPr id="11" name="Shape 9"/>
          <p:cNvSpPr/>
          <p:nvPr/>
        </p:nvSpPr>
        <p:spPr>
          <a:xfrm>
            <a:off x="2633472" y="2487168"/>
            <a:ext cx="1051560" cy="0"/>
          </a:xfrm>
          <a:prstGeom prst="line">
            <a:avLst/>
          </a:prstGeom>
          <a:noFill/>
          <a:ln w="27940">
            <a:solidFill>
              <a:srgbClr val="0B0B0B"/>
            </a:solidFill>
            <a:prstDash val="solid"/>
            <a:tailEnd type="triangle"/>
          </a:ln>
        </p:spPr>
      </p:sp>
      <p:sp>
        <p:nvSpPr>
          <p:cNvPr id="12" name="Shape 10"/>
          <p:cNvSpPr/>
          <p:nvPr/>
        </p:nvSpPr>
        <p:spPr>
          <a:xfrm>
            <a:off x="685800" y="3063240"/>
            <a:ext cx="1828800" cy="585216"/>
          </a:xfrm>
          <a:prstGeom prst="rect">
            <a:avLst/>
          </a:prstGeom>
          <a:solidFill>
            <a:srgbClr val="DDE5FF"/>
          </a:solidFill>
          <a:ln w="27940">
            <a:solidFill>
              <a:srgbClr val="0B0B0B"/>
            </a:solidFill>
            <a:prstDash val="solid"/>
          </a:ln>
        </p:spPr>
      </p:sp>
      <p:sp>
        <p:nvSpPr>
          <p:cNvPr id="13" name="Text 11"/>
          <p:cNvSpPr/>
          <p:nvPr/>
        </p:nvSpPr>
        <p:spPr>
          <a:xfrm>
            <a:off x="850392" y="3227832"/>
            <a:ext cx="1499616" cy="256032"/>
          </a:xfrm>
          <a:prstGeom prst="rect">
            <a:avLst/>
          </a:prstGeom>
          <a:noFill/>
          <a:ln/>
        </p:spPr>
        <p:txBody>
          <a:bodyPr wrap="square" lIns="0" tIns="0" rIns="0" bIns="0" rtlCol="0" anchor="ctr">
            <a:normAutofit/>
          </a:bodyPr>
          <a:lstStyle/>
          <a:p>
            <a:pPr algn="ctr" indent="0" marL="0">
              <a:lnSpc>
                <a:spcPct val="100000"/>
              </a:lnSpc>
              <a:buNone/>
            </a:pPr>
            <a:r>
              <a:rPr lang="en-US" sz="1700" b="1" dirty="0">
                <a:solidFill>
                  <a:srgbClr val="0B0B0B"/>
                </a:solidFill>
                <a:latin typeface="Arial" pitchFamily="34" charset="0"/>
                <a:ea typeface="Arial" pitchFamily="34" charset="-122"/>
                <a:cs typeface="Arial" pitchFamily="34" charset="-120"/>
              </a:rPr>
              <a:t>observe</a:t>
            </a:r>
            <a:endParaRPr lang="en-US" sz="1700" dirty="0"/>
          </a:p>
        </p:txBody>
      </p:sp>
      <p:sp>
        <p:nvSpPr>
          <p:cNvPr id="14" name="Shape 12"/>
          <p:cNvSpPr/>
          <p:nvPr/>
        </p:nvSpPr>
        <p:spPr>
          <a:xfrm>
            <a:off x="2633472" y="3355848"/>
            <a:ext cx="1051560" cy="0"/>
          </a:xfrm>
          <a:prstGeom prst="line">
            <a:avLst/>
          </a:prstGeom>
          <a:noFill/>
          <a:ln w="27940">
            <a:solidFill>
              <a:srgbClr val="0B0B0B"/>
            </a:solidFill>
            <a:prstDash val="solid"/>
            <a:tailEnd type="triangle"/>
          </a:ln>
        </p:spPr>
      </p:sp>
      <p:sp>
        <p:nvSpPr>
          <p:cNvPr id="15" name="Shape 13"/>
          <p:cNvSpPr/>
          <p:nvPr/>
        </p:nvSpPr>
        <p:spPr>
          <a:xfrm>
            <a:off x="685800" y="3931920"/>
            <a:ext cx="1828800" cy="585216"/>
          </a:xfrm>
          <a:prstGeom prst="rect">
            <a:avLst/>
          </a:prstGeom>
          <a:solidFill>
            <a:srgbClr val="FFD63D"/>
          </a:solidFill>
          <a:ln w="27940">
            <a:solidFill>
              <a:srgbClr val="0B0B0B"/>
            </a:solidFill>
            <a:prstDash val="solid"/>
          </a:ln>
        </p:spPr>
      </p:sp>
      <p:sp>
        <p:nvSpPr>
          <p:cNvPr id="16" name="Text 14"/>
          <p:cNvSpPr/>
          <p:nvPr/>
        </p:nvSpPr>
        <p:spPr>
          <a:xfrm>
            <a:off x="850392" y="4096512"/>
            <a:ext cx="1499616" cy="256032"/>
          </a:xfrm>
          <a:prstGeom prst="rect">
            <a:avLst/>
          </a:prstGeom>
          <a:noFill/>
          <a:ln/>
        </p:spPr>
        <p:txBody>
          <a:bodyPr wrap="square" lIns="0" tIns="0" rIns="0" bIns="0" rtlCol="0" anchor="ctr">
            <a:normAutofit/>
          </a:bodyPr>
          <a:lstStyle/>
          <a:p>
            <a:pPr algn="ctr" indent="0" marL="0">
              <a:lnSpc>
                <a:spcPct val="100000"/>
              </a:lnSpc>
              <a:buNone/>
            </a:pPr>
            <a:r>
              <a:rPr lang="en-US" sz="1700" b="1" dirty="0">
                <a:solidFill>
                  <a:srgbClr val="0B0B0B"/>
                </a:solidFill>
                <a:latin typeface="Arial" pitchFamily="34" charset="0"/>
                <a:ea typeface="Arial" pitchFamily="34" charset="-122"/>
                <a:cs typeface="Arial" pitchFamily="34" charset="-120"/>
              </a:rPr>
              <a:t>map</a:t>
            </a:r>
            <a:endParaRPr lang="en-US" sz="1700" dirty="0"/>
          </a:p>
        </p:txBody>
      </p:sp>
      <p:sp>
        <p:nvSpPr>
          <p:cNvPr id="17" name="Shape 15"/>
          <p:cNvSpPr/>
          <p:nvPr/>
        </p:nvSpPr>
        <p:spPr>
          <a:xfrm>
            <a:off x="2633472" y="4224528"/>
            <a:ext cx="1051560" cy="0"/>
          </a:xfrm>
          <a:prstGeom prst="line">
            <a:avLst/>
          </a:prstGeom>
          <a:noFill/>
          <a:ln w="27940">
            <a:solidFill>
              <a:srgbClr val="0B0B0B"/>
            </a:solidFill>
            <a:prstDash val="solid"/>
            <a:tailEnd type="triangle"/>
          </a:ln>
        </p:spPr>
      </p:sp>
      <p:sp>
        <p:nvSpPr>
          <p:cNvPr id="18" name="Shape 16"/>
          <p:cNvSpPr/>
          <p:nvPr/>
        </p:nvSpPr>
        <p:spPr>
          <a:xfrm>
            <a:off x="685800" y="4800600"/>
            <a:ext cx="1828800" cy="585216"/>
          </a:xfrm>
          <a:prstGeom prst="rect">
            <a:avLst/>
          </a:prstGeom>
          <a:solidFill>
            <a:srgbClr val="FFFDF7"/>
          </a:solidFill>
          <a:ln w="27940">
            <a:solidFill>
              <a:srgbClr val="0B0B0B"/>
            </a:solidFill>
            <a:prstDash val="solid"/>
          </a:ln>
        </p:spPr>
      </p:sp>
      <p:sp>
        <p:nvSpPr>
          <p:cNvPr id="19" name="Text 17"/>
          <p:cNvSpPr/>
          <p:nvPr/>
        </p:nvSpPr>
        <p:spPr>
          <a:xfrm>
            <a:off x="850392" y="4965192"/>
            <a:ext cx="1499616" cy="256032"/>
          </a:xfrm>
          <a:prstGeom prst="rect">
            <a:avLst/>
          </a:prstGeom>
          <a:noFill/>
          <a:ln/>
        </p:spPr>
        <p:txBody>
          <a:bodyPr wrap="square" lIns="0" tIns="0" rIns="0" bIns="0" rtlCol="0" anchor="ctr">
            <a:normAutofit/>
          </a:bodyPr>
          <a:lstStyle/>
          <a:p>
            <a:pPr algn="ctr" indent="0" marL="0">
              <a:lnSpc>
                <a:spcPct val="100000"/>
              </a:lnSpc>
              <a:buNone/>
            </a:pPr>
            <a:r>
              <a:rPr lang="en-US" sz="1700" b="1" dirty="0">
                <a:solidFill>
                  <a:srgbClr val="0B0B0B"/>
                </a:solidFill>
                <a:latin typeface="Arial" pitchFamily="34" charset="0"/>
                <a:ea typeface="Arial" pitchFamily="34" charset="-122"/>
                <a:cs typeface="Arial" pitchFamily="34" charset="-120"/>
              </a:rPr>
              <a:t>camera</a:t>
            </a:r>
            <a:endParaRPr lang="en-US" sz="1700" dirty="0"/>
          </a:p>
        </p:txBody>
      </p:sp>
      <p:sp>
        <p:nvSpPr>
          <p:cNvPr id="20" name="Shape 18"/>
          <p:cNvSpPr/>
          <p:nvPr/>
        </p:nvSpPr>
        <p:spPr>
          <a:xfrm>
            <a:off x="2633472" y="5093208"/>
            <a:ext cx="1051560" cy="0"/>
          </a:xfrm>
          <a:prstGeom prst="line">
            <a:avLst/>
          </a:prstGeom>
          <a:noFill/>
          <a:ln w="27940">
            <a:solidFill>
              <a:srgbClr val="0B0B0B"/>
            </a:solidFill>
            <a:prstDash val="solid"/>
            <a:tailEnd type="triangle"/>
          </a:ln>
        </p:spPr>
      </p:sp>
      <p:sp>
        <p:nvSpPr>
          <p:cNvPr id="21" name="Shape 19"/>
          <p:cNvSpPr/>
          <p:nvPr/>
        </p:nvSpPr>
        <p:spPr>
          <a:xfrm>
            <a:off x="3840480" y="1143000"/>
            <a:ext cx="3154680" cy="4526280"/>
          </a:xfrm>
          <a:prstGeom prst="rect">
            <a:avLst/>
          </a:prstGeom>
          <a:solidFill>
            <a:srgbClr val="2855FF"/>
          </a:solidFill>
          <a:ln w="38100">
            <a:solidFill>
              <a:srgbClr val="0B0B0B"/>
            </a:solidFill>
            <a:prstDash val="solid"/>
          </a:ln>
        </p:spPr>
      </p:sp>
      <p:sp>
        <p:nvSpPr>
          <p:cNvPr id="22" name="Text 20"/>
          <p:cNvSpPr/>
          <p:nvPr/>
        </p:nvSpPr>
        <p:spPr>
          <a:xfrm>
            <a:off x="4160520" y="2057400"/>
            <a:ext cx="2514600" cy="1051560"/>
          </a:xfrm>
          <a:prstGeom prst="rect">
            <a:avLst/>
          </a:prstGeom>
          <a:noFill/>
          <a:ln/>
        </p:spPr>
        <p:txBody>
          <a:bodyPr wrap="square" lIns="0" tIns="0" rIns="0" bIns="0" rtlCol="0" anchor="t">
            <a:normAutofit/>
          </a:bodyPr>
          <a:lstStyle/>
          <a:p>
            <a:pPr algn="ctr" indent="0" marL="0">
              <a:lnSpc>
                <a:spcPct val="100000"/>
              </a:lnSpc>
              <a:buNone/>
            </a:pPr>
            <a:r>
              <a:rPr lang="en-US" sz="2500" b="1" dirty="0">
                <a:solidFill>
                  <a:srgbClr val="FFFFFF"/>
                </a:solidFill>
                <a:latin typeface="Arial" pitchFamily="34" charset="0"/>
                <a:ea typeface="Arial" pitchFamily="34" charset="-122"/>
                <a:cs typeface="Arial" pitchFamily="34" charset="-120"/>
              </a:rPr>
              <a:t>CAPABILITY</a:t>
            </a:r>
            <a:endParaRPr lang="en-US" sz="2500" dirty="0"/>
          </a:p>
          <a:p>
            <a:pPr algn="ctr" indent="0" marL="0">
              <a:lnSpc>
                <a:spcPct val="100000"/>
              </a:lnSpc>
              <a:buNone/>
            </a:pPr>
            <a:r>
              <a:rPr lang="en-US" sz="2500" b="1" dirty="0">
                <a:solidFill>
                  <a:srgbClr val="FFFFFF"/>
                </a:solidFill>
                <a:latin typeface="Arial" pitchFamily="34" charset="0"/>
                <a:ea typeface="Arial" pitchFamily="34" charset="-122"/>
                <a:cs typeface="Arial" pitchFamily="34" charset="-120"/>
              </a:rPr>
              <a:t>REGISTRY</a:t>
            </a:r>
            <a:endParaRPr lang="en-US" sz="2500" dirty="0"/>
          </a:p>
        </p:txBody>
      </p:sp>
      <p:sp>
        <p:nvSpPr>
          <p:cNvPr id="23" name="Text 21"/>
          <p:cNvSpPr/>
          <p:nvPr/>
        </p:nvSpPr>
        <p:spPr>
          <a:xfrm>
            <a:off x="4251960" y="3401568"/>
            <a:ext cx="2331720" cy="868680"/>
          </a:xfrm>
          <a:prstGeom prst="rect">
            <a:avLst/>
          </a:prstGeom>
          <a:noFill/>
          <a:ln/>
        </p:spPr>
        <p:txBody>
          <a:bodyPr wrap="square" lIns="0" tIns="0" rIns="0" bIns="0" rtlCol="0" anchor="t">
            <a:normAutofit/>
          </a:bodyPr>
          <a:lstStyle/>
          <a:p>
            <a:pPr algn="ctr" indent="0" marL="0">
              <a:lnSpc>
                <a:spcPct val="100000"/>
              </a:lnSpc>
              <a:buNone/>
            </a:pPr>
            <a:r>
              <a:rPr lang="en-US" sz="1700" dirty="0">
                <a:solidFill>
                  <a:srgbClr val="FFFFFF"/>
                </a:solidFill>
                <a:latin typeface="Courier New" pitchFamily="34" charset="0"/>
                <a:ea typeface="Courier New" pitchFamily="34" charset="-122"/>
                <a:cs typeface="Courier New" pitchFamily="34" charset="-120"/>
              </a:rPr>
              <a:t>name → schema</a:t>
            </a:r>
            <a:endParaRPr lang="en-US" sz="1700" dirty="0"/>
          </a:p>
          <a:p>
            <a:pPr algn="ctr" indent="0" marL="0">
              <a:lnSpc>
                <a:spcPct val="100000"/>
              </a:lnSpc>
              <a:buNone/>
            </a:pPr>
            <a:r>
              <a:rPr lang="en-US" sz="1700" dirty="0">
                <a:solidFill>
                  <a:srgbClr val="FFFFFF"/>
                </a:solidFill>
                <a:latin typeface="Courier New" pitchFamily="34" charset="0"/>
                <a:ea typeface="Courier New" pitchFamily="34" charset="-122"/>
                <a:cs typeface="Courier New" pitchFamily="34" charset="-120"/>
              </a:rPr>
              <a:t>policy → handler</a:t>
            </a:r>
            <a:endParaRPr lang="en-US" sz="1700" dirty="0"/>
          </a:p>
        </p:txBody>
      </p:sp>
      <p:sp>
        <p:nvSpPr>
          <p:cNvPr id="24" name="Shape 22"/>
          <p:cNvSpPr/>
          <p:nvPr/>
        </p:nvSpPr>
        <p:spPr>
          <a:xfrm>
            <a:off x="7114032" y="3337560"/>
            <a:ext cx="521208" cy="-1600200"/>
          </a:xfrm>
          <a:prstGeom prst="line">
            <a:avLst/>
          </a:prstGeom>
          <a:noFill/>
          <a:ln w="27940">
            <a:solidFill>
              <a:srgbClr val="0B0B0B"/>
            </a:solidFill>
            <a:prstDash val="solid"/>
            <a:tailEnd type="triangle"/>
          </a:ln>
        </p:spPr>
      </p:sp>
      <p:sp>
        <p:nvSpPr>
          <p:cNvPr id="25" name="Shape 23"/>
          <p:cNvSpPr/>
          <p:nvPr/>
        </p:nvSpPr>
        <p:spPr>
          <a:xfrm>
            <a:off x="7726680" y="1417320"/>
            <a:ext cx="2834640" cy="768096"/>
          </a:xfrm>
          <a:prstGeom prst="rect">
            <a:avLst/>
          </a:prstGeom>
          <a:solidFill>
            <a:srgbClr val="B8FF32"/>
          </a:solidFill>
          <a:ln w="27940">
            <a:solidFill>
              <a:srgbClr val="0B0B0B"/>
            </a:solidFill>
            <a:prstDash val="solid"/>
          </a:ln>
        </p:spPr>
      </p:sp>
      <p:sp>
        <p:nvSpPr>
          <p:cNvPr id="26" name="Text 24"/>
          <p:cNvSpPr/>
          <p:nvPr/>
        </p:nvSpPr>
        <p:spPr>
          <a:xfrm>
            <a:off x="7891272" y="1581912"/>
            <a:ext cx="2505456" cy="438912"/>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0B0B0B"/>
                </a:solidFill>
                <a:latin typeface="Arial" pitchFamily="34" charset="0"/>
                <a:ea typeface="Arial" pitchFamily="34" charset="-122"/>
                <a:cs typeface="Arial" pitchFamily="34" charset="-120"/>
              </a:rPr>
              <a:t>AUTHORIZED</a:t>
            </a:r>
            <a:endParaRPr lang="en-US" sz="1600" dirty="0"/>
          </a:p>
        </p:txBody>
      </p:sp>
      <p:sp>
        <p:nvSpPr>
          <p:cNvPr id="27" name="Shape 25"/>
          <p:cNvSpPr/>
          <p:nvPr/>
        </p:nvSpPr>
        <p:spPr>
          <a:xfrm>
            <a:off x="7114032" y="3337560"/>
            <a:ext cx="1161288" cy="-91440"/>
          </a:xfrm>
          <a:prstGeom prst="line">
            <a:avLst/>
          </a:prstGeom>
          <a:noFill/>
          <a:ln w="27940">
            <a:solidFill>
              <a:srgbClr val="0B0B0B"/>
            </a:solidFill>
            <a:prstDash val="solid"/>
            <a:tailEnd type="triangle"/>
          </a:ln>
        </p:spPr>
      </p:sp>
      <p:sp>
        <p:nvSpPr>
          <p:cNvPr id="28" name="Shape 26"/>
          <p:cNvSpPr/>
          <p:nvPr/>
        </p:nvSpPr>
        <p:spPr>
          <a:xfrm>
            <a:off x="8366760" y="2926080"/>
            <a:ext cx="2834640" cy="768096"/>
          </a:xfrm>
          <a:prstGeom prst="rect">
            <a:avLst/>
          </a:prstGeom>
          <a:solidFill>
            <a:srgbClr val="FF5B9D"/>
          </a:solidFill>
          <a:ln w="27940">
            <a:solidFill>
              <a:srgbClr val="0B0B0B"/>
            </a:solidFill>
            <a:prstDash val="solid"/>
          </a:ln>
        </p:spPr>
      </p:sp>
      <p:sp>
        <p:nvSpPr>
          <p:cNvPr id="29" name="Text 27"/>
          <p:cNvSpPr/>
          <p:nvPr/>
        </p:nvSpPr>
        <p:spPr>
          <a:xfrm>
            <a:off x="8531352" y="3090672"/>
            <a:ext cx="2505456" cy="438912"/>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0B0B0B"/>
                </a:solidFill>
                <a:latin typeface="Arial" pitchFamily="34" charset="0"/>
                <a:ea typeface="Arial" pitchFamily="34" charset="-122"/>
                <a:cs typeface="Arial" pitchFamily="34" charset="-120"/>
              </a:rPr>
              <a:t>REJECTED</a:t>
            </a:r>
            <a:endParaRPr lang="en-US" sz="1600" dirty="0"/>
          </a:p>
        </p:txBody>
      </p:sp>
      <p:sp>
        <p:nvSpPr>
          <p:cNvPr id="30" name="Shape 28"/>
          <p:cNvSpPr/>
          <p:nvPr/>
        </p:nvSpPr>
        <p:spPr>
          <a:xfrm>
            <a:off x="7114032" y="3337560"/>
            <a:ext cx="521208" cy="1417320"/>
          </a:xfrm>
          <a:prstGeom prst="line">
            <a:avLst/>
          </a:prstGeom>
          <a:noFill/>
          <a:ln w="27940">
            <a:solidFill>
              <a:srgbClr val="0B0B0B"/>
            </a:solidFill>
            <a:prstDash val="solid"/>
            <a:tailEnd type="triangle"/>
          </a:ln>
        </p:spPr>
      </p:sp>
      <p:sp>
        <p:nvSpPr>
          <p:cNvPr id="31" name="Shape 29"/>
          <p:cNvSpPr/>
          <p:nvPr/>
        </p:nvSpPr>
        <p:spPr>
          <a:xfrm>
            <a:off x="7726680" y="4434840"/>
            <a:ext cx="2834640" cy="768096"/>
          </a:xfrm>
          <a:prstGeom prst="rect">
            <a:avLst/>
          </a:prstGeom>
          <a:solidFill>
            <a:srgbClr val="FFD63D"/>
          </a:solidFill>
          <a:ln w="27940">
            <a:solidFill>
              <a:srgbClr val="0B0B0B"/>
            </a:solidFill>
            <a:prstDash val="solid"/>
          </a:ln>
        </p:spPr>
      </p:sp>
      <p:sp>
        <p:nvSpPr>
          <p:cNvPr id="32" name="Text 30"/>
          <p:cNvSpPr/>
          <p:nvPr/>
        </p:nvSpPr>
        <p:spPr>
          <a:xfrm>
            <a:off x="7891272" y="4599432"/>
            <a:ext cx="2505456" cy="438912"/>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0B0B0B"/>
                </a:solidFill>
                <a:latin typeface="Arial" pitchFamily="34" charset="0"/>
                <a:ea typeface="Arial" pitchFamily="34" charset="-122"/>
                <a:cs typeface="Arial" pitchFamily="34" charset="-120"/>
              </a:rPr>
              <a:t>UNAVAILABLE</a:t>
            </a:r>
            <a:endParaRPr lang="en-US" sz="1600" dirty="0"/>
          </a:p>
        </p:txBody>
      </p:sp>
      <p:sp>
        <p:nvSpPr>
          <p:cNvPr id="33" name="Text 31"/>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github.com/specdog/leash</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AUTHORITY</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11</a:t>
            </a:r>
            <a:endParaRPr lang="en-US" sz="950" dirty="0"/>
          </a:p>
        </p:txBody>
      </p:sp>
      <p:sp>
        <p:nvSpPr>
          <p:cNvPr id="5" name="Text 3"/>
          <p:cNvSpPr/>
          <p:nvPr/>
        </p:nvSpPr>
        <p:spPr>
          <a:xfrm>
            <a:off x="502920" y="566928"/>
            <a:ext cx="11109960" cy="914400"/>
          </a:xfrm>
          <a:prstGeom prst="rect">
            <a:avLst/>
          </a:prstGeom>
          <a:noFill/>
          <a:ln/>
        </p:spPr>
        <p:txBody>
          <a:bodyPr wrap="square" lIns="0" tIns="0" rIns="0" bIns="0" rtlCol="0" anchor="ctr">
            <a:normAutofit/>
          </a:bodyPr>
          <a:lstStyle/>
          <a:p>
            <a:pPr indent="0" marL="0">
              <a:buNone/>
            </a:pPr>
            <a:r>
              <a:rPr lang="en-US" sz="3400" b="1" dirty="0">
                <a:solidFill>
                  <a:srgbClr val="0B0B0B"/>
                </a:solidFill>
                <a:latin typeface="Arial Black" pitchFamily="34" charset="0"/>
                <a:ea typeface="Arial Black" pitchFamily="34" charset="-122"/>
                <a:cs typeface="Arial Black" pitchFamily="34" charset="-120"/>
              </a:rPr>
              <a:t>Supertraits describe the hardware boundary.</a:t>
            </a:r>
            <a:endParaRPr lang="en-US" sz="3400" dirty="0"/>
          </a:p>
        </p:txBody>
      </p:sp>
      <p:sp>
        <p:nvSpPr>
          <p:cNvPr id="6" name="Shape 4"/>
          <p:cNvSpPr/>
          <p:nvPr/>
        </p:nvSpPr>
        <p:spPr>
          <a:xfrm>
            <a:off x="594360" y="1325880"/>
            <a:ext cx="6492240" cy="4251960"/>
          </a:xfrm>
          <a:prstGeom prst="rect">
            <a:avLst/>
          </a:prstGeom>
          <a:solidFill>
            <a:srgbClr val="0B0B0B"/>
          </a:solidFill>
          <a:ln w="27940">
            <a:solidFill>
              <a:srgbClr val="0B0B0B"/>
            </a:solidFill>
            <a:prstDash val="solid"/>
          </a:ln>
        </p:spPr>
      </p:sp>
      <p:sp>
        <p:nvSpPr>
          <p:cNvPr id="7" name="Text 5"/>
          <p:cNvSpPr/>
          <p:nvPr/>
        </p:nvSpPr>
        <p:spPr>
          <a:xfrm>
            <a:off x="923544" y="1655064"/>
            <a:ext cx="5833872" cy="3593592"/>
          </a:xfrm>
          <a:prstGeom prst="rect">
            <a:avLst/>
          </a:prstGeom>
          <a:noFill/>
          <a:ln/>
        </p:spPr>
        <p:txBody>
          <a:bodyPr wrap="square" lIns="0" tIns="0" rIns="0" bIns="0" rtlCol="0" anchor="ctr">
            <a:normAutofit/>
          </a:bodyPr>
          <a:lstStyle/>
          <a:p>
            <a:pPr algn="l" indent="0" marL="0">
              <a:lnSpc>
                <a:spcPct val="100000"/>
              </a:lnSpc>
              <a:buNone/>
            </a:pPr>
            <a:r>
              <a:rPr lang="en-US" sz="2000" b="1" dirty="0">
                <a:solidFill>
                  <a:srgbClr val="FFFFFF"/>
                </a:solidFill>
                <a:latin typeface="Courier New" pitchFamily="34" charset="0"/>
                <a:ea typeface="Courier New" pitchFamily="34" charset="-122"/>
                <a:cs typeface="Courier New" pitchFamily="34" charset="-120"/>
              </a:rPr>
              <a:t>pub trait ControllerIo:</a:t>
            </a:r>
            <a:endParaRPr lang="en-US" sz="2000" dirty="0"/>
          </a:p>
          <a:p>
            <a:pPr algn="l" indent="0" marL="0">
              <a:lnSpc>
                <a:spcPct val="100000"/>
              </a:lnSpc>
              <a:buNone/>
            </a:pPr>
            <a:r>
              <a:rPr lang="en-US" sz="2000" b="1" dirty="0">
                <a:solidFill>
                  <a:srgbClr val="FFFFFF"/>
                </a:solidFill>
                <a:latin typeface="Courier New" pitchFamily="34" charset="0"/>
                <a:ea typeface="Courier New" pitchFamily="34" charset="-122"/>
                <a:cs typeface="Courier New" pitchFamily="34" charset="-120"/>
              </a:rPr>
              <a:t>    Read + Write + Send {}</a:t>
            </a:r>
            <a:endParaRPr lang="en-US" sz="2000" dirty="0"/>
          </a:p>
          <a:p>
            <a:pPr algn="l" indent="0" marL="0">
              <a:lnSpc>
                <a:spcPct val="100000"/>
              </a:lnSpc>
              <a:buNone/>
            </a:pPr>
            <a:endParaRPr lang="en-US" sz="2000" dirty="0"/>
          </a:p>
          <a:p>
            <a:pPr algn="l" indent="0" marL="0">
              <a:lnSpc>
                <a:spcPct val="100000"/>
              </a:lnSpc>
              <a:buNone/>
            </a:pPr>
            <a:r>
              <a:rPr lang="en-US" sz="2000" b="1" dirty="0">
                <a:solidFill>
                  <a:srgbClr val="FFFFFF"/>
                </a:solidFill>
                <a:latin typeface="Courier New" pitchFamily="34" charset="0"/>
                <a:ea typeface="Courier New" pitchFamily="34" charset="-122"/>
                <a:cs typeface="Courier New" pitchFamily="34" charset="-120"/>
              </a:rPr>
              <a:t>impl&lt;T&gt; ControllerIo for T</a:t>
            </a:r>
            <a:endParaRPr lang="en-US" sz="2000" dirty="0"/>
          </a:p>
          <a:p>
            <a:pPr algn="l" indent="0" marL="0">
              <a:lnSpc>
                <a:spcPct val="100000"/>
              </a:lnSpc>
              <a:buNone/>
            </a:pPr>
            <a:r>
              <a:rPr lang="en-US" sz="2000" b="1" dirty="0">
                <a:solidFill>
                  <a:srgbClr val="FFFFFF"/>
                </a:solidFill>
                <a:latin typeface="Courier New" pitchFamily="34" charset="0"/>
                <a:ea typeface="Courier New" pitchFamily="34" charset="-122"/>
                <a:cs typeface="Courier New" pitchFamily="34" charset="-120"/>
              </a:rPr>
              <a:t>where</a:t>
            </a:r>
            <a:endParaRPr lang="en-US" sz="2000" dirty="0"/>
          </a:p>
          <a:p>
            <a:pPr algn="l" indent="0" marL="0">
              <a:lnSpc>
                <a:spcPct val="100000"/>
              </a:lnSpc>
              <a:buNone/>
            </a:pPr>
            <a:r>
              <a:rPr lang="en-US" sz="2000" b="1" dirty="0">
                <a:solidFill>
                  <a:srgbClr val="FFFFFF"/>
                </a:solidFill>
                <a:latin typeface="Courier New" pitchFamily="34" charset="0"/>
                <a:ea typeface="Courier New" pitchFamily="34" charset="-122"/>
                <a:cs typeface="Courier New" pitchFamily="34" charset="-120"/>
              </a:rPr>
              <a:t>    T: Read + Write + Send</a:t>
            </a:r>
            <a:endParaRPr lang="en-US" sz="2000" dirty="0"/>
          </a:p>
          <a:p>
            <a:pPr algn="l" indent="0" marL="0">
              <a:lnSpc>
                <a:spcPct val="100000"/>
              </a:lnSpc>
              <a:buNone/>
            </a:pPr>
            <a:r>
              <a:rPr lang="en-US" sz="2000" b="1" dirty="0">
                <a:solidFill>
                  <a:srgbClr val="FFFFFF"/>
                </a:solidFill>
                <a:latin typeface="Courier New" pitchFamily="34" charset="0"/>
                <a:ea typeface="Courier New" pitchFamily="34" charset="-122"/>
                <a:cs typeface="Courier New" pitchFamily="34" charset="-120"/>
              </a:rPr>
              <a:t>{}</a:t>
            </a:r>
            <a:endParaRPr lang="en-US" sz="2000" dirty="0"/>
          </a:p>
        </p:txBody>
      </p:sp>
      <p:sp>
        <p:nvSpPr>
          <p:cNvPr id="8" name="Text 6"/>
          <p:cNvSpPr/>
          <p:nvPr/>
        </p:nvSpPr>
        <p:spPr>
          <a:xfrm>
            <a:off x="7662672" y="1600200"/>
            <a:ext cx="3520440" cy="384048"/>
          </a:xfrm>
          <a:prstGeom prst="rect">
            <a:avLst/>
          </a:prstGeom>
          <a:noFill/>
          <a:ln/>
        </p:spPr>
        <p:txBody>
          <a:bodyPr wrap="square" lIns="0" tIns="0" rIns="0" bIns="0" rtlCol="0" anchor="t">
            <a:normAutofit/>
          </a:bodyPr>
          <a:lstStyle/>
          <a:p>
            <a:pPr algn="l" indent="0" marL="0">
              <a:lnSpc>
                <a:spcPct val="100000"/>
              </a:lnSpc>
              <a:buNone/>
            </a:pPr>
            <a:r>
              <a:rPr lang="en-US" sz="2400" b="1" dirty="0">
                <a:solidFill>
                  <a:srgbClr val="2855FF"/>
                </a:solidFill>
                <a:latin typeface="Arial" pitchFamily="34" charset="0"/>
                <a:ea typeface="Arial" pitchFamily="34" charset="-122"/>
                <a:cs typeface="Arial" pitchFamily="34" charset="-120"/>
              </a:rPr>
              <a:t>Read + Write</a:t>
            </a:r>
            <a:endParaRPr lang="en-US" sz="2400" dirty="0"/>
          </a:p>
        </p:txBody>
      </p:sp>
      <p:sp>
        <p:nvSpPr>
          <p:cNvPr id="9" name="Text 7"/>
          <p:cNvSpPr/>
          <p:nvPr/>
        </p:nvSpPr>
        <p:spPr>
          <a:xfrm>
            <a:off x="7680960" y="2057400"/>
            <a:ext cx="3383280" cy="310896"/>
          </a:xfrm>
          <a:prstGeom prst="rect">
            <a:avLst/>
          </a:prstGeom>
          <a:noFill/>
          <a:ln/>
        </p:spPr>
        <p:txBody>
          <a:bodyPr wrap="square" lIns="0" tIns="0" rIns="0" bIns="0" rtlCol="0" anchor="t">
            <a:normAutofit/>
          </a:bodyPr>
          <a:lstStyle/>
          <a:p>
            <a:pPr algn="l" indent="0" marL="0">
              <a:lnSpc>
                <a:spcPct val="100000"/>
              </a:lnSpc>
              <a:buNone/>
            </a:pPr>
            <a:r>
              <a:rPr lang="en-US" sz="1500" b="1" dirty="0">
                <a:solidFill>
                  <a:srgbClr val="6B6B66"/>
                </a:solidFill>
                <a:latin typeface="Arial" pitchFamily="34" charset="0"/>
                <a:ea typeface="Arial" pitchFamily="34" charset="-122"/>
                <a:cs typeface="Arial" pitchFamily="34" charset="-120"/>
              </a:rPr>
              <a:t>the byte-level contract</a:t>
            </a:r>
            <a:endParaRPr lang="en-US" sz="1500" dirty="0"/>
          </a:p>
        </p:txBody>
      </p:sp>
      <p:sp>
        <p:nvSpPr>
          <p:cNvPr id="10" name="Text 8"/>
          <p:cNvSpPr/>
          <p:nvPr/>
        </p:nvSpPr>
        <p:spPr>
          <a:xfrm>
            <a:off x="7662672" y="2880360"/>
            <a:ext cx="3520440" cy="384048"/>
          </a:xfrm>
          <a:prstGeom prst="rect">
            <a:avLst/>
          </a:prstGeom>
          <a:noFill/>
          <a:ln/>
        </p:spPr>
        <p:txBody>
          <a:bodyPr wrap="square" lIns="0" tIns="0" rIns="0" bIns="0" rtlCol="0" anchor="t">
            <a:normAutofit/>
          </a:bodyPr>
          <a:lstStyle/>
          <a:p>
            <a:pPr algn="l" indent="0" marL="0">
              <a:lnSpc>
                <a:spcPct val="100000"/>
              </a:lnSpc>
              <a:buNone/>
            </a:pPr>
            <a:r>
              <a:rPr lang="en-US" sz="2400" b="1" dirty="0">
                <a:solidFill>
                  <a:srgbClr val="FF5B9D"/>
                </a:solidFill>
                <a:latin typeface="Arial" pitchFamily="34" charset="0"/>
                <a:ea typeface="Arial" pitchFamily="34" charset="-122"/>
                <a:cs typeface="Arial" pitchFamily="34" charset="-120"/>
              </a:rPr>
              <a:t>Send</a:t>
            </a:r>
            <a:endParaRPr lang="en-US" sz="2400" dirty="0"/>
          </a:p>
        </p:txBody>
      </p:sp>
      <p:sp>
        <p:nvSpPr>
          <p:cNvPr id="11" name="Text 9"/>
          <p:cNvSpPr/>
          <p:nvPr/>
        </p:nvSpPr>
        <p:spPr>
          <a:xfrm>
            <a:off x="7680960" y="3337560"/>
            <a:ext cx="3383280" cy="384048"/>
          </a:xfrm>
          <a:prstGeom prst="rect">
            <a:avLst/>
          </a:prstGeom>
          <a:noFill/>
          <a:ln/>
        </p:spPr>
        <p:txBody>
          <a:bodyPr wrap="square" lIns="0" tIns="0" rIns="0" bIns="0" rtlCol="0" anchor="t">
            <a:normAutofit/>
          </a:bodyPr>
          <a:lstStyle/>
          <a:p>
            <a:pPr algn="l" indent="0" marL="0">
              <a:lnSpc>
                <a:spcPct val="100000"/>
              </a:lnSpc>
              <a:buNone/>
            </a:pPr>
            <a:r>
              <a:rPr lang="en-US" sz="1500" b="1" dirty="0">
                <a:solidFill>
                  <a:srgbClr val="6B6B66"/>
                </a:solidFill>
                <a:latin typeface="Arial" pitchFamily="34" charset="0"/>
                <a:ea typeface="Arial" pitchFamily="34" charset="-122"/>
                <a:cs typeface="Arial" pitchFamily="34" charset="-120"/>
              </a:rPr>
              <a:t>safe to move into owner thread</a:t>
            </a:r>
            <a:endParaRPr lang="en-US" sz="1500" dirty="0"/>
          </a:p>
        </p:txBody>
      </p:sp>
      <p:sp>
        <p:nvSpPr>
          <p:cNvPr id="12" name="Text 10"/>
          <p:cNvSpPr/>
          <p:nvPr/>
        </p:nvSpPr>
        <p:spPr>
          <a:xfrm>
            <a:off x="7662672" y="4224528"/>
            <a:ext cx="3520440" cy="384048"/>
          </a:xfrm>
          <a:prstGeom prst="rect">
            <a:avLst/>
          </a:prstGeom>
          <a:noFill/>
          <a:ln/>
        </p:spPr>
        <p:txBody>
          <a:bodyPr wrap="square" lIns="0" tIns="0" rIns="0" bIns="0" rtlCol="0" anchor="t">
            <a:normAutofit/>
          </a:bodyPr>
          <a:lstStyle/>
          <a:p>
            <a:pPr algn="l" indent="0" marL="0">
              <a:lnSpc>
                <a:spcPct val="100000"/>
              </a:lnSpc>
              <a:buNone/>
            </a:pPr>
            <a:r>
              <a:rPr lang="en-US" sz="2400" b="1" dirty="0">
                <a:solidFill>
                  <a:srgbClr val="0B0B0B"/>
                </a:solidFill>
                <a:latin typeface="Arial" pitchFamily="34" charset="0"/>
                <a:ea typeface="Arial" pitchFamily="34" charset="-122"/>
                <a:cs typeface="Arial" pitchFamily="34" charset="-120"/>
              </a:rPr>
              <a:t>blanket impl</a:t>
            </a:r>
            <a:endParaRPr lang="en-US" sz="2400" dirty="0"/>
          </a:p>
        </p:txBody>
      </p:sp>
      <p:sp>
        <p:nvSpPr>
          <p:cNvPr id="13" name="Text 11"/>
          <p:cNvSpPr/>
          <p:nvPr/>
        </p:nvSpPr>
        <p:spPr>
          <a:xfrm>
            <a:off x="7680960" y="4681728"/>
            <a:ext cx="3383280" cy="384048"/>
          </a:xfrm>
          <a:prstGeom prst="rect">
            <a:avLst/>
          </a:prstGeom>
          <a:noFill/>
          <a:ln/>
        </p:spPr>
        <p:txBody>
          <a:bodyPr wrap="square" lIns="0" tIns="0" rIns="0" bIns="0" rtlCol="0" anchor="t">
            <a:normAutofit/>
          </a:bodyPr>
          <a:lstStyle/>
          <a:p>
            <a:pPr algn="l" indent="0" marL="0">
              <a:lnSpc>
                <a:spcPct val="100000"/>
              </a:lnSpc>
              <a:buNone/>
            </a:pPr>
            <a:r>
              <a:rPr lang="en-US" sz="1500" b="1" dirty="0">
                <a:solidFill>
                  <a:srgbClr val="6B6B66"/>
                </a:solidFill>
                <a:latin typeface="Arial" pitchFamily="34" charset="0"/>
                <a:ea typeface="Arial" pitchFamily="34" charset="-122"/>
                <a:cs typeface="Arial" pitchFamily="34" charset="-120"/>
              </a:rPr>
              <a:t>any conforming I/O becomes usable</a:t>
            </a:r>
            <a:endParaRPr lang="en-US" sz="1500" dirty="0"/>
          </a:p>
        </p:txBody>
      </p:sp>
      <p:sp>
        <p:nvSpPr>
          <p:cNvPr id="14" name="Shape 12"/>
          <p:cNvSpPr/>
          <p:nvPr/>
        </p:nvSpPr>
        <p:spPr>
          <a:xfrm>
            <a:off x="7680960" y="5257800"/>
            <a:ext cx="3337560" cy="384048"/>
          </a:xfrm>
          <a:prstGeom prst="roundRect">
            <a:avLst>
              <a:gd name="adj" fmla="val 19048"/>
            </a:avLst>
          </a:prstGeom>
          <a:solidFill>
            <a:srgbClr val="B8FF32"/>
          </a:solidFill>
          <a:ln w="19050">
            <a:solidFill>
              <a:srgbClr val="0B0B0B"/>
            </a:solidFill>
            <a:prstDash val="solid"/>
          </a:ln>
        </p:spPr>
      </p:sp>
      <p:sp>
        <p:nvSpPr>
          <p:cNvPr id="15" name="Text 13"/>
          <p:cNvSpPr/>
          <p:nvPr/>
        </p:nvSpPr>
        <p:spPr>
          <a:xfrm>
            <a:off x="7790688" y="5330952"/>
            <a:ext cx="3118104" cy="219456"/>
          </a:xfrm>
          <a:prstGeom prst="rect">
            <a:avLst/>
          </a:prstGeom>
          <a:noFill/>
          <a:ln/>
        </p:spPr>
        <p:txBody>
          <a:bodyPr wrap="square" lIns="0" tIns="0" rIns="0" bIns="0" rtlCol="0" anchor="ctr">
            <a:normAutofit/>
          </a:bodyPr>
          <a:lstStyle/>
          <a:p>
            <a:pPr algn="ctr" indent="0" marL="0">
              <a:lnSpc>
                <a:spcPct val="100000"/>
              </a:lnSpc>
              <a:buNone/>
            </a:pPr>
            <a:r>
              <a:rPr lang="en-US" sz="1000" b="1" dirty="0">
                <a:solidFill>
                  <a:srgbClr val="0B0B0B"/>
                </a:solidFill>
                <a:latin typeface="Arial" pitchFamily="34" charset="0"/>
                <a:ea typeface="Arial" pitchFamily="34" charset="-122"/>
                <a:cs typeface="Arial" pitchFamily="34" charset="-120"/>
              </a:rPr>
              <a:t>ZERO METHODS • STRONG BOUNDS</a:t>
            </a:r>
            <a:endParaRPr lang="en-US" sz="1000" dirty="0"/>
          </a:p>
        </p:txBody>
      </p:sp>
      <p:sp>
        <p:nvSpPr>
          <p:cNvPr id="16" name="Text 14"/>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github.com/specdog/leash</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B0B"/>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THE KERNEL</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12</a:t>
            </a:r>
            <a:endParaRPr lang="en-US" sz="950" dirty="0"/>
          </a:p>
        </p:txBody>
      </p:sp>
      <p:sp>
        <p:nvSpPr>
          <p:cNvPr id="5" name="Text 3"/>
          <p:cNvSpPr/>
          <p:nvPr/>
        </p:nvSpPr>
        <p:spPr>
          <a:xfrm>
            <a:off x="502920" y="566928"/>
            <a:ext cx="11109960" cy="914400"/>
          </a:xfrm>
          <a:prstGeom prst="rect">
            <a:avLst/>
          </a:prstGeom>
          <a:noFill/>
          <a:ln/>
        </p:spPr>
        <p:txBody>
          <a:bodyPr wrap="square" lIns="0" tIns="0" rIns="0" bIns="0" rtlCol="0" anchor="ctr">
            <a:normAutofit/>
          </a:bodyPr>
          <a:lstStyle/>
          <a:p>
            <a:pPr indent="0" marL="0">
              <a:buNone/>
            </a:pPr>
            <a:r>
              <a:rPr lang="en-US" sz="2900" b="1" dirty="0">
                <a:solidFill>
                  <a:srgbClr val="FFFFFF"/>
                </a:solidFill>
                <a:latin typeface="Arial Black" pitchFamily="34" charset="0"/>
                <a:ea typeface="Arial Black" pitchFamily="34" charset="-122"/>
                <a:cs typeface="Arial Black" pitchFamily="34" charset="-120"/>
              </a:rPr>
              <a:t>The safety kernel is a deterministic loop—not a conversation.</a:t>
            </a:r>
            <a:endParaRPr lang="en-US" sz="2900" dirty="0"/>
          </a:p>
        </p:txBody>
      </p:sp>
      <p:sp>
        <p:nvSpPr>
          <p:cNvPr id="6" name="Shape 4"/>
          <p:cNvSpPr/>
          <p:nvPr/>
        </p:nvSpPr>
        <p:spPr>
          <a:xfrm>
            <a:off x="914400" y="2286000"/>
            <a:ext cx="1920240" cy="822960"/>
          </a:xfrm>
          <a:prstGeom prst="rect">
            <a:avLst/>
          </a:prstGeom>
          <a:solidFill>
            <a:srgbClr val="DDE5FF"/>
          </a:solidFill>
          <a:ln w="27940">
            <a:solidFill>
              <a:srgbClr val="0B0B0B"/>
            </a:solidFill>
            <a:prstDash val="solid"/>
          </a:ln>
        </p:spPr>
      </p:sp>
      <p:sp>
        <p:nvSpPr>
          <p:cNvPr id="7" name="Text 5"/>
          <p:cNvSpPr/>
          <p:nvPr/>
        </p:nvSpPr>
        <p:spPr>
          <a:xfrm>
            <a:off x="1078992" y="2450592"/>
            <a:ext cx="1591056" cy="493776"/>
          </a:xfrm>
          <a:prstGeom prst="rect">
            <a:avLst/>
          </a:prstGeom>
          <a:noFill/>
          <a:ln/>
        </p:spPr>
        <p:txBody>
          <a:bodyPr wrap="square" lIns="0" tIns="0" rIns="0" bIns="0" rtlCol="0" anchor="ctr">
            <a:normAutofit/>
          </a:bodyPr>
          <a:lstStyle/>
          <a:p>
            <a:pPr algn="ctr" indent="0" marL="0">
              <a:lnSpc>
                <a:spcPct val="100000"/>
              </a:lnSpc>
              <a:buNone/>
            </a:pPr>
            <a:r>
              <a:rPr lang="en-US" sz="2000" b="1" dirty="0">
                <a:solidFill>
                  <a:srgbClr val="0B0B0B"/>
                </a:solidFill>
                <a:latin typeface="Arial" pitchFamily="34" charset="0"/>
                <a:ea typeface="Arial" pitchFamily="34" charset="-122"/>
                <a:cs typeface="Arial" pitchFamily="34" charset="-120"/>
              </a:rPr>
              <a:t>READ</a:t>
            </a:r>
            <a:endParaRPr lang="en-US" sz="2000" dirty="0"/>
          </a:p>
        </p:txBody>
      </p:sp>
      <p:sp>
        <p:nvSpPr>
          <p:cNvPr id="8" name="Shape 6"/>
          <p:cNvSpPr/>
          <p:nvPr/>
        </p:nvSpPr>
        <p:spPr>
          <a:xfrm>
            <a:off x="3886200" y="1325880"/>
            <a:ext cx="1920240" cy="822960"/>
          </a:xfrm>
          <a:prstGeom prst="rect">
            <a:avLst/>
          </a:prstGeom>
          <a:solidFill>
            <a:srgbClr val="FFD63D"/>
          </a:solidFill>
          <a:ln w="27940">
            <a:solidFill>
              <a:srgbClr val="0B0B0B"/>
            </a:solidFill>
            <a:prstDash val="solid"/>
          </a:ln>
        </p:spPr>
      </p:sp>
      <p:sp>
        <p:nvSpPr>
          <p:cNvPr id="9" name="Text 7"/>
          <p:cNvSpPr/>
          <p:nvPr/>
        </p:nvSpPr>
        <p:spPr>
          <a:xfrm>
            <a:off x="4050792" y="1490472"/>
            <a:ext cx="1591056" cy="493776"/>
          </a:xfrm>
          <a:prstGeom prst="rect">
            <a:avLst/>
          </a:prstGeom>
          <a:noFill/>
          <a:ln/>
        </p:spPr>
        <p:txBody>
          <a:bodyPr wrap="square" lIns="0" tIns="0" rIns="0" bIns="0" rtlCol="0" anchor="ctr">
            <a:normAutofit/>
          </a:bodyPr>
          <a:lstStyle/>
          <a:p>
            <a:pPr algn="ctr" indent="0" marL="0">
              <a:lnSpc>
                <a:spcPct val="100000"/>
              </a:lnSpc>
              <a:buNone/>
            </a:pPr>
            <a:r>
              <a:rPr lang="en-US" sz="2000" b="1" dirty="0">
                <a:solidFill>
                  <a:srgbClr val="0B0B0B"/>
                </a:solidFill>
                <a:latin typeface="Arial" pitchFamily="34" charset="0"/>
                <a:ea typeface="Arial" pitchFamily="34" charset="-122"/>
                <a:cs typeface="Arial" pitchFamily="34" charset="-120"/>
              </a:rPr>
              <a:t>DECIDE</a:t>
            </a:r>
            <a:endParaRPr lang="en-US" sz="2000" dirty="0"/>
          </a:p>
        </p:txBody>
      </p:sp>
      <p:sp>
        <p:nvSpPr>
          <p:cNvPr id="10" name="Shape 8"/>
          <p:cNvSpPr/>
          <p:nvPr/>
        </p:nvSpPr>
        <p:spPr>
          <a:xfrm>
            <a:off x="6858000" y="2286000"/>
            <a:ext cx="1920240" cy="822960"/>
          </a:xfrm>
          <a:prstGeom prst="rect">
            <a:avLst/>
          </a:prstGeom>
          <a:solidFill>
            <a:srgbClr val="FF5B9D"/>
          </a:solidFill>
          <a:ln w="27940">
            <a:solidFill>
              <a:srgbClr val="0B0B0B"/>
            </a:solidFill>
            <a:prstDash val="solid"/>
          </a:ln>
        </p:spPr>
      </p:sp>
      <p:sp>
        <p:nvSpPr>
          <p:cNvPr id="11" name="Text 9"/>
          <p:cNvSpPr/>
          <p:nvPr/>
        </p:nvSpPr>
        <p:spPr>
          <a:xfrm>
            <a:off x="7022592" y="2450592"/>
            <a:ext cx="1591056" cy="493776"/>
          </a:xfrm>
          <a:prstGeom prst="rect">
            <a:avLst/>
          </a:prstGeom>
          <a:noFill/>
          <a:ln/>
        </p:spPr>
        <p:txBody>
          <a:bodyPr wrap="square" lIns="0" tIns="0" rIns="0" bIns="0" rtlCol="0" anchor="ctr">
            <a:normAutofit/>
          </a:bodyPr>
          <a:lstStyle/>
          <a:p>
            <a:pPr algn="ctr" indent="0" marL="0">
              <a:lnSpc>
                <a:spcPct val="100000"/>
              </a:lnSpc>
              <a:buNone/>
            </a:pPr>
            <a:r>
              <a:rPr lang="en-US" sz="2000" b="1" dirty="0">
                <a:solidFill>
                  <a:srgbClr val="0B0B0B"/>
                </a:solidFill>
                <a:latin typeface="Arial" pitchFamily="34" charset="0"/>
                <a:ea typeface="Arial" pitchFamily="34" charset="-122"/>
                <a:cs typeface="Arial" pitchFamily="34" charset="-120"/>
              </a:rPr>
              <a:t>WRITE</a:t>
            </a:r>
            <a:endParaRPr lang="en-US" sz="2000" dirty="0"/>
          </a:p>
        </p:txBody>
      </p:sp>
      <p:sp>
        <p:nvSpPr>
          <p:cNvPr id="12" name="Shape 10"/>
          <p:cNvSpPr/>
          <p:nvPr/>
        </p:nvSpPr>
        <p:spPr>
          <a:xfrm>
            <a:off x="3886200" y="4069080"/>
            <a:ext cx="1920240" cy="822960"/>
          </a:xfrm>
          <a:prstGeom prst="rect">
            <a:avLst/>
          </a:prstGeom>
          <a:solidFill>
            <a:srgbClr val="B8FF32"/>
          </a:solidFill>
          <a:ln w="27940">
            <a:solidFill>
              <a:srgbClr val="0B0B0B"/>
            </a:solidFill>
            <a:prstDash val="solid"/>
          </a:ln>
        </p:spPr>
      </p:sp>
      <p:sp>
        <p:nvSpPr>
          <p:cNvPr id="13" name="Text 11"/>
          <p:cNvSpPr/>
          <p:nvPr/>
        </p:nvSpPr>
        <p:spPr>
          <a:xfrm>
            <a:off x="4050792" y="4233672"/>
            <a:ext cx="1591056" cy="493776"/>
          </a:xfrm>
          <a:prstGeom prst="rect">
            <a:avLst/>
          </a:prstGeom>
          <a:noFill/>
          <a:ln/>
        </p:spPr>
        <p:txBody>
          <a:bodyPr wrap="square" lIns="0" tIns="0" rIns="0" bIns="0" rtlCol="0" anchor="ctr">
            <a:normAutofit/>
          </a:bodyPr>
          <a:lstStyle/>
          <a:p>
            <a:pPr algn="ctr" indent="0" marL="0">
              <a:lnSpc>
                <a:spcPct val="100000"/>
              </a:lnSpc>
              <a:buNone/>
            </a:pPr>
            <a:r>
              <a:rPr lang="en-US" sz="2000" b="1" dirty="0">
                <a:solidFill>
                  <a:srgbClr val="0B0B0B"/>
                </a:solidFill>
                <a:latin typeface="Arial" pitchFamily="34" charset="0"/>
                <a:ea typeface="Arial" pitchFamily="34" charset="-122"/>
                <a:cs typeface="Arial" pitchFamily="34" charset="-120"/>
              </a:rPr>
              <a:t>PROVE</a:t>
            </a:r>
            <a:endParaRPr lang="en-US" sz="2000" dirty="0"/>
          </a:p>
        </p:txBody>
      </p:sp>
      <p:sp>
        <p:nvSpPr>
          <p:cNvPr id="14" name="Shape 12"/>
          <p:cNvSpPr/>
          <p:nvPr/>
        </p:nvSpPr>
        <p:spPr>
          <a:xfrm>
            <a:off x="2852928" y="2487168"/>
            <a:ext cx="960120" cy="-502920"/>
          </a:xfrm>
          <a:prstGeom prst="line">
            <a:avLst/>
          </a:prstGeom>
          <a:noFill/>
          <a:ln w="38100">
            <a:solidFill>
              <a:srgbClr val="FFFFFF"/>
            </a:solidFill>
            <a:prstDash val="solid"/>
            <a:tailEnd type="triangle"/>
          </a:ln>
        </p:spPr>
      </p:sp>
      <p:sp>
        <p:nvSpPr>
          <p:cNvPr id="15" name="Shape 13"/>
          <p:cNvSpPr/>
          <p:nvPr/>
        </p:nvSpPr>
        <p:spPr>
          <a:xfrm>
            <a:off x="5833872" y="1984248"/>
            <a:ext cx="960120" cy="502920"/>
          </a:xfrm>
          <a:prstGeom prst="line">
            <a:avLst/>
          </a:prstGeom>
          <a:noFill/>
          <a:ln w="38100">
            <a:solidFill>
              <a:srgbClr val="FFFFFF"/>
            </a:solidFill>
            <a:prstDash val="solid"/>
            <a:tailEnd type="triangle"/>
          </a:ln>
        </p:spPr>
      </p:sp>
      <p:sp>
        <p:nvSpPr>
          <p:cNvPr id="16" name="Shape 14"/>
          <p:cNvSpPr/>
          <p:nvPr/>
        </p:nvSpPr>
        <p:spPr>
          <a:xfrm>
            <a:off x="7818120" y="3154680"/>
            <a:ext cx="-1920240" cy="1143000"/>
          </a:xfrm>
          <a:prstGeom prst="line">
            <a:avLst/>
          </a:prstGeom>
          <a:noFill/>
          <a:ln w="38100">
            <a:solidFill>
              <a:srgbClr val="FFFFFF"/>
            </a:solidFill>
            <a:prstDash val="solid"/>
            <a:tailEnd type="triangle"/>
          </a:ln>
        </p:spPr>
      </p:sp>
      <p:sp>
        <p:nvSpPr>
          <p:cNvPr id="17" name="Shape 15"/>
          <p:cNvSpPr/>
          <p:nvPr/>
        </p:nvSpPr>
        <p:spPr>
          <a:xfrm>
            <a:off x="3840480" y="4315968"/>
            <a:ext cx="-1828800" cy="-1097280"/>
          </a:xfrm>
          <a:prstGeom prst="line">
            <a:avLst/>
          </a:prstGeom>
          <a:noFill/>
          <a:ln w="38100">
            <a:solidFill>
              <a:srgbClr val="FFFFFF"/>
            </a:solidFill>
            <a:prstDash val="solid"/>
            <a:tailEnd type="triangle"/>
          </a:ln>
        </p:spPr>
      </p:sp>
      <p:sp>
        <p:nvSpPr>
          <p:cNvPr id="18" name="Text 16"/>
          <p:cNvSpPr/>
          <p:nvPr/>
        </p:nvSpPr>
        <p:spPr>
          <a:xfrm>
            <a:off x="9326880" y="2121408"/>
            <a:ext cx="1920240" cy="411480"/>
          </a:xfrm>
          <a:prstGeom prst="rect">
            <a:avLst/>
          </a:prstGeom>
          <a:noFill/>
          <a:ln/>
        </p:spPr>
        <p:txBody>
          <a:bodyPr wrap="square" lIns="0" tIns="0" rIns="0" bIns="0" rtlCol="0" anchor="t">
            <a:normAutofit/>
          </a:bodyPr>
          <a:lstStyle/>
          <a:p>
            <a:pPr algn="ctr" indent="0" marL="0">
              <a:lnSpc>
                <a:spcPct val="100000"/>
              </a:lnSpc>
              <a:buNone/>
            </a:pPr>
            <a:r>
              <a:rPr lang="en-US" sz="2400" b="1" dirty="0">
                <a:solidFill>
                  <a:srgbClr val="B8FF32"/>
                </a:solidFill>
                <a:latin typeface="Arial" pitchFamily="34" charset="0"/>
                <a:ea typeface="Arial" pitchFamily="34" charset="-122"/>
                <a:cs typeface="Arial" pitchFamily="34" charset="-120"/>
              </a:rPr>
              <a:t>10 ms tick</a:t>
            </a:r>
            <a:endParaRPr lang="en-US" sz="2400" dirty="0"/>
          </a:p>
        </p:txBody>
      </p:sp>
      <p:sp>
        <p:nvSpPr>
          <p:cNvPr id="19" name="Text 17"/>
          <p:cNvSpPr/>
          <p:nvPr/>
        </p:nvSpPr>
        <p:spPr>
          <a:xfrm>
            <a:off x="9326880" y="2788920"/>
            <a:ext cx="1920240" cy="1280160"/>
          </a:xfrm>
          <a:prstGeom prst="rect">
            <a:avLst/>
          </a:prstGeom>
          <a:noFill/>
          <a:ln/>
        </p:spPr>
        <p:txBody>
          <a:bodyPr wrap="square" lIns="0" tIns="0" rIns="0" bIns="0" rtlCol="0" anchor="t">
            <a:normAutofit/>
          </a:bodyPr>
          <a:lstStyle/>
          <a:p>
            <a:pPr algn="ctr" indent="0" marL="0">
              <a:lnSpc>
                <a:spcPct val="100000"/>
              </a:lnSpc>
              <a:buNone/>
            </a:pPr>
            <a:r>
              <a:rPr lang="en-US" sz="1700" dirty="0">
                <a:solidFill>
                  <a:srgbClr val="FFFFFF"/>
                </a:solidFill>
                <a:latin typeface="Arial" pitchFamily="34" charset="0"/>
                <a:ea typeface="Arial" pitchFamily="34" charset="-122"/>
                <a:cs typeface="Arial" pitchFamily="34" charset="-120"/>
              </a:rPr>
              <a:t>bounded mailbox</a:t>
            </a:r>
            <a:endParaRPr lang="en-US" sz="1700" dirty="0"/>
          </a:p>
          <a:p>
            <a:pPr algn="ctr" indent="0" marL="0">
              <a:lnSpc>
                <a:spcPct val="100000"/>
              </a:lnSpc>
              <a:buNone/>
            </a:pPr>
            <a:r>
              <a:rPr lang="en-US" sz="1700" dirty="0">
                <a:solidFill>
                  <a:srgbClr val="FFFFFF"/>
                </a:solidFill>
                <a:latin typeface="Arial" pitchFamily="34" charset="0"/>
                <a:ea typeface="Arial" pitchFamily="34" charset="-122"/>
                <a:cs typeface="Arial" pitchFamily="34" charset="-120"/>
              </a:rPr>
              <a:t>priority E-stop</a:t>
            </a:r>
            <a:endParaRPr lang="en-US" sz="1700" dirty="0"/>
          </a:p>
          <a:p>
            <a:pPr algn="ctr" indent="0" marL="0">
              <a:lnSpc>
                <a:spcPct val="100000"/>
              </a:lnSpc>
              <a:buNone/>
            </a:pPr>
            <a:r>
              <a:rPr lang="en-US" sz="1700" dirty="0">
                <a:solidFill>
                  <a:srgbClr val="FFFFFF"/>
                </a:solidFill>
                <a:latin typeface="Arial" pitchFamily="34" charset="0"/>
                <a:ea typeface="Arial" pitchFamily="34" charset="-122"/>
                <a:cs typeface="Arial" pitchFamily="34" charset="-120"/>
              </a:rPr>
              <a:t>explicit states</a:t>
            </a:r>
            <a:endParaRPr lang="en-US" sz="1700" dirty="0"/>
          </a:p>
        </p:txBody>
      </p:sp>
      <p:sp>
        <p:nvSpPr>
          <p:cNvPr id="20" name="Text 18"/>
          <p:cNvSpPr/>
          <p:nvPr/>
        </p:nvSpPr>
        <p:spPr>
          <a:xfrm>
            <a:off x="914400" y="5349240"/>
            <a:ext cx="7772400" cy="438912"/>
          </a:xfrm>
          <a:prstGeom prst="rect">
            <a:avLst/>
          </a:prstGeom>
          <a:noFill/>
          <a:ln/>
        </p:spPr>
        <p:txBody>
          <a:bodyPr wrap="square" lIns="0" tIns="0" rIns="0" bIns="0" rtlCol="0" anchor="t">
            <a:normAutofit/>
          </a:bodyPr>
          <a:lstStyle/>
          <a:p>
            <a:pPr algn="l" indent="0" marL="0">
              <a:lnSpc>
                <a:spcPct val="100000"/>
              </a:lnSpc>
              <a:buNone/>
            </a:pPr>
            <a:r>
              <a:rPr lang="en-US" sz="2200" b="1" dirty="0">
                <a:solidFill>
                  <a:srgbClr val="FFFFFF"/>
                </a:solidFill>
                <a:latin typeface="Arial" pitchFamily="34" charset="0"/>
                <a:ea typeface="Arial" pitchFamily="34" charset="-122"/>
                <a:cs typeface="Arial" pitchFamily="34" charset="-120"/>
              </a:rPr>
              <a:t>A model may miss a token deadline.</a:t>
            </a:r>
            <a:endParaRPr lang="en-US" sz="2200" dirty="0"/>
          </a:p>
          <a:p>
            <a:pPr algn="l" indent="0" marL="0">
              <a:lnSpc>
                <a:spcPct val="100000"/>
              </a:lnSpc>
              <a:buNone/>
            </a:pPr>
            <a:r>
              <a:rPr lang="en-US" sz="2200" b="1" dirty="0">
                <a:solidFill>
                  <a:srgbClr val="FFFFFF"/>
                </a:solidFill>
                <a:latin typeface="Arial" pitchFamily="34" charset="0"/>
                <a:ea typeface="Arial" pitchFamily="34" charset="-122"/>
                <a:cs typeface="Arial" pitchFamily="34" charset="-120"/>
              </a:rPr>
              <a:t>The motor boundary may not.</a:t>
            </a:r>
            <a:endParaRPr lang="en-US" sz="2200" dirty="0"/>
          </a:p>
        </p:txBody>
      </p:sp>
      <p:sp>
        <p:nvSpPr>
          <p:cNvPr id="21" name="Text 19"/>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https://github.com/specdog/leash</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RUST TYPES</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13</a:t>
            </a:r>
            <a:endParaRPr lang="en-US" sz="950" dirty="0"/>
          </a:p>
        </p:txBody>
      </p:sp>
      <p:sp>
        <p:nvSpPr>
          <p:cNvPr id="5" name="Text 3"/>
          <p:cNvSpPr/>
          <p:nvPr/>
        </p:nvSpPr>
        <p:spPr>
          <a:xfrm>
            <a:off x="502920" y="566928"/>
            <a:ext cx="11109960" cy="914400"/>
          </a:xfrm>
          <a:prstGeom prst="rect">
            <a:avLst/>
          </a:prstGeom>
          <a:noFill/>
          <a:ln/>
        </p:spPr>
        <p:txBody>
          <a:bodyPr wrap="square" lIns="0" tIns="0" rIns="0" bIns="0" rtlCol="0" anchor="ctr">
            <a:normAutofit/>
          </a:bodyPr>
          <a:lstStyle/>
          <a:p>
            <a:pPr indent="0" marL="0">
              <a:buNone/>
            </a:pPr>
            <a:r>
              <a:rPr lang="en-US" sz="3200" b="1" dirty="0">
                <a:solidFill>
                  <a:srgbClr val="0B0B0B"/>
                </a:solidFill>
                <a:latin typeface="Arial Black" pitchFamily="34" charset="0"/>
                <a:ea typeface="Arial Black" pitchFamily="34" charset="-122"/>
                <a:cs typeface="Arial Black" pitchFamily="34" charset="-120"/>
              </a:rPr>
              <a:t>Smart constructors close numeric ranges.</a:t>
            </a:r>
            <a:endParaRPr lang="en-US" sz="3200" dirty="0"/>
          </a:p>
        </p:txBody>
      </p:sp>
      <p:sp>
        <p:nvSpPr>
          <p:cNvPr id="6" name="Shape 4"/>
          <p:cNvSpPr/>
          <p:nvPr/>
        </p:nvSpPr>
        <p:spPr>
          <a:xfrm>
            <a:off x="594360" y="1280160"/>
            <a:ext cx="6537960" cy="4526280"/>
          </a:xfrm>
          <a:prstGeom prst="rect">
            <a:avLst/>
          </a:prstGeom>
          <a:solidFill>
            <a:srgbClr val="0B0B0B"/>
          </a:solidFill>
          <a:ln w="27940">
            <a:solidFill>
              <a:srgbClr val="0B0B0B"/>
            </a:solidFill>
            <a:prstDash val="solid"/>
          </a:ln>
        </p:spPr>
      </p:sp>
      <p:sp>
        <p:nvSpPr>
          <p:cNvPr id="7" name="Text 5"/>
          <p:cNvSpPr/>
          <p:nvPr/>
        </p:nvSpPr>
        <p:spPr>
          <a:xfrm>
            <a:off x="905256" y="1591056"/>
            <a:ext cx="5916168" cy="3904488"/>
          </a:xfrm>
          <a:prstGeom prst="rect">
            <a:avLst/>
          </a:prstGeom>
          <a:noFill/>
          <a:ln/>
        </p:spPr>
        <p:txBody>
          <a:bodyPr wrap="square" lIns="0" tIns="0" rIns="0" bIns="0" rtlCol="0" anchor="ctr">
            <a:normAutofit/>
          </a:bodyPr>
          <a:lstStyle/>
          <a:p>
            <a:pPr algn="l" indent="0" marL="0">
              <a:lnSpc>
                <a:spcPct val="100000"/>
              </a:lnSpc>
              <a:buNone/>
            </a:pPr>
            <a:r>
              <a:rPr lang="en-US" sz="1850" b="1" dirty="0">
                <a:solidFill>
                  <a:srgbClr val="FFFFFF"/>
                </a:solidFill>
                <a:latin typeface="Courier New" pitchFamily="34" charset="0"/>
                <a:ea typeface="Courier New" pitchFamily="34" charset="-122"/>
                <a:cs typeface="Courier New" pitchFamily="34" charset="-120"/>
              </a:rPr>
              <a:t>pub struct NormalizedDrive(f64);</a:t>
            </a:r>
            <a:endParaRPr lang="en-US" sz="1850" dirty="0"/>
          </a:p>
          <a:p>
            <a:pPr algn="l" indent="0" marL="0">
              <a:lnSpc>
                <a:spcPct val="100000"/>
              </a:lnSpc>
              <a:buNone/>
            </a:pPr>
            <a:endParaRPr lang="en-US" sz="1850" dirty="0"/>
          </a:p>
          <a:p>
            <a:pPr algn="l" indent="0" marL="0">
              <a:lnSpc>
                <a:spcPct val="100000"/>
              </a:lnSpc>
              <a:buNone/>
            </a:pPr>
            <a:r>
              <a:rPr lang="en-US" sz="1850" b="1" dirty="0">
                <a:solidFill>
                  <a:srgbClr val="FFFFFF"/>
                </a:solidFill>
                <a:latin typeface="Courier New" pitchFamily="34" charset="0"/>
                <a:ea typeface="Courier New" pitchFamily="34" charset="-122"/>
                <a:cs typeface="Courier New" pitchFamily="34" charset="-120"/>
              </a:rPr>
              <a:t>impl NormalizedDrive {</a:t>
            </a:r>
            <a:endParaRPr lang="en-US" sz="1850" dirty="0"/>
          </a:p>
          <a:p>
            <a:pPr algn="l" indent="0" marL="0">
              <a:lnSpc>
                <a:spcPct val="100000"/>
              </a:lnSpc>
              <a:buNone/>
            </a:pPr>
            <a:r>
              <a:rPr lang="en-US" sz="1850" b="1" dirty="0">
                <a:solidFill>
                  <a:srgbClr val="FFFFFF"/>
                </a:solidFill>
                <a:latin typeface="Courier New" pitchFamily="34" charset="0"/>
                <a:ea typeface="Courier New" pitchFamily="34" charset="-122"/>
                <a:cs typeface="Courier New" pitchFamily="34" charset="-120"/>
              </a:rPr>
              <a:t>  pub fn new(value: f64)</a:t>
            </a:r>
            <a:endParaRPr lang="en-US" sz="1850" dirty="0"/>
          </a:p>
          <a:p>
            <a:pPr algn="l" indent="0" marL="0">
              <a:lnSpc>
                <a:spcPct val="100000"/>
              </a:lnSpc>
              <a:buNone/>
            </a:pPr>
            <a:r>
              <a:rPr lang="en-US" sz="1850" b="1" dirty="0">
                <a:solidFill>
                  <a:srgbClr val="FFFFFF"/>
                </a:solidFill>
                <a:latin typeface="Courier New" pitchFamily="34" charset="0"/>
                <a:ea typeface="Courier New" pitchFamily="34" charset="-122"/>
                <a:cs typeface="Courier New" pitchFamily="34" charset="-120"/>
              </a:rPr>
              <a:t>    -&gt; Result&lt;Self, DomainError&gt;</a:t>
            </a:r>
            <a:endParaRPr lang="en-US" sz="1850" dirty="0"/>
          </a:p>
          <a:p>
            <a:pPr algn="l" indent="0" marL="0">
              <a:lnSpc>
                <a:spcPct val="100000"/>
              </a:lnSpc>
              <a:buNone/>
            </a:pPr>
            <a:r>
              <a:rPr lang="en-US" sz="1850" b="1" dirty="0">
                <a:solidFill>
                  <a:srgbClr val="FFFFFF"/>
                </a:solidFill>
                <a:latin typeface="Courier New" pitchFamily="34" charset="0"/>
                <a:ea typeface="Courier New" pitchFamily="34" charset="-122"/>
                <a:cs typeface="Courier New" pitchFamily="34" charset="-120"/>
              </a:rPr>
              <a:t>  {</a:t>
            </a:r>
            <a:endParaRPr lang="en-US" sz="1850" dirty="0"/>
          </a:p>
          <a:p>
            <a:pPr algn="l" indent="0" marL="0">
              <a:lnSpc>
                <a:spcPct val="100000"/>
              </a:lnSpc>
              <a:buNone/>
            </a:pPr>
            <a:r>
              <a:rPr lang="en-US" sz="1850" b="1" dirty="0">
                <a:solidFill>
                  <a:srgbClr val="FFFFFF"/>
                </a:solidFill>
                <a:latin typeface="Courier New" pitchFamily="34" charset="0"/>
                <a:ea typeface="Courier New" pitchFamily="34" charset="-122"/>
                <a:cs typeface="Courier New" pitchFamily="34" charset="-120"/>
              </a:rPr>
              <a:t>    if !value.is_finite() { … }</a:t>
            </a:r>
            <a:endParaRPr lang="en-US" sz="1850" dirty="0"/>
          </a:p>
          <a:p>
            <a:pPr algn="l" indent="0" marL="0">
              <a:lnSpc>
                <a:spcPct val="100000"/>
              </a:lnSpc>
              <a:buNone/>
            </a:pPr>
            <a:r>
              <a:rPr lang="en-US" sz="1850" b="1" dirty="0">
                <a:solidFill>
                  <a:srgbClr val="FFFFFF"/>
                </a:solidFill>
                <a:latin typeface="Courier New" pitchFamily="34" charset="0"/>
                <a:ea typeface="Courier New" pitchFamily="34" charset="-122"/>
                <a:cs typeface="Courier New" pitchFamily="34" charset="-120"/>
              </a:rPr>
              <a:t>    if !(-1.0..=1.0).contains(&amp;value) { … }</a:t>
            </a:r>
            <a:endParaRPr lang="en-US" sz="1850" dirty="0"/>
          </a:p>
          <a:p>
            <a:pPr algn="l" indent="0" marL="0">
              <a:lnSpc>
                <a:spcPct val="100000"/>
              </a:lnSpc>
              <a:buNone/>
            </a:pPr>
            <a:r>
              <a:rPr lang="en-US" sz="1850" b="1" dirty="0">
                <a:solidFill>
                  <a:srgbClr val="FFFFFF"/>
                </a:solidFill>
                <a:latin typeface="Courier New" pitchFamily="34" charset="0"/>
                <a:ea typeface="Courier New" pitchFamily="34" charset="-122"/>
                <a:cs typeface="Courier New" pitchFamily="34" charset="-120"/>
              </a:rPr>
              <a:t>    Ok(Self(value))</a:t>
            </a:r>
            <a:endParaRPr lang="en-US" sz="1850" dirty="0"/>
          </a:p>
          <a:p>
            <a:pPr algn="l" indent="0" marL="0">
              <a:lnSpc>
                <a:spcPct val="100000"/>
              </a:lnSpc>
              <a:buNone/>
            </a:pPr>
            <a:r>
              <a:rPr lang="en-US" sz="1850" b="1" dirty="0">
                <a:solidFill>
                  <a:srgbClr val="FFFFFF"/>
                </a:solidFill>
                <a:latin typeface="Courier New" pitchFamily="34" charset="0"/>
                <a:ea typeface="Courier New" pitchFamily="34" charset="-122"/>
                <a:cs typeface="Courier New" pitchFamily="34" charset="-120"/>
              </a:rPr>
              <a:t>  }</a:t>
            </a:r>
            <a:endParaRPr lang="en-US" sz="1850" dirty="0"/>
          </a:p>
          <a:p>
            <a:pPr algn="l" indent="0" marL="0">
              <a:lnSpc>
                <a:spcPct val="100000"/>
              </a:lnSpc>
              <a:buNone/>
            </a:pPr>
            <a:r>
              <a:rPr lang="en-US" sz="1850" b="1" dirty="0">
                <a:solidFill>
                  <a:srgbClr val="FFFFFF"/>
                </a:solidFill>
                <a:latin typeface="Courier New" pitchFamily="34" charset="0"/>
                <a:ea typeface="Courier New" pitchFamily="34" charset="-122"/>
                <a:cs typeface="Courier New" pitchFamily="34" charset="-120"/>
              </a:rPr>
              <a:t>}</a:t>
            </a:r>
            <a:endParaRPr lang="en-US" sz="1850" dirty="0"/>
          </a:p>
        </p:txBody>
      </p:sp>
      <p:sp>
        <p:nvSpPr>
          <p:cNvPr id="8" name="Shape 6"/>
          <p:cNvSpPr/>
          <p:nvPr/>
        </p:nvSpPr>
        <p:spPr>
          <a:xfrm>
            <a:off x="7818120" y="1481328"/>
            <a:ext cx="1234440" cy="685800"/>
          </a:xfrm>
          <a:prstGeom prst="rect">
            <a:avLst/>
          </a:prstGeom>
          <a:solidFill>
            <a:srgbClr val="FFDCEB"/>
          </a:solidFill>
          <a:ln w="27940">
            <a:solidFill>
              <a:srgbClr val="0B0B0B"/>
            </a:solidFill>
            <a:prstDash val="solid"/>
          </a:ln>
        </p:spPr>
      </p:sp>
      <p:sp>
        <p:nvSpPr>
          <p:cNvPr id="9" name="Text 7"/>
          <p:cNvSpPr/>
          <p:nvPr/>
        </p:nvSpPr>
        <p:spPr>
          <a:xfrm>
            <a:off x="7982712" y="1645920"/>
            <a:ext cx="905256" cy="356616"/>
          </a:xfrm>
          <a:prstGeom prst="rect">
            <a:avLst/>
          </a:prstGeom>
          <a:noFill/>
          <a:ln/>
        </p:spPr>
        <p:txBody>
          <a:bodyPr wrap="square" lIns="0" tIns="0" rIns="0" bIns="0" rtlCol="0" anchor="ctr">
            <a:normAutofit/>
          </a:bodyPr>
          <a:lstStyle/>
          <a:p>
            <a:pPr algn="ctr" indent="0" marL="0">
              <a:lnSpc>
                <a:spcPct val="100000"/>
              </a:lnSpc>
              <a:buNone/>
            </a:pPr>
            <a:r>
              <a:rPr lang="en-US" sz="2100" b="1" dirty="0">
                <a:solidFill>
                  <a:srgbClr val="0B0B0B"/>
                </a:solidFill>
                <a:latin typeface="Courier New" pitchFamily="34" charset="0"/>
                <a:ea typeface="Courier New" pitchFamily="34" charset="-122"/>
                <a:cs typeface="Courier New" pitchFamily="34" charset="-120"/>
              </a:rPr>
              <a:t>f64</a:t>
            </a:r>
            <a:endParaRPr lang="en-US" sz="2100" dirty="0"/>
          </a:p>
        </p:txBody>
      </p:sp>
      <p:sp>
        <p:nvSpPr>
          <p:cNvPr id="10" name="Shape 8"/>
          <p:cNvSpPr/>
          <p:nvPr/>
        </p:nvSpPr>
        <p:spPr>
          <a:xfrm>
            <a:off x="9162288" y="1828800"/>
            <a:ext cx="594360" cy="0"/>
          </a:xfrm>
          <a:prstGeom prst="line">
            <a:avLst/>
          </a:prstGeom>
          <a:noFill/>
          <a:ln w="31750">
            <a:solidFill>
              <a:srgbClr val="0B0B0B"/>
            </a:solidFill>
            <a:prstDash val="solid"/>
            <a:tailEnd type="triangle"/>
          </a:ln>
        </p:spPr>
      </p:sp>
      <p:sp>
        <p:nvSpPr>
          <p:cNvPr id="11" name="Shape 9"/>
          <p:cNvSpPr/>
          <p:nvPr/>
        </p:nvSpPr>
        <p:spPr>
          <a:xfrm>
            <a:off x="9875520" y="1481328"/>
            <a:ext cx="1417320" cy="685800"/>
          </a:xfrm>
          <a:prstGeom prst="rect">
            <a:avLst/>
          </a:prstGeom>
          <a:solidFill>
            <a:srgbClr val="FFD63D"/>
          </a:solidFill>
          <a:ln w="27940">
            <a:solidFill>
              <a:srgbClr val="0B0B0B"/>
            </a:solidFill>
            <a:prstDash val="solid"/>
          </a:ln>
        </p:spPr>
      </p:sp>
      <p:sp>
        <p:nvSpPr>
          <p:cNvPr id="12" name="Text 10"/>
          <p:cNvSpPr/>
          <p:nvPr/>
        </p:nvSpPr>
        <p:spPr>
          <a:xfrm>
            <a:off x="10040112" y="1645920"/>
            <a:ext cx="1088136" cy="356616"/>
          </a:xfrm>
          <a:prstGeom prst="rect">
            <a:avLst/>
          </a:prstGeom>
          <a:noFill/>
          <a:ln/>
        </p:spPr>
        <p:txBody>
          <a:bodyPr wrap="square" lIns="0" tIns="0" rIns="0" bIns="0" rtlCol="0" anchor="ctr">
            <a:normAutofit/>
          </a:bodyPr>
          <a:lstStyle/>
          <a:p>
            <a:pPr algn="ctr" indent="0" marL="0">
              <a:lnSpc>
                <a:spcPct val="100000"/>
              </a:lnSpc>
              <a:buNone/>
            </a:pPr>
            <a:r>
              <a:rPr lang="en-US" sz="1900" b="1" dirty="0">
                <a:solidFill>
                  <a:srgbClr val="0B0B0B"/>
                </a:solidFill>
                <a:latin typeface="Courier New" pitchFamily="34" charset="0"/>
                <a:ea typeface="Courier New" pitchFamily="34" charset="-122"/>
                <a:cs typeface="Courier New" pitchFamily="34" charset="-120"/>
              </a:rPr>
              <a:t>Result</a:t>
            </a:r>
            <a:endParaRPr lang="en-US" sz="1900" dirty="0"/>
          </a:p>
        </p:txBody>
      </p:sp>
      <p:sp>
        <p:nvSpPr>
          <p:cNvPr id="13" name="Text 11"/>
          <p:cNvSpPr/>
          <p:nvPr/>
        </p:nvSpPr>
        <p:spPr>
          <a:xfrm>
            <a:off x="7662672" y="2578608"/>
            <a:ext cx="3520440" cy="347472"/>
          </a:xfrm>
          <a:prstGeom prst="rect">
            <a:avLst/>
          </a:prstGeom>
          <a:noFill/>
          <a:ln/>
        </p:spPr>
        <p:txBody>
          <a:bodyPr wrap="square" lIns="0" tIns="0" rIns="0" bIns="0" rtlCol="0" anchor="t">
            <a:normAutofit/>
          </a:bodyPr>
          <a:lstStyle/>
          <a:p>
            <a:pPr algn="l" indent="0" marL="0">
              <a:lnSpc>
                <a:spcPct val="100000"/>
              </a:lnSpc>
              <a:buNone/>
            </a:pPr>
            <a:r>
              <a:rPr lang="en-US" sz="2200" b="1" dirty="0">
                <a:solidFill>
                  <a:srgbClr val="2855FF"/>
                </a:solidFill>
                <a:latin typeface="Arial" pitchFamily="34" charset="0"/>
                <a:ea typeface="Arial" pitchFamily="34" charset="-122"/>
                <a:cs typeface="Arial" pitchFamily="34" charset="-120"/>
              </a:rPr>
              <a:t>private field</a:t>
            </a:r>
            <a:endParaRPr lang="en-US" sz="2200" dirty="0"/>
          </a:p>
        </p:txBody>
      </p:sp>
      <p:sp>
        <p:nvSpPr>
          <p:cNvPr id="14" name="Text 12"/>
          <p:cNvSpPr/>
          <p:nvPr/>
        </p:nvSpPr>
        <p:spPr>
          <a:xfrm>
            <a:off x="7680960" y="3035808"/>
            <a:ext cx="3383280" cy="502920"/>
          </a:xfrm>
          <a:prstGeom prst="rect">
            <a:avLst/>
          </a:prstGeom>
          <a:noFill/>
          <a:ln/>
        </p:spPr>
        <p:txBody>
          <a:bodyPr wrap="square" lIns="0" tIns="0" rIns="0" bIns="0" rtlCol="0" anchor="t">
            <a:normAutofit/>
          </a:bodyPr>
          <a:lstStyle/>
          <a:p>
            <a:pPr algn="l" indent="0" marL="0">
              <a:lnSpc>
                <a:spcPct val="100000"/>
              </a:lnSpc>
              <a:buNone/>
            </a:pPr>
            <a:r>
              <a:rPr lang="en-US" sz="1500" b="1" dirty="0">
                <a:solidFill>
                  <a:srgbClr val="6B6B66"/>
                </a:solidFill>
                <a:latin typeface="Arial" pitchFamily="34" charset="0"/>
                <a:ea typeface="Arial" pitchFamily="34" charset="-122"/>
                <a:cs typeface="Arial" pitchFamily="34" charset="-120"/>
              </a:rPr>
              <a:t>outside modules cannot bypass new()</a:t>
            </a:r>
            <a:endParaRPr lang="en-US" sz="1500" dirty="0"/>
          </a:p>
        </p:txBody>
      </p:sp>
      <p:sp>
        <p:nvSpPr>
          <p:cNvPr id="15" name="Text 13"/>
          <p:cNvSpPr/>
          <p:nvPr/>
        </p:nvSpPr>
        <p:spPr>
          <a:xfrm>
            <a:off x="7662672" y="3886200"/>
            <a:ext cx="3520440" cy="347472"/>
          </a:xfrm>
          <a:prstGeom prst="rect">
            <a:avLst/>
          </a:prstGeom>
          <a:noFill/>
          <a:ln/>
        </p:spPr>
        <p:txBody>
          <a:bodyPr wrap="square" lIns="0" tIns="0" rIns="0" bIns="0" rtlCol="0" anchor="t">
            <a:normAutofit/>
          </a:bodyPr>
          <a:lstStyle/>
          <a:p>
            <a:pPr algn="l" indent="0" marL="0">
              <a:lnSpc>
                <a:spcPct val="100000"/>
              </a:lnSpc>
              <a:buNone/>
            </a:pPr>
            <a:r>
              <a:rPr lang="en-US" sz="2200" b="1" dirty="0">
                <a:solidFill>
                  <a:srgbClr val="FF5B9D"/>
                </a:solidFill>
                <a:latin typeface="Arial" pitchFamily="34" charset="0"/>
                <a:ea typeface="Arial" pitchFamily="34" charset="-122"/>
                <a:cs typeface="Arial" pitchFamily="34" charset="-120"/>
              </a:rPr>
              <a:t>finite + bounded</a:t>
            </a:r>
            <a:endParaRPr lang="en-US" sz="2200" dirty="0"/>
          </a:p>
        </p:txBody>
      </p:sp>
      <p:sp>
        <p:nvSpPr>
          <p:cNvPr id="16" name="Text 14"/>
          <p:cNvSpPr/>
          <p:nvPr/>
        </p:nvSpPr>
        <p:spPr>
          <a:xfrm>
            <a:off x="7680960" y="4343400"/>
            <a:ext cx="3383280" cy="502920"/>
          </a:xfrm>
          <a:prstGeom prst="rect">
            <a:avLst/>
          </a:prstGeom>
          <a:noFill/>
          <a:ln/>
        </p:spPr>
        <p:txBody>
          <a:bodyPr wrap="square" lIns="0" tIns="0" rIns="0" bIns="0" rtlCol="0" anchor="t">
            <a:normAutofit/>
          </a:bodyPr>
          <a:lstStyle/>
          <a:p>
            <a:pPr algn="l" indent="0" marL="0">
              <a:lnSpc>
                <a:spcPct val="100000"/>
              </a:lnSpc>
              <a:buNone/>
            </a:pPr>
            <a:r>
              <a:rPr lang="en-US" sz="1500" b="1" dirty="0">
                <a:solidFill>
                  <a:srgbClr val="6B6B66"/>
                </a:solidFill>
                <a:latin typeface="Arial" pitchFamily="34" charset="0"/>
                <a:ea typeface="Arial" pitchFamily="34" charset="-122"/>
                <a:cs typeface="Arial" pitchFamily="34" charset="-120"/>
              </a:rPr>
              <a:t>NaN and ±∞ never reach encoding</a:t>
            </a:r>
            <a:endParaRPr lang="en-US" sz="1500" dirty="0"/>
          </a:p>
        </p:txBody>
      </p:sp>
      <p:sp>
        <p:nvSpPr>
          <p:cNvPr id="17" name="Shape 15"/>
          <p:cNvSpPr/>
          <p:nvPr/>
        </p:nvSpPr>
        <p:spPr>
          <a:xfrm>
            <a:off x="7680960" y="5285232"/>
            <a:ext cx="3383280" cy="384048"/>
          </a:xfrm>
          <a:prstGeom prst="roundRect">
            <a:avLst>
              <a:gd name="adj" fmla="val 19048"/>
            </a:avLst>
          </a:prstGeom>
          <a:solidFill>
            <a:srgbClr val="B8FF32"/>
          </a:solidFill>
          <a:ln w="19050">
            <a:solidFill>
              <a:srgbClr val="0B0B0B"/>
            </a:solidFill>
            <a:prstDash val="solid"/>
          </a:ln>
        </p:spPr>
      </p:sp>
      <p:sp>
        <p:nvSpPr>
          <p:cNvPr id="18" name="Text 16"/>
          <p:cNvSpPr/>
          <p:nvPr/>
        </p:nvSpPr>
        <p:spPr>
          <a:xfrm>
            <a:off x="7790688" y="5358384"/>
            <a:ext cx="3163824" cy="219456"/>
          </a:xfrm>
          <a:prstGeom prst="rect">
            <a:avLst/>
          </a:prstGeom>
          <a:noFill/>
          <a:ln/>
        </p:spPr>
        <p:txBody>
          <a:bodyPr wrap="square" lIns="0" tIns="0" rIns="0" bIns="0" rtlCol="0" anchor="ctr">
            <a:normAutofit/>
          </a:bodyPr>
          <a:lstStyle/>
          <a:p>
            <a:pPr algn="ctr" indent="0" marL="0">
              <a:lnSpc>
                <a:spcPct val="100000"/>
              </a:lnSpc>
              <a:buNone/>
            </a:pPr>
            <a:r>
              <a:rPr lang="en-US" sz="1000" b="1" dirty="0">
                <a:solidFill>
                  <a:srgbClr val="0B0B0B"/>
                </a:solidFill>
                <a:latin typeface="Arial" pitchFamily="34" charset="0"/>
                <a:ea typeface="Arial" pitchFamily="34" charset="-122"/>
                <a:cs typeface="Arial" pitchFamily="34" charset="-120"/>
              </a:rPr>
              <a:t>INVALID AT CONSTRUCTION</a:t>
            </a:r>
            <a:endParaRPr lang="en-US" sz="1000" dirty="0"/>
          </a:p>
        </p:txBody>
      </p:sp>
      <p:sp>
        <p:nvSpPr>
          <p:cNvPr id="19" name="Text 17"/>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github.com/specdog/leash</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5B9D"/>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BOUNDED EFFECTS</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14</a:t>
            </a:r>
            <a:endParaRPr lang="en-US" sz="950" dirty="0"/>
          </a:p>
        </p:txBody>
      </p:sp>
      <p:sp>
        <p:nvSpPr>
          <p:cNvPr id="5" name="Text 3"/>
          <p:cNvSpPr/>
          <p:nvPr/>
        </p:nvSpPr>
        <p:spPr>
          <a:xfrm>
            <a:off x="502920" y="566928"/>
            <a:ext cx="11109960" cy="914400"/>
          </a:xfrm>
          <a:prstGeom prst="rect">
            <a:avLst/>
          </a:prstGeom>
          <a:noFill/>
          <a:ln/>
        </p:spPr>
        <p:txBody>
          <a:bodyPr wrap="square" lIns="0" tIns="0" rIns="0" bIns="0" rtlCol="0" anchor="ctr">
            <a:normAutofit/>
          </a:bodyPr>
          <a:lstStyle/>
          <a:p>
            <a:pPr indent="0" marL="0">
              <a:buNone/>
            </a:pPr>
            <a:r>
              <a:rPr lang="en-US" sz="3200" b="1" dirty="0">
                <a:solidFill>
                  <a:srgbClr val="0B0B0B"/>
                </a:solidFill>
                <a:latin typeface="Arial Black" pitchFamily="34" charset="0"/>
                <a:ea typeface="Arial Black" pitchFamily="34" charset="-122"/>
                <a:cs typeface="Arial Black" pitchFamily="34" charset="-120"/>
              </a:rPr>
              <a:t>Generics encode the authority transition.</a:t>
            </a:r>
            <a:endParaRPr lang="en-US" sz="3200" dirty="0"/>
          </a:p>
        </p:txBody>
      </p:sp>
      <p:sp>
        <p:nvSpPr>
          <p:cNvPr id="6" name="Shape 4"/>
          <p:cNvSpPr/>
          <p:nvPr/>
        </p:nvSpPr>
        <p:spPr>
          <a:xfrm>
            <a:off x="594360" y="1417320"/>
            <a:ext cx="3657600" cy="2011680"/>
          </a:xfrm>
          <a:prstGeom prst="rect">
            <a:avLst/>
          </a:prstGeom>
          <a:solidFill>
            <a:srgbClr val="FFFDF7"/>
          </a:solidFill>
          <a:ln w="27940">
            <a:solidFill>
              <a:srgbClr val="0B0B0B"/>
            </a:solidFill>
            <a:prstDash val="solid"/>
          </a:ln>
        </p:spPr>
      </p:sp>
      <p:sp>
        <p:nvSpPr>
          <p:cNvPr id="7" name="Text 5"/>
          <p:cNvSpPr/>
          <p:nvPr/>
        </p:nvSpPr>
        <p:spPr>
          <a:xfrm>
            <a:off x="886968" y="1709928"/>
            <a:ext cx="3072384" cy="1426464"/>
          </a:xfrm>
          <a:prstGeom prst="rect">
            <a:avLst/>
          </a:prstGeom>
          <a:noFill/>
          <a:ln/>
        </p:spPr>
        <p:txBody>
          <a:bodyPr wrap="square" lIns="0" tIns="0" rIns="0" bIns="0" rtlCol="0" anchor="ctr">
            <a:normAutofit/>
          </a:bodyPr>
          <a:lstStyle/>
          <a:p>
            <a:pPr algn="l" indent="0" marL="0">
              <a:lnSpc>
                <a:spcPct val="100000"/>
              </a:lnSpc>
              <a:buNone/>
            </a:pPr>
            <a:r>
              <a:rPr lang="en-US" sz="1900" b="1" dirty="0">
                <a:solidFill>
                  <a:srgbClr val="0B0B0B"/>
                </a:solidFill>
                <a:latin typeface="Courier New" pitchFamily="34" charset="0"/>
                <a:ea typeface="Courier New" pitchFamily="34" charset="-122"/>
                <a:cs typeface="Courier New" pitchFamily="34" charset="-120"/>
              </a:rPr>
              <a:t>pub struct Candidate&lt;C&gt; {</a:t>
            </a:r>
            <a:endParaRPr lang="en-US" sz="1900" dirty="0"/>
          </a:p>
          <a:p>
            <a:pPr algn="l" indent="0" marL="0">
              <a:lnSpc>
                <a:spcPct val="100000"/>
              </a:lnSpc>
              <a:buNone/>
            </a:pPr>
            <a:r>
              <a:rPr lang="en-US" sz="1900" b="1" dirty="0">
                <a:solidFill>
                  <a:srgbClr val="0B0B0B"/>
                </a:solidFill>
                <a:latin typeface="Courier New" pitchFamily="34" charset="0"/>
                <a:ea typeface="Courier New" pitchFamily="34" charset="-122"/>
                <a:cs typeface="Courier New" pitchFamily="34" charset="-120"/>
              </a:rPr>
              <a:t>  pub deadline: MonotonicNanos,</a:t>
            </a:r>
            <a:endParaRPr lang="en-US" sz="1900" dirty="0"/>
          </a:p>
          <a:p>
            <a:pPr algn="l" indent="0" marL="0">
              <a:lnSpc>
                <a:spcPct val="100000"/>
              </a:lnSpc>
              <a:buNone/>
            </a:pPr>
            <a:r>
              <a:rPr lang="en-US" sz="1900" b="1" dirty="0">
                <a:solidFill>
                  <a:srgbClr val="0B0B0B"/>
                </a:solidFill>
                <a:latin typeface="Courier New" pitchFamily="34" charset="0"/>
                <a:ea typeface="Courier New" pitchFamily="34" charset="-122"/>
                <a:cs typeface="Courier New" pitchFamily="34" charset="-120"/>
              </a:rPr>
              <a:t>  pub command: C,</a:t>
            </a:r>
            <a:endParaRPr lang="en-US" sz="1900" dirty="0"/>
          </a:p>
          <a:p>
            <a:pPr algn="l" indent="0" marL="0">
              <a:lnSpc>
                <a:spcPct val="100000"/>
              </a:lnSpc>
              <a:buNone/>
            </a:pPr>
            <a:r>
              <a:rPr lang="en-US" sz="1900" b="1" dirty="0">
                <a:solidFill>
                  <a:srgbClr val="0B0B0B"/>
                </a:solidFill>
                <a:latin typeface="Courier New" pitchFamily="34" charset="0"/>
                <a:ea typeface="Courier New" pitchFamily="34" charset="-122"/>
                <a:cs typeface="Courier New" pitchFamily="34" charset="-120"/>
              </a:rPr>
              <a:t>}</a:t>
            </a:r>
            <a:endParaRPr lang="en-US" sz="1900" dirty="0"/>
          </a:p>
        </p:txBody>
      </p:sp>
      <p:sp>
        <p:nvSpPr>
          <p:cNvPr id="8" name="Shape 6"/>
          <p:cNvSpPr/>
          <p:nvPr/>
        </p:nvSpPr>
        <p:spPr>
          <a:xfrm>
            <a:off x="4462272" y="2423160"/>
            <a:ext cx="960120" cy="0"/>
          </a:xfrm>
          <a:prstGeom prst="line">
            <a:avLst/>
          </a:prstGeom>
          <a:noFill/>
          <a:ln w="50800">
            <a:solidFill>
              <a:srgbClr val="0B0B0B"/>
            </a:solidFill>
            <a:prstDash val="solid"/>
            <a:tailEnd type="triangle"/>
          </a:ln>
        </p:spPr>
      </p:sp>
      <p:sp>
        <p:nvSpPr>
          <p:cNvPr id="9" name="Shape 7"/>
          <p:cNvSpPr/>
          <p:nvPr/>
        </p:nvSpPr>
        <p:spPr>
          <a:xfrm>
            <a:off x="5532120" y="1609344"/>
            <a:ext cx="2148840" cy="1645920"/>
          </a:xfrm>
          <a:prstGeom prst="rect">
            <a:avLst/>
          </a:prstGeom>
          <a:solidFill>
            <a:srgbClr val="FFD63D"/>
          </a:solidFill>
          <a:ln w="27940">
            <a:solidFill>
              <a:srgbClr val="0B0B0B"/>
            </a:solidFill>
            <a:prstDash val="solid"/>
          </a:ln>
        </p:spPr>
      </p:sp>
      <p:sp>
        <p:nvSpPr>
          <p:cNvPr id="10" name="Text 8"/>
          <p:cNvSpPr/>
          <p:nvPr/>
        </p:nvSpPr>
        <p:spPr>
          <a:xfrm>
            <a:off x="5696712" y="1773936"/>
            <a:ext cx="1819656" cy="1316736"/>
          </a:xfrm>
          <a:prstGeom prst="rect">
            <a:avLst/>
          </a:prstGeom>
          <a:noFill/>
          <a:ln/>
        </p:spPr>
        <p:txBody>
          <a:bodyPr wrap="square" lIns="0" tIns="0" rIns="0" bIns="0" rtlCol="0" anchor="ctr">
            <a:normAutofit/>
          </a:bodyPr>
          <a:lstStyle/>
          <a:p>
            <a:pPr algn="ctr" indent="0" marL="0">
              <a:lnSpc>
                <a:spcPct val="100000"/>
              </a:lnSpc>
              <a:buNone/>
            </a:pPr>
            <a:r>
              <a:rPr lang="en-US" sz="1700" b="1" dirty="0">
                <a:solidFill>
                  <a:srgbClr val="0B0B0B"/>
                </a:solidFill>
                <a:latin typeface="Courier New" pitchFamily="34" charset="0"/>
                <a:ea typeface="Courier New" pitchFamily="34" charset="-122"/>
                <a:cs typeface="Courier New" pitchFamily="34" charset="-120"/>
              </a:rPr>
              <a:t>SafetyGate</a:t>
            </a:r>
            <a:endParaRPr lang="en-US" sz="1700" dirty="0"/>
          </a:p>
          <a:p>
            <a:pPr algn="ctr" indent="0" marL="0">
              <a:lnSpc>
                <a:spcPct val="100000"/>
              </a:lnSpc>
              <a:buNone/>
            </a:pPr>
            <a:r>
              <a:rPr lang="en-US" sz="1700" b="1" dirty="0">
                <a:solidFill>
                  <a:srgbClr val="0B0B0B"/>
                </a:solidFill>
                <a:latin typeface="Courier New" pitchFamily="34" charset="0"/>
                <a:ea typeface="Courier New" pitchFamily="34" charset="-122"/>
                <a:cs typeface="Courier New" pitchFamily="34" charset="-120"/>
              </a:rPr>
              <a:t>.authorize(candidate, now)</a:t>
            </a:r>
            <a:endParaRPr lang="en-US" sz="1700" dirty="0"/>
          </a:p>
        </p:txBody>
      </p:sp>
      <p:sp>
        <p:nvSpPr>
          <p:cNvPr id="11" name="Shape 9"/>
          <p:cNvSpPr/>
          <p:nvPr/>
        </p:nvSpPr>
        <p:spPr>
          <a:xfrm>
            <a:off x="7818120" y="2423160"/>
            <a:ext cx="914400" cy="0"/>
          </a:xfrm>
          <a:prstGeom prst="line">
            <a:avLst/>
          </a:prstGeom>
          <a:noFill/>
          <a:ln w="50800">
            <a:solidFill>
              <a:srgbClr val="0B0B0B"/>
            </a:solidFill>
            <a:prstDash val="solid"/>
            <a:tailEnd type="triangle"/>
          </a:ln>
        </p:spPr>
      </p:sp>
      <p:sp>
        <p:nvSpPr>
          <p:cNvPr id="12" name="Shape 10"/>
          <p:cNvSpPr/>
          <p:nvPr/>
        </p:nvSpPr>
        <p:spPr>
          <a:xfrm>
            <a:off x="8823960" y="1234440"/>
            <a:ext cx="2788920" cy="2423160"/>
          </a:xfrm>
          <a:prstGeom prst="rect">
            <a:avLst/>
          </a:prstGeom>
          <a:solidFill>
            <a:srgbClr val="B8FF32"/>
          </a:solidFill>
          <a:ln w="27940">
            <a:solidFill>
              <a:srgbClr val="0B0B0B"/>
            </a:solidFill>
            <a:prstDash val="solid"/>
          </a:ln>
        </p:spPr>
      </p:sp>
      <p:sp>
        <p:nvSpPr>
          <p:cNvPr id="13" name="Text 11"/>
          <p:cNvSpPr/>
          <p:nvPr/>
        </p:nvSpPr>
        <p:spPr>
          <a:xfrm>
            <a:off x="9052560" y="1463040"/>
            <a:ext cx="2331720" cy="1965960"/>
          </a:xfrm>
          <a:prstGeom prst="rect">
            <a:avLst/>
          </a:prstGeom>
          <a:noFill/>
          <a:ln/>
        </p:spPr>
        <p:txBody>
          <a:bodyPr wrap="square" lIns="0" tIns="0" rIns="0" bIns="0" rtlCol="0" anchor="ctr">
            <a:normAutofit/>
          </a:bodyPr>
          <a:lstStyle/>
          <a:p>
            <a:pPr algn="l" indent="0" marL="0">
              <a:lnSpc>
                <a:spcPct val="100000"/>
              </a:lnSpc>
              <a:buNone/>
            </a:pPr>
            <a:r>
              <a:rPr lang="en-US" sz="1450" b="1" dirty="0">
                <a:solidFill>
                  <a:srgbClr val="0B0B0B"/>
                </a:solidFill>
                <a:latin typeface="Courier New" pitchFamily="34" charset="0"/>
                <a:ea typeface="Courier New" pitchFamily="34" charset="-122"/>
                <a:cs typeface="Courier New" pitchFamily="34" charset="-120"/>
              </a:rPr>
              <a:t>pub struct Authorized&lt;C&gt; {</a:t>
            </a:r>
            <a:endParaRPr lang="en-US" sz="1450" dirty="0"/>
          </a:p>
          <a:p>
            <a:pPr algn="l" indent="0" marL="0">
              <a:lnSpc>
                <a:spcPct val="100000"/>
              </a:lnSpc>
              <a:buNone/>
            </a:pPr>
            <a:r>
              <a:rPr lang="en-US" sz="1450" b="1" dirty="0">
                <a:solidFill>
                  <a:srgbClr val="0B0B0B"/>
                </a:solidFill>
                <a:latin typeface="Courier New" pitchFamily="34" charset="0"/>
                <a:ea typeface="Courier New" pitchFamily="34" charset="-122"/>
                <a:cs typeface="Courier New" pitchFamily="34" charset="-120"/>
              </a:rPr>
              <a:t>  command_id: CommandId,</a:t>
            </a:r>
            <a:endParaRPr lang="en-US" sz="1450" dirty="0"/>
          </a:p>
          <a:p>
            <a:pPr algn="l" indent="0" marL="0">
              <a:lnSpc>
                <a:spcPct val="100000"/>
              </a:lnSpc>
              <a:buNone/>
            </a:pPr>
            <a:r>
              <a:rPr lang="en-US" sz="1450" b="1" dirty="0">
                <a:solidFill>
                  <a:srgbClr val="0B0B0B"/>
                </a:solidFill>
                <a:latin typeface="Courier New" pitchFamily="34" charset="0"/>
                <a:ea typeface="Courier New" pitchFamily="34" charset="-122"/>
                <a:cs typeface="Courier New" pitchFamily="34" charset="-120"/>
              </a:rPr>
              <a:t>  evidence_id: EvidenceId,</a:t>
            </a:r>
            <a:endParaRPr lang="en-US" sz="1450" dirty="0"/>
          </a:p>
          <a:p>
            <a:pPr algn="l" indent="0" marL="0">
              <a:lnSpc>
                <a:spcPct val="100000"/>
              </a:lnSpc>
              <a:buNone/>
            </a:pPr>
            <a:r>
              <a:rPr lang="en-US" sz="1450" b="1" dirty="0">
                <a:solidFill>
                  <a:srgbClr val="0B0B0B"/>
                </a:solidFill>
                <a:latin typeface="Courier New" pitchFamily="34" charset="0"/>
                <a:ea typeface="Courier New" pitchFamily="34" charset="-122"/>
                <a:cs typeface="Courier New" pitchFamily="34" charset="-120"/>
              </a:rPr>
              <a:t>  authorized_at: MonotonicNanos,</a:t>
            </a:r>
            <a:endParaRPr lang="en-US" sz="1450" dirty="0"/>
          </a:p>
          <a:p>
            <a:pPr algn="l" indent="0" marL="0">
              <a:lnSpc>
                <a:spcPct val="100000"/>
              </a:lnSpc>
              <a:buNone/>
            </a:pPr>
            <a:r>
              <a:rPr lang="en-US" sz="1450" b="1" dirty="0">
                <a:solidFill>
                  <a:srgbClr val="0B0B0B"/>
                </a:solidFill>
                <a:latin typeface="Courier New" pitchFamily="34" charset="0"/>
                <a:ea typeface="Courier New" pitchFamily="34" charset="-122"/>
                <a:cs typeface="Courier New" pitchFamily="34" charset="-120"/>
              </a:rPr>
              <a:t>  command: C,</a:t>
            </a:r>
            <a:endParaRPr lang="en-US" sz="1450" dirty="0"/>
          </a:p>
          <a:p>
            <a:pPr algn="l" indent="0" marL="0">
              <a:lnSpc>
                <a:spcPct val="100000"/>
              </a:lnSpc>
              <a:buNone/>
            </a:pPr>
            <a:r>
              <a:rPr lang="en-US" sz="1450" b="1" dirty="0">
                <a:solidFill>
                  <a:srgbClr val="0B0B0B"/>
                </a:solidFill>
                <a:latin typeface="Courier New" pitchFamily="34" charset="0"/>
                <a:ea typeface="Courier New" pitchFamily="34" charset="-122"/>
                <a:cs typeface="Courier New" pitchFamily="34" charset="-120"/>
              </a:rPr>
              <a:t>}</a:t>
            </a:r>
            <a:endParaRPr lang="en-US" sz="1450" dirty="0"/>
          </a:p>
        </p:txBody>
      </p:sp>
      <p:sp>
        <p:nvSpPr>
          <p:cNvPr id="14" name="Shape 12"/>
          <p:cNvSpPr/>
          <p:nvPr/>
        </p:nvSpPr>
        <p:spPr>
          <a:xfrm>
            <a:off x="4462272" y="4315968"/>
            <a:ext cx="3611880" cy="731520"/>
          </a:xfrm>
          <a:prstGeom prst="rect">
            <a:avLst/>
          </a:prstGeom>
          <a:solidFill>
            <a:srgbClr val="0B0B0B"/>
          </a:solidFill>
          <a:ln w="27940">
            <a:solidFill>
              <a:srgbClr val="0B0B0B"/>
            </a:solidFill>
            <a:prstDash val="solid"/>
          </a:ln>
        </p:spPr>
      </p:sp>
      <p:sp>
        <p:nvSpPr>
          <p:cNvPr id="15" name="Text 13"/>
          <p:cNvSpPr/>
          <p:nvPr/>
        </p:nvSpPr>
        <p:spPr>
          <a:xfrm>
            <a:off x="4626864" y="4480560"/>
            <a:ext cx="3282696" cy="402336"/>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FFFFFF"/>
                </a:solidFill>
                <a:latin typeface="Courier New" pitchFamily="34" charset="0"/>
                <a:ea typeface="Courier New" pitchFamily="34" charset="-122"/>
                <a:cs typeface="Courier New" pitchFamily="34" charset="-120"/>
              </a:rPr>
              <a:t>Err(SafetyDenial::Expired)</a:t>
            </a:r>
            <a:endParaRPr lang="en-US" sz="1600" dirty="0"/>
          </a:p>
        </p:txBody>
      </p:sp>
      <p:sp>
        <p:nvSpPr>
          <p:cNvPr id="16" name="Shape 14"/>
          <p:cNvSpPr/>
          <p:nvPr/>
        </p:nvSpPr>
        <p:spPr>
          <a:xfrm>
            <a:off x="6601968" y="3401568"/>
            <a:ext cx="-411480" cy="777240"/>
          </a:xfrm>
          <a:prstGeom prst="line">
            <a:avLst/>
          </a:prstGeom>
          <a:noFill/>
          <a:ln w="31750">
            <a:solidFill>
              <a:srgbClr val="0B0B0B"/>
            </a:solidFill>
            <a:prstDash val="solid"/>
            <a:tailEnd type="triangle"/>
          </a:ln>
        </p:spPr>
      </p:sp>
      <p:sp>
        <p:nvSpPr>
          <p:cNvPr id="17" name="Text 15"/>
          <p:cNvSpPr/>
          <p:nvPr/>
        </p:nvSpPr>
        <p:spPr>
          <a:xfrm>
            <a:off x="749808" y="5321808"/>
            <a:ext cx="10607040" cy="576072"/>
          </a:xfrm>
          <a:prstGeom prst="rect">
            <a:avLst/>
          </a:prstGeom>
          <a:noFill/>
          <a:ln/>
        </p:spPr>
        <p:txBody>
          <a:bodyPr wrap="square" lIns="0" tIns="0" rIns="0" bIns="0" rtlCol="0" anchor="t">
            <a:normAutofit/>
          </a:bodyPr>
          <a:lstStyle/>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C is generic: the transition works for any command payload.</a:t>
            </a:r>
            <a:endParaRPr lang="en-US" sz="1800" dirty="0"/>
          </a:p>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Authorized fields are private: gateways cannot forge the post-policy state.</a:t>
            </a:r>
            <a:endParaRPr lang="en-US" sz="1800" dirty="0"/>
          </a:p>
        </p:txBody>
      </p:sp>
      <p:sp>
        <p:nvSpPr>
          <p:cNvPr id="18" name="Text 16"/>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github.com/specdog/leash</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STOP PATH</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15</a:t>
            </a:r>
            <a:endParaRPr lang="en-US" sz="950" dirty="0"/>
          </a:p>
        </p:txBody>
      </p:sp>
      <p:sp>
        <p:nvSpPr>
          <p:cNvPr id="5" name="Text 3"/>
          <p:cNvSpPr/>
          <p:nvPr/>
        </p:nvSpPr>
        <p:spPr>
          <a:xfrm>
            <a:off x="502920" y="566928"/>
            <a:ext cx="11109960" cy="914400"/>
          </a:xfrm>
          <a:prstGeom prst="rect">
            <a:avLst/>
          </a:prstGeom>
          <a:noFill/>
          <a:ln/>
        </p:spPr>
        <p:txBody>
          <a:bodyPr wrap="square" lIns="0" tIns="0" rIns="0" bIns="0" rtlCol="0" anchor="ctr">
            <a:normAutofit/>
          </a:bodyPr>
          <a:lstStyle/>
          <a:p>
            <a:pPr indent="0" marL="0">
              <a:buNone/>
            </a:pPr>
            <a:r>
              <a:rPr lang="en-US" sz="3200" b="1" dirty="0">
                <a:solidFill>
                  <a:srgbClr val="0B0B0B"/>
                </a:solidFill>
                <a:latin typeface="Arial Black" pitchFamily="34" charset="0"/>
                <a:ea typeface="Arial Black" pitchFamily="34" charset="-122"/>
                <a:cs typeface="Arial Black" pitchFamily="34" charset="-120"/>
              </a:rPr>
              <a:t>E-stop skips the queue. CPU keeps authority.</a:t>
            </a:r>
            <a:endParaRPr lang="en-US" sz="3200" dirty="0"/>
          </a:p>
        </p:txBody>
      </p:sp>
      <p:sp>
        <p:nvSpPr>
          <p:cNvPr id="6" name="Shape 4"/>
          <p:cNvSpPr/>
          <p:nvPr/>
        </p:nvSpPr>
        <p:spPr>
          <a:xfrm>
            <a:off x="640080" y="1828800"/>
            <a:ext cx="2103120" cy="1188720"/>
          </a:xfrm>
          <a:prstGeom prst="rect">
            <a:avLst/>
          </a:prstGeom>
          <a:solidFill>
            <a:srgbClr val="DDE5FF"/>
          </a:solidFill>
          <a:ln w="27940">
            <a:solidFill>
              <a:srgbClr val="0B0B0B"/>
            </a:solidFill>
            <a:prstDash val="solid"/>
          </a:ln>
        </p:spPr>
      </p:sp>
      <p:sp>
        <p:nvSpPr>
          <p:cNvPr id="7" name="Text 5"/>
          <p:cNvSpPr/>
          <p:nvPr/>
        </p:nvSpPr>
        <p:spPr>
          <a:xfrm>
            <a:off x="804672" y="1993392"/>
            <a:ext cx="1773936" cy="859536"/>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NORMAL</a:t>
            </a:r>
            <a:endParaRPr lang="en-US" sz="1800" dirty="0"/>
          </a:p>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PROPOSALS</a:t>
            </a:r>
            <a:endParaRPr lang="en-US" sz="1800" dirty="0"/>
          </a:p>
        </p:txBody>
      </p:sp>
      <p:sp>
        <p:nvSpPr>
          <p:cNvPr id="8" name="Shape 6"/>
          <p:cNvSpPr/>
          <p:nvPr/>
        </p:nvSpPr>
        <p:spPr>
          <a:xfrm>
            <a:off x="3657600" y="1828800"/>
            <a:ext cx="2103120" cy="1188720"/>
          </a:xfrm>
          <a:prstGeom prst="rect">
            <a:avLst/>
          </a:prstGeom>
          <a:solidFill>
            <a:srgbClr val="FFD63D"/>
          </a:solidFill>
          <a:ln w="27940">
            <a:solidFill>
              <a:srgbClr val="0B0B0B"/>
            </a:solidFill>
            <a:prstDash val="solid"/>
          </a:ln>
        </p:spPr>
      </p:sp>
      <p:sp>
        <p:nvSpPr>
          <p:cNvPr id="9" name="Text 7"/>
          <p:cNvSpPr/>
          <p:nvPr/>
        </p:nvSpPr>
        <p:spPr>
          <a:xfrm>
            <a:off x="3822192" y="1993392"/>
            <a:ext cx="1773936" cy="859536"/>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BOUNDED</a:t>
            </a:r>
            <a:endParaRPr lang="en-US" sz="1800" dirty="0"/>
          </a:p>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MAILBOX 32</a:t>
            </a:r>
            <a:endParaRPr lang="en-US" sz="1800" dirty="0"/>
          </a:p>
        </p:txBody>
      </p:sp>
      <p:sp>
        <p:nvSpPr>
          <p:cNvPr id="10" name="Shape 8"/>
          <p:cNvSpPr/>
          <p:nvPr/>
        </p:nvSpPr>
        <p:spPr>
          <a:xfrm>
            <a:off x="6675120" y="1828800"/>
            <a:ext cx="2103120" cy="1188720"/>
          </a:xfrm>
          <a:prstGeom prst="rect">
            <a:avLst/>
          </a:prstGeom>
          <a:solidFill>
            <a:srgbClr val="B8FF32"/>
          </a:solidFill>
          <a:ln w="27940">
            <a:solidFill>
              <a:srgbClr val="0B0B0B"/>
            </a:solidFill>
            <a:prstDash val="solid"/>
          </a:ln>
        </p:spPr>
      </p:sp>
      <p:sp>
        <p:nvSpPr>
          <p:cNvPr id="11" name="Text 9"/>
          <p:cNvSpPr/>
          <p:nvPr/>
        </p:nvSpPr>
        <p:spPr>
          <a:xfrm>
            <a:off x="6839712" y="1993392"/>
            <a:ext cx="1773936" cy="859536"/>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100 Hz CPU</a:t>
            </a:r>
            <a:endParaRPr lang="en-US" sz="1800" dirty="0"/>
          </a:p>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SUPERVISOR</a:t>
            </a:r>
            <a:endParaRPr lang="en-US" sz="1800" dirty="0"/>
          </a:p>
        </p:txBody>
      </p:sp>
      <p:sp>
        <p:nvSpPr>
          <p:cNvPr id="12" name="Shape 10"/>
          <p:cNvSpPr/>
          <p:nvPr/>
        </p:nvSpPr>
        <p:spPr>
          <a:xfrm>
            <a:off x="9692640" y="1828800"/>
            <a:ext cx="1828800" cy="1188720"/>
          </a:xfrm>
          <a:prstGeom prst="rect">
            <a:avLst/>
          </a:prstGeom>
          <a:solidFill>
            <a:srgbClr val="0B0B0B"/>
          </a:solidFill>
          <a:ln w="27940">
            <a:solidFill>
              <a:srgbClr val="0B0B0B"/>
            </a:solidFill>
            <a:prstDash val="solid"/>
          </a:ln>
        </p:spPr>
      </p:sp>
      <p:sp>
        <p:nvSpPr>
          <p:cNvPr id="13" name="Text 11"/>
          <p:cNvSpPr/>
          <p:nvPr/>
        </p:nvSpPr>
        <p:spPr>
          <a:xfrm>
            <a:off x="9857232" y="1993392"/>
            <a:ext cx="1499616" cy="859536"/>
          </a:xfrm>
          <a:prstGeom prst="rect">
            <a:avLst/>
          </a:prstGeom>
          <a:noFill/>
          <a:ln/>
        </p:spPr>
        <p:txBody>
          <a:bodyPr wrap="square" lIns="0" tIns="0" rIns="0" bIns="0" rtlCol="0" anchor="ctr">
            <a:normAutofit/>
          </a:bodyPr>
          <a:lstStyle/>
          <a:p>
            <a:pPr algn="ctr" indent="0" marL="0">
              <a:lnSpc>
                <a:spcPct val="100000"/>
              </a:lnSpc>
              <a:buNone/>
            </a:pPr>
            <a:r>
              <a:rPr lang="en-US" sz="2000" b="1" dirty="0">
                <a:solidFill>
                  <a:srgbClr val="FFFFFF"/>
                </a:solidFill>
                <a:latin typeface="Arial" pitchFamily="34" charset="0"/>
                <a:ea typeface="Arial" pitchFamily="34" charset="-122"/>
                <a:cs typeface="Arial" pitchFamily="34" charset="-120"/>
              </a:rPr>
              <a:t>MOTORS</a:t>
            </a:r>
            <a:endParaRPr lang="en-US" sz="2000" dirty="0"/>
          </a:p>
        </p:txBody>
      </p:sp>
      <p:sp>
        <p:nvSpPr>
          <p:cNvPr id="14" name="Shape 12"/>
          <p:cNvSpPr/>
          <p:nvPr/>
        </p:nvSpPr>
        <p:spPr>
          <a:xfrm>
            <a:off x="2816352" y="2423160"/>
            <a:ext cx="749808" cy="0"/>
          </a:xfrm>
          <a:prstGeom prst="line">
            <a:avLst/>
          </a:prstGeom>
          <a:noFill/>
          <a:ln w="31750">
            <a:solidFill>
              <a:srgbClr val="0B0B0B"/>
            </a:solidFill>
            <a:prstDash val="solid"/>
            <a:tailEnd type="triangle"/>
          </a:ln>
        </p:spPr>
      </p:sp>
      <p:sp>
        <p:nvSpPr>
          <p:cNvPr id="15" name="Shape 13"/>
          <p:cNvSpPr/>
          <p:nvPr/>
        </p:nvSpPr>
        <p:spPr>
          <a:xfrm>
            <a:off x="5833872" y="2423160"/>
            <a:ext cx="749808" cy="0"/>
          </a:xfrm>
          <a:prstGeom prst="line">
            <a:avLst/>
          </a:prstGeom>
          <a:noFill/>
          <a:ln w="31750">
            <a:solidFill>
              <a:srgbClr val="0B0B0B"/>
            </a:solidFill>
            <a:prstDash val="solid"/>
            <a:tailEnd type="triangle"/>
          </a:ln>
        </p:spPr>
      </p:sp>
      <p:sp>
        <p:nvSpPr>
          <p:cNvPr id="16" name="Shape 14"/>
          <p:cNvSpPr/>
          <p:nvPr/>
        </p:nvSpPr>
        <p:spPr>
          <a:xfrm>
            <a:off x="8851392" y="2423160"/>
            <a:ext cx="749808" cy="0"/>
          </a:xfrm>
          <a:prstGeom prst="line">
            <a:avLst/>
          </a:prstGeom>
          <a:noFill/>
          <a:ln w="31750">
            <a:solidFill>
              <a:srgbClr val="0B0B0B"/>
            </a:solidFill>
            <a:prstDash val="solid"/>
            <a:tailEnd type="triangle"/>
          </a:ln>
        </p:spPr>
      </p:sp>
      <p:sp>
        <p:nvSpPr>
          <p:cNvPr id="17" name="Shape 15"/>
          <p:cNvSpPr/>
          <p:nvPr/>
        </p:nvSpPr>
        <p:spPr>
          <a:xfrm>
            <a:off x="3611880" y="4160520"/>
            <a:ext cx="2148840" cy="786384"/>
          </a:xfrm>
          <a:prstGeom prst="rect">
            <a:avLst/>
          </a:prstGeom>
          <a:solidFill>
            <a:srgbClr val="EF3340"/>
          </a:solidFill>
          <a:ln w="27940">
            <a:solidFill>
              <a:srgbClr val="0B0B0B"/>
            </a:solidFill>
            <a:prstDash val="solid"/>
          </a:ln>
        </p:spPr>
      </p:sp>
      <p:sp>
        <p:nvSpPr>
          <p:cNvPr id="18" name="Text 16"/>
          <p:cNvSpPr/>
          <p:nvPr/>
        </p:nvSpPr>
        <p:spPr>
          <a:xfrm>
            <a:off x="3776472" y="4325112"/>
            <a:ext cx="1819656" cy="457200"/>
          </a:xfrm>
          <a:prstGeom prst="rect">
            <a:avLst/>
          </a:prstGeom>
          <a:noFill/>
          <a:ln/>
        </p:spPr>
        <p:txBody>
          <a:bodyPr wrap="square" lIns="0" tIns="0" rIns="0" bIns="0" rtlCol="0" anchor="ctr">
            <a:normAutofit/>
          </a:bodyPr>
          <a:lstStyle/>
          <a:p>
            <a:pPr algn="ctr" indent="0" marL="0">
              <a:lnSpc>
                <a:spcPct val="100000"/>
              </a:lnSpc>
              <a:buNone/>
            </a:pPr>
            <a:r>
              <a:rPr lang="en-US" sz="2200" b="1" dirty="0">
                <a:solidFill>
                  <a:srgbClr val="FFFFFF"/>
                </a:solidFill>
                <a:latin typeface="Arial" pitchFamily="34" charset="0"/>
                <a:ea typeface="Arial" pitchFamily="34" charset="-122"/>
                <a:cs typeface="Arial" pitchFamily="34" charset="-120"/>
              </a:rPr>
              <a:t>E-STOP</a:t>
            </a:r>
            <a:endParaRPr lang="en-US" sz="2200" dirty="0"/>
          </a:p>
        </p:txBody>
      </p:sp>
      <p:sp>
        <p:nvSpPr>
          <p:cNvPr id="19" name="Shape 17"/>
          <p:cNvSpPr/>
          <p:nvPr/>
        </p:nvSpPr>
        <p:spPr>
          <a:xfrm>
            <a:off x="5870448" y="4434840"/>
            <a:ext cx="1810512" cy="-1143000"/>
          </a:xfrm>
          <a:prstGeom prst="line">
            <a:avLst/>
          </a:prstGeom>
          <a:noFill/>
          <a:ln w="63500">
            <a:solidFill>
              <a:srgbClr val="EF3340"/>
            </a:solidFill>
            <a:prstDash val="solid"/>
            <a:tailEnd type="triangle"/>
          </a:ln>
        </p:spPr>
      </p:sp>
      <p:sp>
        <p:nvSpPr>
          <p:cNvPr id="20" name="Text 18"/>
          <p:cNvSpPr/>
          <p:nvPr/>
        </p:nvSpPr>
        <p:spPr>
          <a:xfrm>
            <a:off x="6172200" y="4343400"/>
            <a:ext cx="2514600" cy="292608"/>
          </a:xfrm>
          <a:prstGeom prst="rect">
            <a:avLst/>
          </a:prstGeom>
          <a:noFill/>
          <a:ln/>
        </p:spPr>
        <p:txBody>
          <a:bodyPr wrap="square" lIns="0" tIns="0" rIns="0" bIns="0" rtlCol="0" anchor="t">
            <a:normAutofit/>
          </a:bodyPr>
          <a:lstStyle/>
          <a:p>
            <a:pPr algn="ctr" indent="0" marL="0">
              <a:lnSpc>
                <a:spcPct val="100000"/>
              </a:lnSpc>
              <a:buNone/>
            </a:pPr>
            <a:r>
              <a:rPr lang="en-US" sz="1300" b="1" dirty="0">
                <a:solidFill>
                  <a:srgbClr val="EF3340"/>
                </a:solidFill>
                <a:latin typeface="Arial" pitchFamily="34" charset="0"/>
                <a:ea typeface="Arial" pitchFamily="34" charset="-122"/>
                <a:cs typeface="Arial" pitchFamily="34" charset="-120"/>
              </a:rPr>
              <a:t>priority safety mailbox</a:t>
            </a:r>
            <a:endParaRPr lang="en-US" sz="1300" dirty="0"/>
          </a:p>
        </p:txBody>
      </p:sp>
      <p:sp>
        <p:nvSpPr>
          <p:cNvPr id="21" name="Text 19"/>
          <p:cNvSpPr/>
          <p:nvPr/>
        </p:nvSpPr>
        <p:spPr>
          <a:xfrm>
            <a:off x="2926080" y="5440680"/>
            <a:ext cx="6400800" cy="457200"/>
          </a:xfrm>
          <a:prstGeom prst="rect">
            <a:avLst/>
          </a:prstGeom>
          <a:noFill/>
          <a:ln/>
        </p:spPr>
        <p:txBody>
          <a:bodyPr wrap="square" lIns="0" tIns="0" rIns="0" bIns="0" rtlCol="0" anchor="t">
            <a:normAutofit/>
          </a:bodyPr>
          <a:lstStyle/>
          <a:p>
            <a:pPr algn="ctr" indent="0" marL="0">
              <a:lnSpc>
                <a:spcPct val="100000"/>
              </a:lnSpc>
              <a:buNone/>
            </a:pPr>
            <a:r>
              <a:rPr lang="en-US" sz="2400" b="1" dirty="0">
                <a:solidFill>
                  <a:srgbClr val="0B0B0B"/>
                </a:solidFill>
                <a:latin typeface="Arial" pitchFamily="34" charset="0"/>
                <a:ea typeface="Arial" pitchFamily="34" charset="-122"/>
                <a:cs typeface="Arial" pitchFamily="34" charset="-120"/>
              </a:rPr>
              <a:t>Safety traffic is not ordinary traffic.</a:t>
            </a:r>
            <a:endParaRPr lang="en-US" sz="2400" dirty="0"/>
          </a:p>
        </p:txBody>
      </p:sp>
      <p:sp>
        <p:nvSpPr>
          <p:cNvPr id="22" name="Text 20"/>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github.com/specdog/leash</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0AA"/>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OWNERSHIP</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16</a:t>
            </a:r>
            <a:endParaRPr lang="en-US" sz="950" dirty="0"/>
          </a:p>
        </p:txBody>
      </p:sp>
      <p:sp>
        <p:nvSpPr>
          <p:cNvPr id="5" name="Text 3"/>
          <p:cNvSpPr/>
          <p:nvPr/>
        </p:nvSpPr>
        <p:spPr>
          <a:xfrm>
            <a:off x="502920" y="566928"/>
            <a:ext cx="11109960" cy="914400"/>
          </a:xfrm>
          <a:prstGeom prst="rect">
            <a:avLst/>
          </a:prstGeom>
          <a:noFill/>
          <a:ln/>
        </p:spPr>
        <p:txBody>
          <a:bodyPr wrap="square" lIns="0" tIns="0" rIns="0" bIns="0" rtlCol="0" anchor="ctr">
            <a:normAutofit/>
          </a:bodyPr>
          <a:lstStyle/>
          <a:p>
            <a:pPr indent="0" marL="0">
              <a:buNone/>
            </a:pPr>
            <a:r>
              <a:rPr lang="en-US" sz="3300" b="1" dirty="0">
                <a:solidFill>
                  <a:srgbClr val="0B0B0B"/>
                </a:solidFill>
                <a:latin typeface="Arial Black" pitchFamily="34" charset="0"/>
                <a:ea typeface="Arial Black" pitchFamily="34" charset="-122"/>
                <a:cs typeface="Arial Black" pitchFamily="34" charset="-120"/>
              </a:rPr>
              <a:t>Associated types keep adapters concrete.</a:t>
            </a:r>
            <a:endParaRPr lang="en-US" sz="3300" dirty="0"/>
          </a:p>
        </p:txBody>
      </p:sp>
      <p:sp>
        <p:nvSpPr>
          <p:cNvPr id="6" name="Shape 4"/>
          <p:cNvSpPr/>
          <p:nvPr/>
        </p:nvSpPr>
        <p:spPr>
          <a:xfrm>
            <a:off x="566928" y="1234440"/>
            <a:ext cx="6675120" cy="4828032"/>
          </a:xfrm>
          <a:prstGeom prst="rect">
            <a:avLst/>
          </a:prstGeom>
          <a:solidFill>
            <a:srgbClr val="0B0B0B"/>
          </a:solidFill>
          <a:ln w="27940">
            <a:solidFill>
              <a:srgbClr val="0B0B0B"/>
            </a:solidFill>
            <a:prstDash val="solid"/>
          </a:ln>
        </p:spPr>
      </p:sp>
      <p:sp>
        <p:nvSpPr>
          <p:cNvPr id="7" name="Text 5"/>
          <p:cNvSpPr/>
          <p:nvPr/>
        </p:nvSpPr>
        <p:spPr>
          <a:xfrm>
            <a:off x="859536" y="1527048"/>
            <a:ext cx="6089904" cy="4242816"/>
          </a:xfrm>
          <a:prstGeom prst="rect">
            <a:avLst/>
          </a:prstGeom>
          <a:noFill/>
          <a:ln/>
        </p:spPr>
        <p:txBody>
          <a:bodyPr wrap="square" lIns="0" tIns="0" rIns="0" bIns="0" rtlCol="0" anchor="ctr">
            <a:normAutofit/>
          </a:bodyPr>
          <a:lstStyle/>
          <a:p>
            <a:pPr algn="l" indent="0" marL="0">
              <a:lnSpc>
                <a:spcPct val="100000"/>
              </a:lnSpc>
              <a:buNone/>
            </a:pPr>
            <a:r>
              <a:rPr lang="en-US" sz="1750" b="1" dirty="0">
                <a:solidFill>
                  <a:srgbClr val="FFFFFF"/>
                </a:solidFill>
                <a:latin typeface="Courier New" pitchFamily="34" charset="0"/>
                <a:ea typeface="Courier New" pitchFamily="34" charset="-122"/>
                <a:cs typeface="Courier New" pitchFamily="34" charset="-120"/>
              </a:rPr>
              <a:t>pub trait ActuationPort: Send + 'static {</a:t>
            </a:r>
            <a:endParaRPr lang="en-US" sz="1750" dirty="0"/>
          </a:p>
          <a:p>
            <a:pPr algn="l" indent="0" marL="0">
              <a:lnSpc>
                <a:spcPct val="100000"/>
              </a:lnSpc>
              <a:buNone/>
            </a:pPr>
            <a:r>
              <a:rPr lang="en-US" sz="1750" b="1" dirty="0">
                <a:solidFill>
                  <a:srgbClr val="FFFFFF"/>
                </a:solidFill>
                <a:latin typeface="Courier New" pitchFamily="34" charset="0"/>
                <a:ea typeface="Courier New" pitchFamily="34" charset="-122"/>
                <a:cs typeface="Courier New" pitchFamily="34" charset="-120"/>
              </a:rPr>
              <a:t>  type Acknowledgement:</a:t>
            </a:r>
            <a:endParaRPr lang="en-US" sz="1750" dirty="0"/>
          </a:p>
          <a:p>
            <a:pPr algn="l" indent="0" marL="0">
              <a:lnSpc>
                <a:spcPct val="100000"/>
              </a:lnSpc>
              <a:buNone/>
            </a:pPr>
            <a:r>
              <a:rPr lang="en-US" sz="1750" b="1" dirty="0">
                <a:solidFill>
                  <a:srgbClr val="FFFFFF"/>
                </a:solidFill>
                <a:latin typeface="Courier New" pitchFamily="34" charset="0"/>
                <a:ea typeface="Courier New" pitchFamily="34" charset="-122"/>
                <a:cs typeface="Courier New" pitchFamily="34" charset="-120"/>
              </a:rPr>
              <a:t>    ActuationAcknowledgement;</a:t>
            </a:r>
            <a:endParaRPr lang="en-US" sz="1750" dirty="0"/>
          </a:p>
          <a:p>
            <a:pPr algn="l" indent="0" marL="0">
              <a:lnSpc>
                <a:spcPct val="100000"/>
              </a:lnSpc>
              <a:buNone/>
            </a:pPr>
            <a:r>
              <a:rPr lang="en-US" sz="1750" b="1" dirty="0">
                <a:solidFill>
                  <a:srgbClr val="FFFFFF"/>
                </a:solidFill>
                <a:latin typeface="Courier New" pitchFamily="34" charset="0"/>
                <a:ea typeface="Courier New" pitchFamily="34" charset="-122"/>
                <a:cs typeface="Courier New" pitchFamily="34" charset="-120"/>
              </a:rPr>
              <a:t>  type Error:</a:t>
            </a:r>
            <a:endParaRPr lang="en-US" sz="1750" dirty="0"/>
          </a:p>
          <a:p>
            <a:pPr algn="l" indent="0" marL="0">
              <a:lnSpc>
                <a:spcPct val="100000"/>
              </a:lnSpc>
              <a:buNone/>
            </a:pPr>
            <a:r>
              <a:rPr lang="en-US" sz="1750" b="1" dirty="0">
                <a:solidFill>
                  <a:srgbClr val="FFFFFF"/>
                </a:solidFill>
                <a:latin typeface="Courier New" pitchFamily="34" charset="0"/>
                <a:ea typeface="Courier New" pitchFamily="34" charset="-122"/>
                <a:cs typeface="Courier New" pitchFamily="34" charset="-120"/>
              </a:rPr>
              <a:t>    Display + Send + 'static;</a:t>
            </a:r>
            <a:endParaRPr lang="en-US" sz="1750" dirty="0"/>
          </a:p>
          <a:p>
            <a:pPr algn="l" indent="0" marL="0">
              <a:lnSpc>
                <a:spcPct val="100000"/>
              </a:lnSpc>
              <a:buNone/>
            </a:pPr>
            <a:endParaRPr lang="en-US" sz="1750" dirty="0"/>
          </a:p>
          <a:p>
            <a:pPr algn="l" indent="0" marL="0">
              <a:lnSpc>
                <a:spcPct val="100000"/>
              </a:lnSpc>
              <a:buNone/>
            </a:pPr>
            <a:r>
              <a:rPr lang="en-US" sz="1750" b="1" dirty="0">
                <a:solidFill>
                  <a:srgbClr val="FFFFFF"/>
                </a:solidFill>
                <a:latin typeface="Courier New" pitchFamily="34" charset="0"/>
                <a:ea typeface="Courier New" pitchFamily="34" charset="-122"/>
                <a:cs typeface="Courier New" pitchFamily="34" charset="-120"/>
              </a:rPr>
              <a:t>  fn submit_drive(</a:t>
            </a:r>
            <a:endParaRPr lang="en-US" sz="1750" dirty="0"/>
          </a:p>
          <a:p>
            <a:pPr algn="l" indent="0" marL="0">
              <a:lnSpc>
                <a:spcPct val="100000"/>
              </a:lnSpc>
              <a:buNone/>
            </a:pPr>
            <a:r>
              <a:rPr lang="en-US" sz="1750" b="1" dirty="0">
                <a:solidFill>
                  <a:srgbClr val="FFFFFF"/>
                </a:solidFill>
                <a:latin typeface="Courier New" pitchFamily="34" charset="0"/>
                <a:ea typeface="Courier New" pitchFamily="34" charset="-122"/>
                <a:cs typeface="Courier New" pitchFamily="34" charset="-120"/>
              </a:rPr>
              <a:t>    &amp;mut self,</a:t>
            </a:r>
            <a:endParaRPr lang="en-US" sz="1750" dirty="0"/>
          </a:p>
          <a:p>
            <a:pPr algn="l" indent="0" marL="0">
              <a:lnSpc>
                <a:spcPct val="100000"/>
              </a:lnSpc>
              <a:buNone/>
            </a:pPr>
            <a:r>
              <a:rPr lang="en-US" sz="1750" b="1" dirty="0">
                <a:solidFill>
                  <a:srgbClr val="FFFFFF"/>
                </a:solidFill>
                <a:latin typeface="Courier New" pitchFamily="34" charset="0"/>
                <a:ea typeface="Courier New" pitchFamily="34" charset="-122"/>
                <a:cs typeface="Courier New" pitchFamily="34" charset="-120"/>
              </a:rPr>
              <a:t>    command: Authorized&lt;DifferentialDrive&gt;,</a:t>
            </a:r>
            <a:endParaRPr lang="en-US" sz="1750" dirty="0"/>
          </a:p>
          <a:p>
            <a:pPr algn="l" indent="0" marL="0">
              <a:lnSpc>
                <a:spcPct val="100000"/>
              </a:lnSpc>
              <a:buNone/>
            </a:pPr>
            <a:r>
              <a:rPr lang="en-US" sz="1750" b="1" dirty="0">
                <a:solidFill>
                  <a:srgbClr val="FFFFFF"/>
                </a:solidFill>
                <a:latin typeface="Courier New" pitchFamily="34" charset="0"/>
                <a:ea typeface="Courier New" pitchFamily="34" charset="-122"/>
                <a:cs typeface="Courier New" pitchFamily="34" charset="-120"/>
              </a:rPr>
              <a:t>  ) -&gt; Result&lt;(), Self::Error&gt;;</a:t>
            </a:r>
            <a:endParaRPr lang="en-US" sz="1750" dirty="0"/>
          </a:p>
          <a:p>
            <a:pPr algn="l" indent="0" marL="0">
              <a:lnSpc>
                <a:spcPct val="100000"/>
              </a:lnSpc>
              <a:buNone/>
            </a:pPr>
            <a:r>
              <a:rPr lang="en-US" sz="1750" b="1" dirty="0">
                <a:solidFill>
                  <a:srgbClr val="FFFFFF"/>
                </a:solidFill>
                <a:latin typeface="Courier New" pitchFamily="34" charset="0"/>
                <a:ea typeface="Courier New" pitchFamily="34" charset="-122"/>
                <a:cs typeface="Courier New" pitchFamily="34" charset="-120"/>
              </a:rPr>
              <a:t>}</a:t>
            </a:r>
            <a:endParaRPr lang="en-US" sz="1750" dirty="0"/>
          </a:p>
        </p:txBody>
      </p:sp>
      <p:sp>
        <p:nvSpPr>
          <p:cNvPr id="8" name="Text 6"/>
          <p:cNvSpPr/>
          <p:nvPr/>
        </p:nvSpPr>
        <p:spPr>
          <a:xfrm>
            <a:off x="7845552" y="1536192"/>
            <a:ext cx="3474720" cy="365760"/>
          </a:xfrm>
          <a:prstGeom prst="rect">
            <a:avLst/>
          </a:prstGeom>
          <a:noFill/>
          <a:ln/>
        </p:spPr>
        <p:txBody>
          <a:bodyPr wrap="square" lIns="0" tIns="0" rIns="0" bIns="0" rtlCol="0" anchor="t">
            <a:normAutofit/>
          </a:bodyPr>
          <a:lstStyle/>
          <a:p>
            <a:pPr algn="l" indent="0" marL="0">
              <a:lnSpc>
                <a:spcPct val="100000"/>
              </a:lnSpc>
              <a:buNone/>
            </a:pPr>
            <a:r>
              <a:rPr lang="en-US" sz="2500" b="1" dirty="0">
                <a:solidFill>
                  <a:srgbClr val="2855FF"/>
                </a:solidFill>
                <a:latin typeface="Arial" pitchFamily="34" charset="0"/>
                <a:ea typeface="Arial" pitchFamily="34" charset="-122"/>
                <a:cs typeface="Arial" pitchFamily="34" charset="-120"/>
              </a:rPr>
              <a:t>&amp;mut self</a:t>
            </a:r>
            <a:endParaRPr lang="en-US" sz="2500" dirty="0"/>
          </a:p>
        </p:txBody>
      </p:sp>
      <p:sp>
        <p:nvSpPr>
          <p:cNvPr id="9" name="Text 7"/>
          <p:cNvSpPr/>
          <p:nvPr/>
        </p:nvSpPr>
        <p:spPr>
          <a:xfrm>
            <a:off x="7863840" y="2011680"/>
            <a:ext cx="3337560" cy="329184"/>
          </a:xfrm>
          <a:prstGeom prst="rect">
            <a:avLst/>
          </a:prstGeom>
          <a:noFill/>
          <a:ln/>
        </p:spPr>
        <p:txBody>
          <a:bodyPr wrap="square" lIns="0" tIns="0" rIns="0" bIns="0" rtlCol="0" anchor="t">
            <a:normAutofit/>
          </a:bodyPr>
          <a:lstStyle/>
          <a:p>
            <a:pPr algn="l" indent="0" marL="0">
              <a:lnSpc>
                <a:spcPct val="100000"/>
              </a:lnSpc>
              <a:buNone/>
            </a:pPr>
            <a:r>
              <a:rPr lang="en-US" sz="1500" b="1" dirty="0">
                <a:solidFill>
                  <a:srgbClr val="6B6B66"/>
                </a:solidFill>
                <a:latin typeface="Arial" pitchFamily="34" charset="0"/>
                <a:ea typeface="Arial" pitchFamily="34" charset="-122"/>
                <a:cs typeface="Arial" pitchFamily="34" charset="-120"/>
              </a:rPr>
              <a:t>exclusive mutable access</a:t>
            </a:r>
            <a:endParaRPr lang="en-US" sz="1500" dirty="0"/>
          </a:p>
        </p:txBody>
      </p:sp>
      <p:sp>
        <p:nvSpPr>
          <p:cNvPr id="10" name="Text 8"/>
          <p:cNvSpPr/>
          <p:nvPr/>
        </p:nvSpPr>
        <p:spPr>
          <a:xfrm>
            <a:off x="7845552" y="2743200"/>
            <a:ext cx="3474720" cy="365760"/>
          </a:xfrm>
          <a:prstGeom prst="rect">
            <a:avLst/>
          </a:prstGeom>
          <a:noFill/>
          <a:ln/>
        </p:spPr>
        <p:txBody>
          <a:bodyPr wrap="square" lIns="0" tIns="0" rIns="0" bIns="0" rtlCol="0" anchor="t">
            <a:normAutofit/>
          </a:bodyPr>
          <a:lstStyle/>
          <a:p>
            <a:pPr algn="l" indent="0" marL="0">
              <a:lnSpc>
                <a:spcPct val="100000"/>
              </a:lnSpc>
              <a:buNone/>
            </a:pPr>
            <a:r>
              <a:rPr lang="en-US" sz="2500" b="1" dirty="0">
                <a:solidFill>
                  <a:srgbClr val="FF5B9D"/>
                </a:solidFill>
                <a:latin typeface="Arial" pitchFamily="34" charset="0"/>
                <a:ea typeface="Arial" pitchFamily="34" charset="-122"/>
                <a:cs typeface="Arial" pitchFamily="34" charset="-120"/>
              </a:rPr>
              <a:t>Self::Error</a:t>
            </a:r>
            <a:endParaRPr lang="en-US" sz="2500" dirty="0"/>
          </a:p>
        </p:txBody>
      </p:sp>
      <p:sp>
        <p:nvSpPr>
          <p:cNvPr id="11" name="Text 9"/>
          <p:cNvSpPr/>
          <p:nvPr/>
        </p:nvSpPr>
        <p:spPr>
          <a:xfrm>
            <a:off x="7863840" y="3218688"/>
            <a:ext cx="3337560" cy="457200"/>
          </a:xfrm>
          <a:prstGeom prst="rect">
            <a:avLst/>
          </a:prstGeom>
          <a:noFill/>
          <a:ln/>
        </p:spPr>
        <p:txBody>
          <a:bodyPr wrap="square" lIns="0" tIns="0" rIns="0" bIns="0" rtlCol="0" anchor="t">
            <a:normAutofit/>
          </a:bodyPr>
          <a:lstStyle/>
          <a:p>
            <a:pPr algn="l" indent="0" marL="0">
              <a:lnSpc>
                <a:spcPct val="100000"/>
              </a:lnSpc>
              <a:buNone/>
            </a:pPr>
            <a:r>
              <a:rPr lang="en-US" sz="1500" b="1" dirty="0">
                <a:solidFill>
                  <a:srgbClr val="6B6B66"/>
                </a:solidFill>
                <a:latin typeface="Arial" pitchFamily="34" charset="0"/>
                <a:ea typeface="Arial" pitchFamily="34" charset="-122"/>
                <a:cs typeface="Arial" pitchFamily="34" charset="-120"/>
              </a:rPr>
              <a:t>adapter-specific, statically known</a:t>
            </a:r>
            <a:endParaRPr lang="en-US" sz="1500" dirty="0"/>
          </a:p>
        </p:txBody>
      </p:sp>
      <p:sp>
        <p:nvSpPr>
          <p:cNvPr id="12" name="Text 10"/>
          <p:cNvSpPr/>
          <p:nvPr/>
        </p:nvSpPr>
        <p:spPr>
          <a:xfrm>
            <a:off x="7845552" y="4069080"/>
            <a:ext cx="3474720" cy="365760"/>
          </a:xfrm>
          <a:prstGeom prst="rect">
            <a:avLst/>
          </a:prstGeom>
          <a:noFill/>
          <a:ln/>
        </p:spPr>
        <p:txBody>
          <a:bodyPr wrap="square" lIns="0" tIns="0" rIns="0" bIns="0" rtlCol="0" anchor="t">
            <a:normAutofit/>
          </a:bodyPr>
          <a:lstStyle/>
          <a:p>
            <a:pPr algn="l" indent="0" marL="0">
              <a:lnSpc>
                <a:spcPct val="100000"/>
              </a:lnSpc>
              <a:buNone/>
            </a:pPr>
            <a:r>
              <a:rPr lang="en-US" sz="2500" b="1" dirty="0">
                <a:solidFill>
                  <a:srgbClr val="0B0B0B"/>
                </a:solidFill>
                <a:latin typeface="Arial" pitchFamily="34" charset="0"/>
                <a:ea typeface="Arial" pitchFamily="34" charset="-122"/>
                <a:cs typeface="Arial" pitchFamily="34" charset="-120"/>
              </a:rPr>
              <a:t>Authorized&lt;…&gt;</a:t>
            </a:r>
            <a:endParaRPr lang="en-US" sz="2500" dirty="0"/>
          </a:p>
        </p:txBody>
      </p:sp>
      <p:sp>
        <p:nvSpPr>
          <p:cNvPr id="13" name="Text 11"/>
          <p:cNvSpPr/>
          <p:nvPr/>
        </p:nvSpPr>
        <p:spPr>
          <a:xfrm>
            <a:off x="7863840" y="4553712"/>
            <a:ext cx="3337560" cy="365760"/>
          </a:xfrm>
          <a:prstGeom prst="rect">
            <a:avLst/>
          </a:prstGeom>
          <a:noFill/>
          <a:ln/>
        </p:spPr>
        <p:txBody>
          <a:bodyPr wrap="square" lIns="0" tIns="0" rIns="0" bIns="0" rtlCol="0" anchor="t">
            <a:normAutofit/>
          </a:bodyPr>
          <a:lstStyle/>
          <a:p>
            <a:pPr algn="l" indent="0" marL="0">
              <a:lnSpc>
                <a:spcPct val="100000"/>
              </a:lnSpc>
              <a:buNone/>
            </a:pPr>
            <a:r>
              <a:rPr lang="en-US" sz="1500" b="1" dirty="0">
                <a:solidFill>
                  <a:srgbClr val="6B6B66"/>
                </a:solidFill>
                <a:latin typeface="Arial" pitchFamily="34" charset="0"/>
                <a:ea typeface="Arial" pitchFamily="34" charset="-122"/>
                <a:cs typeface="Arial" pitchFamily="34" charset="-120"/>
              </a:rPr>
              <a:t>raw candidates cannot cross</a:t>
            </a:r>
            <a:endParaRPr lang="en-US" sz="1500" dirty="0"/>
          </a:p>
        </p:txBody>
      </p:sp>
      <p:sp>
        <p:nvSpPr>
          <p:cNvPr id="14" name="Shape 12"/>
          <p:cNvSpPr/>
          <p:nvPr/>
        </p:nvSpPr>
        <p:spPr>
          <a:xfrm>
            <a:off x="7754112" y="5376672"/>
            <a:ext cx="3611880" cy="384048"/>
          </a:xfrm>
          <a:prstGeom prst="roundRect">
            <a:avLst>
              <a:gd name="adj" fmla="val 19048"/>
            </a:avLst>
          </a:prstGeom>
          <a:solidFill>
            <a:srgbClr val="B8FF32"/>
          </a:solidFill>
          <a:ln w="19050">
            <a:solidFill>
              <a:srgbClr val="0B0B0B"/>
            </a:solidFill>
            <a:prstDash val="solid"/>
          </a:ln>
        </p:spPr>
      </p:sp>
      <p:sp>
        <p:nvSpPr>
          <p:cNvPr id="15" name="Text 13"/>
          <p:cNvSpPr/>
          <p:nvPr/>
        </p:nvSpPr>
        <p:spPr>
          <a:xfrm>
            <a:off x="7863840" y="5449824"/>
            <a:ext cx="3392424" cy="219456"/>
          </a:xfrm>
          <a:prstGeom prst="rect">
            <a:avLst/>
          </a:prstGeom>
          <a:noFill/>
          <a:ln/>
        </p:spPr>
        <p:txBody>
          <a:bodyPr wrap="square" lIns="0" tIns="0" rIns="0" bIns="0" rtlCol="0" anchor="ctr">
            <a:normAutofit/>
          </a:bodyPr>
          <a:lstStyle/>
          <a:p>
            <a:pPr algn="ctr" indent="0" marL="0">
              <a:lnSpc>
                <a:spcPct val="100000"/>
              </a:lnSpc>
              <a:buNone/>
            </a:pPr>
            <a:r>
              <a:rPr lang="en-US" sz="920" b="1" dirty="0">
                <a:solidFill>
                  <a:srgbClr val="0B0B0B"/>
                </a:solidFill>
                <a:latin typeface="Arial" pitchFamily="34" charset="0"/>
                <a:ea typeface="Arial" pitchFamily="34" charset="-122"/>
                <a:cs typeface="Arial" pitchFamily="34" charset="-120"/>
              </a:rPr>
              <a:t>DYNAMIC HARDWARE • STATIC CONTRACT</a:t>
            </a:r>
            <a:endParaRPr lang="en-US" sz="920" dirty="0"/>
          </a:p>
        </p:txBody>
      </p:sp>
      <p:sp>
        <p:nvSpPr>
          <p:cNvPr id="16" name="Text 14"/>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github.com/specdog/leash</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SENSORS</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17</a:t>
            </a:r>
            <a:endParaRPr lang="en-US" sz="950" dirty="0"/>
          </a:p>
        </p:txBody>
      </p:sp>
      <p:sp>
        <p:nvSpPr>
          <p:cNvPr id="5" name="Text 3"/>
          <p:cNvSpPr/>
          <p:nvPr/>
        </p:nvSpPr>
        <p:spPr>
          <a:xfrm>
            <a:off x="502920" y="566928"/>
            <a:ext cx="11109960" cy="914400"/>
          </a:xfrm>
          <a:prstGeom prst="rect">
            <a:avLst/>
          </a:prstGeom>
          <a:noFill/>
          <a:ln/>
        </p:spPr>
        <p:txBody>
          <a:bodyPr wrap="square" lIns="0" tIns="0" rIns="0" bIns="0" rtlCol="0" anchor="ctr">
            <a:normAutofit/>
          </a:bodyPr>
          <a:lstStyle/>
          <a:p>
            <a:pPr indent="0" marL="0">
              <a:buNone/>
            </a:pPr>
            <a:r>
              <a:rPr lang="en-US" sz="3400" b="1" dirty="0">
                <a:solidFill>
                  <a:srgbClr val="0B0B0B"/>
                </a:solidFill>
                <a:latin typeface="Arial Black" pitchFamily="34" charset="0"/>
                <a:ea typeface="Arial Black" pitchFamily="34" charset="-122"/>
                <a:cs typeface="Arial Black" pitchFamily="34" charset="-120"/>
              </a:rPr>
              <a:t>Freshness is a first-class input to motion.</a:t>
            </a:r>
            <a:endParaRPr lang="en-US" sz="3400" dirty="0"/>
          </a:p>
        </p:txBody>
      </p:sp>
      <p:sp>
        <p:nvSpPr>
          <p:cNvPr id="6" name="Shape 4"/>
          <p:cNvSpPr/>
          <p:nvPr/>
        </p:nvSpPr>
        <p:spPr>
          <a:xfrm>
            <a:off x="658368" y="1481328"/>
            <a:ext cx="713232" cy="713232"/>
          </a:xfrm>
          <a:prstGeom prst="ellipse">
            <a:avLst/>
          </a:prstGeom>
          <a:solidFill>
            <a:srgbClr val="B8FF32"/>
          </a:solidFill>
          <a:ln w="29210">
            <a:solidFill>
              <a:srgbClr val="0B0B0B"/>
            </a:solidFill>
            <a:prstDash val="solid"/>
          </a:ln>
        </p:spPr>
      </p:sp>
      <p:sp>
        <p:nvSpPr>
          <p:cNvPr id="7" name="Text 5"/>
          <p:cNvSpPr/>
          <p:nvPr/>
        </p:nvSpPr>
        <p:spPr>
          <a:xfrm>
            <a:off x="658368" y="1664208"/>
            <a:ext cx="713232" cy="274320"/>
          </a:xfrm>
          <a:prstGeom prst="rect">
            <a:avLst/>
          </a:prstGeom>
          <a:noFill/>
          <a:ln/>
        </p:spPr>
        <p:txBody>
          <a:bodyPr wrap="square" lIns="0" tIns="0" rIns="0" bIns="0" rtlCol="0" anchor="t">
            <a:normAutofit/>
          </a:bodyPr>
          <a:lstStyle/>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1</a:t>
            </a:r>
            <a:endParaRPr lang="en-US" sz="1800" dirty="0"/>
          </a:p>
        </p:txBody>
      </p:sp>
      <p:sp>
        <p:nvSpPr>
          <p:cNvPr id="8" name="Text 6"/>
          <p:cNvSpPr/>
          <p:nvPr/>
        </p:nvSpPr>
        <p:spPr>
          <a:xfrm>
            <a:off x="1591056" y="1499616"/>
            <a:ext cx="2468880" cy="320040"/>
          </a:xfrm>
          <a:prstGeom prst="rect">
            <a:avLst/>
          </a:prstGeom>
          <a:noFill/>
          <a:ln/>
        </p:spPr>
        <p:txBody>
          <a:bodyPr wrap="square" lIns="0" tIns="0" rIns="0" bIns="0" rtlCol="0" anchor="t">
            <a:normAutofit/>
          </a:bodyPr>
          <a:lstStyle/>
          <a:p>
            <a:pPr algn="l" indent="0" marL="0">
              <a:lnSpc>
                <a:spcPct val="100000"/>
              </a:lnSpc>
              <a:buNone/>
            </a:pPr>
            <a:r>
              <a:rPr lang="en-US" sz="1900" b="1" dirty="0">
                <a:solidFill>
                  <a:srgbClr val="0B0B0B"/>
                </a:solidFill>
                <a:latin typeface="Arial" pitchFamily="34" charset="0"/>
                <a:ea typeface="Arial" pitchFamily="34" charset="-122"/>
                <a:cs typeface="Arial" pitchFamily="34" charset="-120"/>
              </a:rPr>
              <a:t>LIDAR</a:t>
            </a:r>
            <a:endParaRPr lang="en-US" sz="1900" dirty="0"/>
          </a:p>
        </p:txBody>
      </p:sp>
      <p:sp>
        <p:nvSpPr>
          <p:cNvPr id="9" name="Text 7"/>
          <p:cNvSpPr/>
          <p:nvPr/>
        </p:nvSpPr>
        <p:spPr>
          <a:xfrm>
            <a:off x="1591056" y="1920240"/>
            <a:ext cx="2468880" cy="384048"/>
          </a:xfrm>
          <a:prstGeom prst="rect">
            <a:avLst/>
          </a:prstGeom>
          <a:noFill/>
          <a:ln/>
        </p:spPr>
        <p:txBody>
          <a:bodyPr wrap="square" lIns="0" tIns="0" rIns="0" bIns="0" rtlCol="0" anchor="t">
            <a:normAutofit/>
          </a:bodyPr>
          <a:lstStyle/>
          <a:p>
            <a:pPr algn="l" indent="0" marL="0">
              <a:lnSpc>
                <a:spcPct val="100000"/>
              </a:lnSpc>
              <a:buNone/>
            </a:pPr>
            <a:r>
              <a:rPr lang="en-US" sz="1400" dirty="0">
                <a:solidFill>
                  <a:srgbClr val="6B6B66"/>
                </a:solidFill>
                <a:latin typeface="Arial" pitchFamily="34" charset="0"/>
                <a:ea typeface="Arial" pitchFamily="34" charset="-122"/>
                <a:cs typeface="Arial" pitchFamily="34" charset="-120"/>
              </a:rPr>
              <a:t>range + clearance</a:t>
            </a:r>
            <a:endParaRPr lang="en-US" sz="1400" dirty="0"/>
          </a:p>
        </p:txBody>
      </p:sp>
      <p:sp>
        <p:nvSpPr>
          <p:cNvPr id="10" name="Shape 8"/>
          <p:cNvSpPr/>
          <p:nvPr/>
        </p:nvSpPr>
        <p:spPr>
          <a:xfrm>
            <a:off x="4453128" y="1481328"/>
            <a:ext cx="713232" cy="713232"/>
          </a:xfrm>
          <a:prstGeom prst="ellipse">
            <a:avLst/>
          </a:prstGeom>
          <a:solidFill>
            <a:srgbClr val="DDE5FF"/>
          </a:solidFill>
          <a:ln w="29210">
            <a:solidFill>
              <a:srgbClr val="0B0B0B"/>
            </a:solidFill>
            <a:prstDash val="solid"/>
          </a:ln>
        </p:spPr>
      </p:sp>
      <p:sp>
        <p:nvSpPr>
          <p:cNvPr id="11" name="Text 9"/>
          <p:cNvSpPr/>
          <p:nvPr/>
        </p:nvSpPr>
        <p:spPr>
          <a:xfrm>
            <a:off x="4453128" y="1664208"/>
            <a:ext cx="713232" cy="274320"/>
          </a:xfrm>
          <a:prstGeom prst="rect">
            <a:avLst/>
          </a:prstGeom>
          <a:noFill/>
          <a:ln/>
        </p:spPr>
        <p:txBody>
          <a:bodyPr wrap="square" lIns="0" tIns="0" rIns="0" bIns="0" rtlCol="0" anchor="t">
            <a:normAutofit/>
          </a:bodyPr>
          <a:lstStyle/>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2</a:t>
            </a:r>
            <a:endParaRPr lang="en-US" sz="1800" dirty="0"/>
          </a:p>
        </p:txBody>
      </p:sp>
      <p:sp>
        <p:nvSpPr>
          <p:cNvPr id="12" name="Text 10"/>
          <p:cNvSpPr/>
          <p:nvPr/>
        </p:nvSpPr>
        <p:spPr>
          <a:xfrm>
            <a:off x="5385816" y="1499616"/>
            <a:ext cx="2468880" cy="320040"/>
          </a:xfrm>
          <a:prstGeom prst="rect">
            <a:avLst/>
          </a:prstGeom>
          <a:noFill/>
          <a:ln/>
        </p:spPr>
        <p:txBody>
          <a:bodyPr wrap="square" lIns="0" tIns="0" rIns="0" bIns="0" rtlCol="0" anchor="t">
            <a:normAutofit/>
          </a:bodyPr>
          <a:lstStyle/>
          <a:p>
            <a:pPr algn="l" indent="0" marL="0">
              <a:lnSpc>
                <a:spcPct val="100000"/>
              </a:lnSpc>
              <a:buNone/>
            </a:pPr>
            <a:r>
              <a:rPr lang="en-US" sz="1900" b="1" dirty="0">
                <a:solidFill>
                  <a:srgbClr val="0B0B0B"/>
                </a:solidFill>
                <a:latin typeface="Arial" pitchFamily="34" charset="0"/>
                <a:ea typeface="Arial" pitchFamily="34" charset="-122"/>
                <a:cs typeface="Arial" pitchFamily="34" charset="-120"/>
              </a:rPr>
              <a:t>CAMERA</a:t>
            </a:r>
            <a:endParaRPr lang="en-US" sz="1900" dirty="0"/>
          </a:p>
        </p:txBody>
      </p:sp>
      <p:sp>
        <p:nvSpPr>
          <p:cNvPr id="13" name="Text 11"/>
          <p:cNvSpPr/>
          <p:nvPr/>
        </p:nvSpPr>
        <p:spPr>
          <a:xfrm>
            <a:off x="5385816" y="1920240"/>
            <a:ext cx="2468880" cy="384048"/>
          </a:xfrm>
          <a:prstGeom prst="rect">
            <a:avLst/>
          </a:prstGeom>
          <a:noFill/>
          <a:ln/>
        </p:spPr>
        <p:txBody>
          <a:bodyPr wrap="square" lIns="0" tIns="0" rIns="0" bIns="0" rtlCol="0" anchor="t">
            <a:normAutofit/>
          </a:bodyPr>
          <a:lstStyle/>
          <a:p>
            <a:pPr algn="l" indent="0" marL="0">
              <a:lnSpc>
                <a:spcPct val="100000"/>
              </a:lnSpc>
              <a:buNone/>
            </a:pPr>
            <a:r>
              <a:rPr lang="en-US" sz="1400" dirty="0">
                <a:solidFill>
                  <a:srgbClr val="6B6B66"/>
                </a:solidFill>
                <a:latin typeface="Arial" pitchFamily="34" charset="0"/>
                <a:ea typeface="Arial" pitchFamily="34" charset="-122"/>
                <a:cs typeface="Arial" pitchFamily="34" charset="-120"/>
              </a:rPr>
              <a:t>context + evidence</a:t>
            </a:r>
            <a:endParaRPr lang="en-US" sz="1400" dirty="0"/>
          </a:p>
        </p:txBody>
      </p:sp>
      <p:sp>
        <p:nvSpPr>
          <p:cNvPr id="14" name="Shape 12"/>
          <p:cNvSpPr/>
          <p:nvPr/>
        </p:nvSpPr>
        <p:spPr>
          <a:xfrm>
            <a:off x="8247888" y="1481328"/>
            <a:ext cx="713232" cy="713232"/>
          </a:xfrm>
          <a:prstGeom prst="ellipse">
            <a:avLst/>
          </a:prstGeom>
          <a:solidFill>
            <a:srgbClr val="FFD63D"/>
          </a:solidFill>
          <a:ln w="29210">
            <a:solidFill>
              <a:srgbClr val="0B0B0B"/>
            </a:solidFill>
            <a:prstDash val="solid"/>
          </a:ln>
        </p:spPr>
      </p:sp>
      <p:sp>
        <p:nvSpPr>
          <p:cNvPr id="15" name="Text 13"/>
          <p:cNvSpPr/>
          <p:nvPr/>
        </p:nvSpPr>
        <p:spPr>
          <a:xfrm>
            <a:off x="8247888" y="1664208"/>
            <a:ext cx="713232" cy="274320"/>
          </a:xfrm>
          <a:prstGeom prst="rect">
            <a:avLst/>
          </a:prstGeom>
          <a:noFill/>
          <a:ln/>
        </p:spPr>
        <p:txBody>
          <a:bodyPr wrap="square" lIns="0" tIns="0" rIns="0" bIns="0" rtlCol="0" anchor="t">
            <a:normAutofit/>
          </a:bodyPr>
          <a:lstStyle/>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3</a:t>
            </a:r>
            <a:endParaRPr lang="en-US" sz="1800" dirty="0"/>
          </a:p>
        </p:txBody>
      </p:sp>
      <p:sp>
        <p:nvSpPr>
          <p:cNvPr id="16" name="Text 14"/>
          <p:cNvSpPr/>
          <p:nvPr/>
        </p:nvSpPr>
        <p:spPr>
          <a:xfrm>
            <a:off x="9180576" y="1499616"/>
            <a:ext cx="2468880" cy="320040"/>
          </a:xfrm>
          <a:prstGeom prst="rect">
            <a:avLst/>
          </a:prstGeom>
          <a:noFill/>
          <a:ln/>
        </p:spPr>
        <p:txBody>
          <a:bodyPr wrap="square" lIns="0" tIns="0" rIns="0" bIns="0" rtlCol="0" anchor="t">
            <a:normAutofit/>
          </a:bodyPr>
          <a:lstStyle/>
          <a:p>
            <a:pPr algn="l" indent="0" marL="0">
              <a:lnSpc>
                <a:spcPct val="100000"/>
              </a:lnSpc>
              <a:buNone/>
            </a:pPr>
            <a:r>
              <a:rPr lang="en-US" sz="1900" b="1" dirty="0">
                <a:solidFill>
                  <a:srgbClr val="0B0B0B"/>
                </a:solidFill>
                <a:latin typeface="Arial" pitchFamily="34" charset="0"/>
                <a:ea typeface="Arial" pitchFamily="34" charset="-122"/>
                <a:cs typeface="Arial" pitchFamily="34" charset="-120"/>
              </a:rPr>
              <a:t>IMU</a:t>
            </a:r>
            <a:endParaRPr lang="en-US" sz="1900" dirty="0"/>
          </a:p>
        </p:txBody>
      </p:sp>
      <p:sp>
        <p:nvSpPr>
          <p:cNvPr id="17" name="Text 15"/>
          <p:cNvSpPr/>
          <p:nvPr/>
        </p:nvSpPr>
        <p:spPr>
          <a:xfrm>
            <a:off x="9180576" y="1920240"/>
            <a:ext cx="2468880" cy="384048"/>
          </a:xfrm>
          <a:prstGeom prst="rect">
            <a:avLst/>
          </a:prstGeom>
          <a:noFill/>
          <a:ln/>
        </p:spPr>
        <p:txBody>
          <a:bodyPr wrap="square" lIns="0" tIns="0" rIns="0" bIns="0" rtlCol="0" anchor="t">
            <a:normAutofit/>
          </a:bodyPr>
          <a:lstStyle/>
          <a:p>
            <a:pPr algn="l" indent="0" marL="0">
              <a:lnSpc>
                <a:spcPct val="100000"/>
              </a:lnSpc>
              <a:buNone/>
            </a:pPr>
            <a:r>
              <a:rPr lang="en-US" sz="1400" dirty="0">
                <a:solidFill>
                  <a:srgbClr val="6B6B66"/>
                </a:solidFill>
                <a:latin typeface="Arial" pitchFamily="34" charset="0"/>
                <a:ea typeface="Arial" pitchFamily="34" charset="-122"/>
                <a:cs typeface="Arial" pitchFamily="34" charset="-120"/>
              </a:rPr>
              <a:t>orientation + dynamics</a:t>
            </a:r>
            <a:endParaRPr lang="en-US" sz="1400" dirty="0"/>
          </a:p>
        </p:txBody>
      </p:sp>
      <p:sp>
        <p:nvSpPr>
          <p:cNvPr id="18" name="Shape 16"/>
          <p:cNvSpPr/>
          <p:nvPr/>
        </p:nvSpPr>
        <p:spPr>
          <a:xfrm>
            <a:off x="658368" y="3355848"/>
            <a:ext cx="713232" cy="713232"/>
          </a:xfrm>
          <a:prstGeom prst="ellipse">
            <a:avLst/>
          </a:prstGeom>
          <a:solidFill>
            <a:srgbClr val="FF5B9D"/>
          </a:solidFill>
          <a:ln w="29210">
            <a:solidFill>
              <a:srgbClr val="0B0B0B"/>
            </a:solidFill>
            <a:prstDash val="solid"/>
          </a:ln>
        </p:spPr>
      </p:sp>
      <p:sp>
        <p:nvSpPr>
          <p:cNvPr id="19" name="Text 17"/>
          <p:cNvSpPr/>
          <p:nvPr/>
        </p:nvSpPr>
        <p:spPr>
          <a:xfrm>
            <a:off x="658368" y="3538728"/>
            <a:ext cx="713232" cy="274320"/>
          </a:xfrm>
          <a:prstGeom prst="rect">
            <a:avLst/>
          </a:prstGeom>
          <a:noFill/>
          <a:ln/>
        </p:spPr>
        <p:txBody>
          <a:bodyPr wrap="square" lIns="0" tIns="0" rIns="0" bIns="0" rtlCol="0" anchor="t">
            <a:normAutofit/>
          </a:bodyPr>
          <a:lstStyle/>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4</a:t>
            </a:r>
            <a:endParaRPr lang="en-US" sz="1800" dirty="0"/>
          </a:p>
        </p:txBody>
      </p:sp>
      <p:sp>
        <p:nvSpPr>
          <p:cNvPr id="20" name="Text 18"/>
          <p:cNvSpPr/>
          <p:nvPr/>
        </p:nvSpPr>
        <p:spPr>
          <a:xfrm>
            <a:off x="1591056" y="3374136"/>
            <a:ext cx="2468880" cy="320040"/>
          </a:xfrm>
          <a:prstGeom prst="rect">
            <a:avLst/>
          </a:prstGeom>
          <a:noFill/>
          <a:ln/>
        </p:spPr>
        <p:txBody>
          <a:bodyPr wrap="square" lIns="0" tIns="0" rIns="0" bIns="0" rtlCol="0" anchor="t">
            <a:normAutofit/>
          </a:bodyPr>
          <a:lstStyle/>
          <a:p>
            <a:pPr algn="l" indent="0" marL="0">
              <a:lnSpc>
                <a:spcPct val="100000"/>
              </a:lnSpc>
              <a:buNone/>
            </a:pPr>
            <a:r>
              <a:rPr lang="en-US" sz="1900" b="1" dirty="0">
                <a:solidFill>
                  <a:srgbClr val="0B0B0B"/>
                </a:solidFill>
                <a:latin typeface="Arial" pitchFamily="34" charset="0"/>
                <a:ea typeface="Arial" pitchFamily="34" charset="-122"/>
                <a:cs typeface="Arial" pitchFamily="34" charset="-120"/>
              </a:rPr>
              <a:t>ODOMETRY</a:t>
            </a:r>
            <a:endParaRPr lang="en-US" sz="1900" dirty="0"/>
          </a:p>
        </p:txBody>
      </p:sp>
      <p:sp>
        <p:nvSpPr>
          <p:cNvPr id="21" name="Text 19"/>
          <p:cNvSpPr/>
          <p:nvPr/>
        </p:nvSpPr>
        <p:spPr>
          <a:xfrm>
            <a:off x="1591056" y="3794760"/>
            <a:ext cx="2468880" cy="384048"/>
          </a:xfrm>
          <a:prstGeom prst="rect">
            <a:avLst/>
          </a:prstGeom>
          <a:noFill/>
          <a:ln/>
        </p:spPr>
        <p:txBody>
          <a:bodyPr wrap="square" lIns="0" tIns="0" rIns="0" bIns="0" rtlCol="0" anchor="t">
            <a:normAutofit/>
          </a:bodyPr>
          <a:lstStyle/>
          <a:p>
            <a:pPr algn="l" indent="0" marL="0">
              <a:lnSpc>
                <a:spcPct val="100000"/>
              </a:lnSpc>
              <a:buNone/>
            </a:pPr>
            <a:r>
              <a:rPr lang="en-US" sz="1400" dirty="0">
                <a:solidFill>
                  <a:srgbClr val="6B6B66"/>
                </a:solidFill>
                <a:latin typeface="Arial" pitchFamily="34" charset="0"/>
                <a:ea typeface="Arial" pitchFamily="34" charset="-122"/>
                <a:cs typeface="Arial" pitchFamily="34" charset="-120"/>
              </a:rPr>
              <a:t>motion + displacement</a:t>
            </a:r>
            <a:endParaRPr lang="en-US" sz="1400" dirty="0"/>
          </a:p>
        </p:txBody>
      </p:sp>
      <p:sp>
        <p:nvSpPr>
          <p:cNvPr id="22" name="Shape 20"/>
          <p:cNvSpPr/>
          <p:nvPr/>
        </p:nvSpPr>
        <p:spPr>
          <a:xfrm>
            <a:off x="4453128" y="3355848"/>
            <a:ext cx="713232" cy="713232"/>
          </a:xfrm>
          <a:prstGeom prst="ellipse">
            <a:avLst/>
          </a:prstGeom>
          <a:solidFill>
            <a:srgbClr val="FFFDF7"/>
          </a:solidFill>
          <a:ln w="29210">
            <a:solidFill>
              <a:srgbClr val="0B0B0B"/>
            </a:solidFill>
            <a:prstDash val="solid"/>
          </a:ln>
        </p:spPr>
      </p:sp>
      <p:sp>
        <p:nvSpPr>
          <p:cNvPr id="23" name="Text 21"/>
          <p:cNvSpPr/>
          <p:nvPr/>
        </p:nvSpPr>
        <p:spPr>
          <a:xfrm>
            <a:off x="4453128" y="3538728"/>
            <a:ext cx="713232" cy="274320"/>
          </a:xfrm>
          <a:prstGeom prst="rect">
            <a:avLst/>
          </a:prstGeom>
          <a:noFill/>
          <a:ln/>
        </p:spPr>
        <p:txBody>
          <a:bodyPr wrap="square" lIns="0" tIns="0" rIns="0" bIns="0" rtlCol="0" anchor="t">
            <a:normAutofit/>
          </a:bodyPr>
          <a:lstStyle/>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5</a:t>
            </a:r>
            <a:endParaRPr lang="en-US" sz="1800" dirty="0"/>
          </a:p>
        </p:txBody>
      </p:sp>
      <p:sp>
        <p:nvSpPr>
          <p:cNvPr id="24" name="Text 22"/>
          <p:cNvSpPr/>
          <p:nvPr/>
        </p:nvSpPr>
        <p:spPr>
          <a:xfrm>
            <a:off x="5385816" y="3374136"/>
            <a:ext cx="2468880" cy="320040"/>
          </a:xfrm>
          <a:prstGeom prst="rect">
            <a:avLst/>
          </a:prstGeom>
          <a:noFill/>
          <a:ln/>
        </p:spPr>
        <p:txBody>
          <a:bodyPr wrap="square" lIns="0" tIns="0" rIns="0" bIns="0" rtlCol="0" anchor="t">
            <a:normAutofit/>
          </a:bodyPr>
          <a:lstStyle/>
          <a:p>
            <a:pPr algn="l" indent="0" marL="0">
              <a:lnSpc>
                <a:spcPct val="100000"/>
              </a:lnSpc>
              <a:buNone/>
            </a:pPr>
            <a:r>
              <a:rPr lang="en-US" sz="1900" b="1" dirty="0">
                <a:solidFill>
                  <a:srgbClr val="0B0B0B"/>
                </a:solidFill>
                <a:latin typeface="Arial" pitchFamily="34" charset="0"/>
                <a:ea typeface="Arial" pitchFamily="34" charset="-122"/>
                <a:cs typeface="Arial" pitchFamily="34" charset="-120"/>
              </a:rPr>
              <a:t>BATTERY</a:t>
            </a:r>
            <a:endParaRPr lang="en-US" sz="1900" dirty="0"/>
          </a:p>
        </p:txBody>
      </p:sp>
      <p:sp>
        <p:nvSpPr>
          <p:cNvPr id="25" name="Text 23"/>
          <p:cNvSpPr/>
          <p:nvPr/>
        </p:nvSpPr>
        <p:spPr>
          <a:xfrm>
            <a:off x="5385816" y="3794760"/>
            <a:ext cx="2468880" cy="384048"/>
          </a:xfrm>
          <a:prstGeom prst="rect">
            <a:avLst/>
          </a:prstGeom>
          <a:noFill/>
          <a:ln/>
        </p:spPr>
        <p:txBody>
          <a:bodyPr wrap="square" lIns="0" tIns="0" rIns="0" bIns="0" rtlCol="0" anchor="t">
            <a:normAutofit/>
          </a:bodyPr>
          <a:lstStyle/>
          <a:p>
            <a:pPr algn="l" indent="0" marL="0">
              <a:lnSpc>
                <a:spcPct val="100000"/>
              </a:lnSpc>
              <a:buNone/>
            </a:pPr>
            <a:r>
              <a:rPr lang="en-US" sz="1400" dirty="0">
                <a:solidFill>
                  <a:srgbClr val="6B6B66"/>
                </a:solidFill>
                <a:latin typeface="Arial" pitchFamily="34" charset="0"/>
                <a:ea typeface="Arial" pitchFamily="34" charset="-122"/>
                <a:cs typeface="Arial" pitchFamily="34" charset="-120"/>
              </a:rPr>
              <a:t>83.3% live</a:t>
            </a:r>
            <a:endParaRPr lang="en-US" sz="1400" dirty="0"/>
          </a:p>
        </p:txBody>
      </p:sp>
      <p:sp>
        <p:nvSpPr>
          <p:cNvPr id="26" name="Shape 24"/>
          <p:cNvSpPr/>
          <p:nvPr/>
        </p:nvSpPr>
        <p:spPr>
          <a:xfrm>
            <a:off x="685800" y="5257800"/>
            <a:ext cx="10835640" cy="0"/>
          </a:xfrm>
          <a:prstGeom prst="line">
            <a:avLst/>
          </a:prstGeom>
          <a:noFill/>
          <a:ln w="25400">
            <a:solidFill>
              <a:srgbClr val="0B0B0B"/>
            </a:solidFill>
            <a:prstDash val="solid"/>
          </a:ln>
        </p:spPr>
      </p:sp>
      <p:sp>
        <p:nvSpPr>
          <p:cNvPr id="27" name="Text 25"/>
          <p:cNvSpPr/>
          <p:nvPr/>
        </p:nvSpPr>
        <p:spPr>
          <a:xfrm>
            <a:off x="713232" y="5486400"/>
            <a:ext cx="2377440" cy="384048"/>
          </a:xfrm>
          <a:prstGeom prst="rect">
            <a:avLst/>
          </a:prstGeom>
          <a:noFill/>
          <a:ln/>
        </p:spPr>
        <p:txBody>
          <a:bodyPr wrap="square" lIns="0" tIns="0" rIns="0" bIns="0" rtlCol="0" anchor="t">
            <a:normAutofit/>
          </a:bodyPr>
          <a:lstStyle/>
          <a:p>
            <a:pPr algn="l" indent="0" marL="0">
              <a:lnSpc>
                <a:spcPct val="100000"/>
              </a:lnSpc>
              <a:buNone/>
            </a:pPr>
            <a:r>
              <a:rPr lang="en-US" sz="2200" b="1" dirty="0">
                <a:solidFill>
                  <a:srgbClr val="EF3340"/>
                </a:solidFill>
                <a:latin typeface="Arial" pitchFamily="34" charset="0"/>
                <a:ea typeface="Arial" pitchFamily="34" charset="-122"/>
                <a:cs typeface="Arial" pitchFamily="34" charset="-120"/>
              </a:rPr>
              <a:t>STALE ≠ SAFE</a:t>
            </a:r>
            <a:endParaRPr lang="en-US" sz="2200" dirty="0"/>
          </a:p>
        </p:txBody>
      </p:sp>
      <p:sp>
        <p:nvSpPr>
          <p:cNvPr id="28" name="Text 26"/>
          <p:cNvSpPr/>
          <p:nvPr/>
        </p:nvSpPr>
        <p:spPr>
          <a:xfrm>
            <a:off x="3200400" y="5513832"/>
            <a:ext cx="6766560" cy="365760"/>
          </a:xfrm>
          <a:prstGeom prst="rect">
            <a:avLst/>
          </a:prstGeom>
          <a:noFill/>
          <a:ln/>
        </p:spPr>
        <p:txBody>
          <a:bodyPr wrap="square" lIns="0" tIns="0" rIns="0" bIns="0" rtlCol="0" anchor="t">
            <a:normAutofit/>
          </a:bodyPr>
          <a:lstStyle/>
          <a:p>
            <a:pPr algn="l" indent="0" marL="0">
              <a:lnSpc>
                <a:spcPct val="100000"/>
              </a:lnSpc>
              <a:buNone/>
            </a:pPr>
            <a:r>
              <a:rPr lang="en-US" sz="1900" b="1" dirty="0">
                <a:solidFill>
                  <a:srgbClr val="0B0B0B"/>
                </a:solidFill>
                <a:latin typeface="Arial" pitchFamily="34" charset="0"/>
                <a:ea typeface="Arial" pitchFamily="34" charset="-122"/>
                <a:cs typeface="Arial" pitchFamily="34" charset="-120"/>
              </a:rPr>
              <a:t>A value without an age is not a control input.</a:t>
            </a:r>
            <a:endParaRPr lang="en-US" sz="1900" dirty="0"/>
          </a:p>
        </p:txBody>
      </p:sp>
      <p:sp>
        <p:nvSpPr>
          <p:cNvPr id="29" name="Text 27"/>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github.com/specdog/leash</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855FF"/>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EVIDENCE</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18</a:t>
            </a:r>
            <a:endParaRPr lang="en-US" sz="950" dirty="0"/>
          </a:p>
        </p:txBody>
      </p:sp>
      <p:sp>
        <p:nvSpPr>
          <p:cNvPr id="5" name="Text 3"/>
          <p:cNvSpPr/>
          <p:nvPr/>
        </p:nvSpPr>
        <p:spPr>
          <a:xfrm>
            <a:off x="502920" y="566928"/>
            <a:ext cx="11109960" cy="914400"/>
          </a:xfrm>
          <a:prstGeom prst="rect">
            <a:avLst/>
          </a:prstGeom>
          <a:noFill/>
          <a:ln/>
        </p:spPr>
        <p:txBody>
          <a:bodyPr wrap="square" lIns="0" tIns="0" rIns="0" bIns="0" rtlCol="0" anchor="ctr">
            <a:normAutofit/>
          </a:bodyPr>
          <a:lstStyle/>
          <a:p>
            <a:pPr indent="0" marL="0">
              <a:buNone/>
            </a:pPr>
            <a:r>
              <a:rPr lang="en-US" sz="2900" b="1" dirty="0">
                <a:solidFill>
                  <a:srgbClr val="FFFFFF"/>
                </a:solidFill>
                <a:latin typeface="Arial Black" pitchFamily="34" charset="0"/>
                <a:ea typeface="Arial Black" pitchFamily="34" charset="-122"/>
                <a:cs typeface="Arial Black" pitchFamily="34" charset="-120"/>
              </a:rPr>
              <a:t>Replay should explain the crossing—not invent a story.</a:t>
            </a:r>
            <a:endParaRPr lang="en-US" sz="2900" dirty="0"/>
          </a:p>
        </p:txBody>
      </p:sp>
      <p:sp>
        <p:nvSpPr>
          <p:cNvPr id="6" name="Shape 4"/>
          <p:cNvSpPr/>
          <p:nvPr/>
        </p:nvSpPr>
        <p:spPr>
          <a:xfrm>
            <a:off x="566928" y="2240280"/>
            <a:ext cx="1508760" cy="713232"/>
          </a:xfrm>
          <a:prstGeom prst="rect">
            <a:avLst/>
          </a:prstGeom>
          <a:solidFill>
            <a:srgbClr val="FFFDF7"/>
          </a:solidFill>
          <a:ln w="27940">
            <a:solidFill>
              <a:srgbClr val="0B0B0B"/>
            </a:solidFill>
            <a:prstDash val="solid"/>
          </a:ln>
        </p:spPr>
      </p:sp>
      <p:sp>
        <p:nvSpPr>
          <p:cNvPr id="7" name="Text 5"/>
          <p:cNvSpPr/>
          <p:nvPr/>
        </p:nvSpPr>
        <p:spPr>
          <a:xfrm>
            <a:off x="731520" y="2404872"/>
            <a:ext cx="1179576" cy="384048"/>
          </a:xfrm>
          <a:prstGeom prst="rect">
            <a:avLst/>
          </a:prstGeom>
          <a:noFill/>
          <a:ln/>
        </p:spPr>
        <p:txBody>
          <a:bodyPr wrap="square" lIns="0" tIns="0" rIns="0" bIns="0" rtlCol="0" anchor="ctr">
            <a:normAutofit/>
          </a:bodyPr>
          <a:lstStyle/>
          <a:p>
            <a:pPr algn="ctr" indent="0" marL="0">
              <a:lnSpc>
                <a:spcPct val="100000"/>
              </a:lnSpc>
              <a:buNone/>
            </a:pPr>
            <a:r>
              <a:rPr lang="en-US" sz="1250" b="1" dirty="0">
                <a:solidFill>
                  <a:srgbClr val="0B0B0B"/>
                </a:solidFill>
                <a:latin typeface="Arial" pitchFamily="34" charset="0"/>
                <a:ea typeface="Arial" pitchFamily="34" charset="-122"/>
                <a:cs typeface="Arial" pitchFamily="34" charset="-120"/>
              </a:rPr>
              <a:t>PROPOSAL</a:t>
            </a:r>
            <a:endParaRPr lang="en-US" sz="1250" dirty="0"/>
          </a:p>
        </p:txBody>
      </p:sp>
      <p:sp>
        <p:nvSpPr>
          <p:cNvPr id="8" name="Shape 6"/>
          <p:cNvSpPr/>
          <p:nvPr/>
        </p:nvSpPr>
        <p:spPr>
          <a:xfrm>
            <a:off x="2121408" y="2596896"/>
            <a:ext cx="256032" cy="0"/>
          </a:xfrm>
          <a:prstGeom prst="line">
            <a:avLst/>
          </a:prstGeom>
          <a:noFill/>
          <a:ln w="29210">
            <a:solidFill>
              <a:srgbClr val="FFFFFF"/>
            </a:solidFill>
            <a:prstDash val="solid"/>
            <a:tailEnd type="triangle"/>
          </a:ln>
        </p:spPr>
      </p:sp>
      <p:sp>
        <p:nvSpPr>
          <p:cNvPr id="9" name="Text 7"/>
          <p:cNvSpPr/>
          <p:nvPr/>
        </p:nvSpPr>
        <p:spPr>
          <a:xfrm>
            <a:off x="1097280" y="1664208"/>
            <a:ext cx="457200" cy="310896"/>
          </a:xfrm>
          <a:prstGeom prst="rect">
            <a:avLst/>
          </a:prstGeom>
          <a:noFill/>
          <a:ln/>
        </p:spPr>
        <p:txBody>
          <a:bodyPr wrap="square" lIns="0" tIns="0" rIns="0" bIns="0" rtlCol="0" anchor="t">
            <a:normAutofit/>
          </a:bodyPr>
          <a:lstStyle/>
          <a:p>
            <a:pPr algn="ctr" indent="0" marL="0">
              <a:lnSpc>
                <a:spcPct val="100000"/>
              </a:lnSpc>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0" name="Shape 8"/>
          <p:cNvSpPr/>
          <p:nvPr/>
        </p:nvSpPr>
        <p:spPr>
          <a:xfrm>
            <a:off x="2450592" y="2240280"/>
            <a:ext cx="1508760" cy="713232"/>
          </a:xfrm>
          <a:prstGeom prst="rect">
            <a:avLst/>
          </a:prstGeom>
          <a:solidFill>
            <a:srgbClr val="FFD63D"/>
          </a:solidFill>
          <a:ln w="27940">
            <a:solidFill>
              <a:srgbClr val="0B0B0B"/>
            </a:solidFill>
            <a:prstDash val="solid"/>
          </a:ln>
        </p:spPr>
      </p:sp>
      <p:sp>
        <p:nvSpPr>
          <p:cNvPr id="11" name="Text 9"/>
          <p:cNvSpPr/>
          <p:nvPr/>
        </p:nvSpPr>
        <p:spPr>
          <a:xfrm>
            <a:off x="2615184" y="2404872"/>
            <a:ext cx="1179576" cy="384048"/>
          </a:xfrm>
          <a:prstGeom prst="rect">
            <a:avLst/>
          </a:prstGeom>
          <a:noFill/>
          <a:ln/>
        </p:spPr>
        <p:txBody>
          <a:bodyPr wrap="square" lIns="0" tIns="0" rIns="0" bIns="0" rtlCol="0" anchor="ctr">
            <a:normAutofit/>
          </a:bodyPr>
          <a:lstStyle/>
          <a:p>
            <a:pPr algn="ctr" indent="0" marL="0">
              <a:lnSpc>
                <a:spcPct val="100000"/>
              </a:lnSpc>
              <a:buNone/>
            </a:pPr>
            <a:r>
              <a:rPr lang="en-US" sz="1250" b="1" dirty="0">
                <a:solidFill>
                  <a:srgbClr val="0B0B0B"/>
                </a:solidFill>
                <a:latin typeface="Arial" pitchFamily="34" charset="0"/>
                <a:ea typeface="Arial" pitchFamily="34" charset="-122"/>
                <a:cs typeface="Arial" pitchFamily="34" charset="-120"/>
              </a:rPr>
              <a:t>POLICY</a:t>
            </a:r>
            <a:endParaRPr lang="en-US" sz="1250" dirty="0"/>
          </a:p>
        </p:txBody>
      </p:sp>
      <p:sp>
        <p:nvSpPr>
          <p:cNvPr id="12" name="Shape 10"/>
          <p:cNvSpPr/>
          <p:nvPr/>
        </p:nvSpPr>
        <p:spPr>
          <a:xfrm>
            <a:off x="4005072" y="2596896"/>
            <a:ext cx="256032" cy="0"/>
          </a:xfrm>
          <a:prstGeom prst="line">
            <a:avLst/>
          </a:prstGeom>
          <a:noFill/>
          <a:ln w="29210">
            <a:solidFill>
              <a:srgbClr val="FFFFFF"/>
            </a:solidFill>
            <a:prstDash val="solid"/>
            <a:tailEnd type="triangle"/>
          </a:ln>
        </p:spPr>
      </p:sp>
      <p:sp>
        <p:nvSpPr>
          <p:cNvPr id="13" name="Text 11"/>
          <p:cNvSpPr/>
          <p:nvPr/>
        </p:nvSpPr>
        <p:spPr>
          <a:xfrm>
            <a:off x="2980944" y="1664208"/>
            <a:ext cx="457200" cy="310896"/>
          </a:xfrm>
          <a:prstGeom prst="rect">
            <a:avLst/>
          </a:prstGeom>
          <a:noFill/>
          <a:ln/>
        </p:spPr>
        <p:txBody>
          <a:bodyPr wrap="square" lIns="0" tIns="0" rIns="0" bIns="0" rtlCol="0" anchor="t">
            <a:normAutofit/>
          </a:bodyPr>
          <a:lstStyle/>
          <a:p>
            <a:pPr algn="ctr" indent="0" marL="0">
              <a:lnSpc>
                <a:spcPct val="100000"/>
              </a:lnSpc>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4" name="Shape 12"/>
          <p:cNvSpPr/>
          <p:nvPr/>
        </p:nvSpPr>
        <p:spPr>
          <a:xfrm>
            <a:off x="4334256" y="2240280"/>
            <a:ext cx="1508760" cy="713232"/>
          </a:xfrm>
          <a:prstGeom prst="rect">
            <a:avLst/>
          </a:prstGeom>
          <a:solidFill>
            <a:srgbClr val="B8FF32"/>
          </a:solidFill>
          <a:ln w="27940">
            <a:solidFill>
              <a:srgbClr val="0B0B0B"/>
            </a:solidFill>
            <a:prstDash val="solid"/>
          </a:ln>
        </p:spPr>
      </p:sp>
      <p:sp>
        <p:nvSpPr>
          <p:cNvPr id="15" name="Text 13"/>
          <p:cNvSpPr/>
          <p:nvPr/>
        </p:nvSpPr>
        <p:spPr>
          <a:xfrm>
            <a:off x="4498848" y="2404872"/>
            <a:ext cx="1179576" cy="384048"/>
          </a:xfrm>
          <a:prstGeom prst="rect">
            <a:avLst/>
          </a:prstGeom>
          <a:noFill/>
          <a:ln/>
        </p:spPr>
        <p:txBody>
          <a:bodyPr wrap="square" lIns="0" tIns="0" rIns="0" bIns="0" rtlCol="0" anchor="ctr">
            <a:normAutofit/>
          </a:bodyPr>
          <a:lstStyle/>
          <a:p>
            <a:pPr algn="ctr" indent="0" marL="0">
              <a:lnSpc>
                <a:spcPct val="100000"/>
              </a:lnSpc>
              <a:buNone/>
            </a:pPr>
            <a:r>
              <a:rPr lang="en-US" sz="1250" b="1" dirty="0">
                <a:solidFill>
                  <a:srgbClr val="0B0B0B"/>
                </a:solidFill>
                <a:latin typeface="Arial" pitchFamily="34" charset="0"/>
                <a:ea typeface="Arial" pitchFamily="34" charset="-122"/>
                <a:cs typeface="Arial" pitchFamily="34" charset="-120"/>
              </a:rPr>
              <a:t>TRANSITION</a:t>
            </a:r>
            <a:endParaRPr lang="en-US" sz="1250" dirty="0"/>
          </a:p>
        </p:txBody>
      </p:sp>
      <p:sp>
        <p:nvSpPr>
          <p:cNvPr id="16" name="Shape 14"/>
          <p:cNvSpPr/>
          <p:nvPr/>
        </p:nvSpPr>
        <p:spPr>
          <a:xfrm>
            <a:off x="5888736" y="2596896"/>
            <a:ext cx="256032" cy="0"/>
          </a:xfrm>
          <a:prstGeom prst="line">
            <a:avLst/>
          </a:prstGeom>
          <a:noFill/>
          <a:ln w="29210">
            <a:solidFill>
              <a:srgbClr val="FFFFFF"/>
            </a:solidFill>
            <a:prstDash val="solid"/>
            <a:tailEnd type="triangle"/>
          </a:ln>
        </p:spPr>
      </p:sp>
      <p:sp>
        <p:nvSpPr>
          <p:cNvPr id="17" name="Text 15"/>
          <p:cNvSpPr/>
          <p:nvPr/>
        </p:nvSpPr>
        <p:spPr>
          <a:xfrm>
            <a:off x="4864608" y="1664208"/>
            <a:ext cx="457200" cy="310896"/>
          </a:xfrm>
          <a:prstGeom prst="rect">
            <a:avLst/>
          </a:prstGeom>
          <a:noFill/>
          <a:ln/>
        </p:spPr>
        <p:txBody>
          <a:bodyPr wrap="square" lIns="0" tIns="0" rIns="0" bIns="0" rtlCol="0" anchor="t">
            <a:normAutofit/>
          </a:bodyPr>
          <a:lstStyle/>
          <a:p>
            <a:pPr algn="ctr" indent="0" marL="0">
              <a:lnSpc>
                <a:spcPct val="100000"/>
              </a:lnSpc>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8" name="Shape 16"/>
          <p:cNvSpPr/>
          <p:nvPr/>
        </p:nvSpPr>
        <p:spPr>
          <a:xfrm>
            <a:off x="6217920" y="2240280"/>
            <a:ext cx="1508760" cy="713232"/>
          </a:xfrm>
          <a:prstGeom prst="rect">
            <a:avLst/>
          </a:prstGeom>
          <a:solidFill>
            <a:srgbClr val="FF5B9D"/>
          </a:solidFill>
          <a:ln w="27940">
            <a:solidFill>
              <a:srgbClr val="0B0B0B"/>
            </a:solidFill>
            <a:prstDash val="solid"/>
          </a:ln>
        </p:spPr>
      </p:sp>
      <p:sp>
        <p:nvSpPr>
          <p:cNvPr id="19" name="Text 17"/>
          <p:cNvSpPr/>
          <p:nvPr/>
        </p:nvSpPr>
        <p:spPr>
          <a:xfrm>
            <a:off x="6382512" y="2404872"/>
            <a:ext cx="1179576" cy="384048"/>
          </a:xfrm>
          <a:prstGeom prst="rect">
            <a:avLst/>
          </a:prstGeom>
          <a:noFill/>
          <a:ln/>
        </p:spPr>
        <p:txBody>
          <a:bodyPr wrap="square" lIns="0" tIns="0" rIns="0" bIns="0" rtlCol="0" anchor="ctr">
            <a:normAutofit/>
          </a:bodyPr>
          <a:lstStyle/>
          <a:p>
            <a:pPr algn="ctr" indent="0" marL="0">
              <a:lnSpc>
                <a:spcPct val="100000"/>
              </a:lnSpc>
              <a:buNone/>
            </a:pPr>
            <a:r>
              <a:rPr lang="en-US" sz="1250" b="1" dirty="0">
                <a:solidFill>
                  <a:srgbClr val="0B0B0B"/>
                </a:solidFill>
                <a:latin typeface="Arial" pitchFamily="34" charset="0"/>
                <a:ea typeface="Arial" pitchFamily="34" charset="-122"/>
                <a:cs typeface="Arial" pitchFamily="34" charset="-120"/>
              </a:rPr>
              <a:t>WRITE</a:t>
            </a:r>
            <a:endParaRPr lang="en-US" sz="1250" dirty="0"/>
          </a:p>
        </p:txBody>
      </p:sp>
      <p:sp>
        <p:nvSpPr>
          <p:cNvPr id="20" name="Shape 18"/>
          <p:cNvSpPr/>
          <p:nvPr/>
        </p:nvSpPr>
        <p:spPr>
          <a:xfrm>
            <a:off x="7772400" y="2596896"/>
            <a:ext cx="256032" cy="0"/>
          </a:xfrm>
          <a:prstGeom prst="line">
            <a:avLst/>
          </a:prstGeom>
          <a:noFill/>
          <a:ln w="29210">
            <a:solidFill>
              <a:srgbClr val="FFFFFF"/>
            </a:solidFill>
            <a:prstDash val="solid"/>
            <a:tailEnd type="triangle"/>
          </a:ln>
        </p:spPr>
      </p:sp>
      <p:sp>
        <p:nvSpPr>
          <p:cNvPr id="21" name="Text 19"/>
          <p:cNvSpPr/>
          <p:nvPr/>
        </p:nvSpPr>
        <p:spPr>
          <a:xfrm>
            <a:off x="6748272" y="1664208"/>
            <a:ext cx="457200" cy="310896"/>
          </a:xfrm>
          <a:prstGeom prst="rect">
            <a:avLst/>
          </a:prstGeom>
          <a:noFill/>
          <a:ln/>
        </p:spPr>
        <p:txBody>
          <a:bodyPr wrap="square" lIns="0" tIns="0" rIns="0" bIns="0" rtlCol="0" anchor="t">
            <a:normAutofit/>
          </a:bodyPr>
          <a:lstStyle/>
          <a:p>
            <a:pPr algn="ctr" indent="0" marL="0">
              <a:lnSpc>
                <a:spcPct val="100000"/>
              </a:lnSpc>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Shape 20"/>
          <p:cNvSpPr/>
          <p:nvPr/>
        </p:nvSpPr>
        <p:spPr>
          <a:xfrm>
            <a:off x="8101584" y="2240280"/>
            <a:ext cx="1508760" cy="713232"/>
          </a:xfrm>
          <a:prstGeom prst="rect">
            <a:avLst/>
          </a:prstGeom>
          <a:solidFill>
            <a:srgbClr val="DDE5FF"/>
          </a:solidFill>
          <a:ln w="27940">
            <a:solidFill>
              <a:srgbClr val="0B0B0B"/>
            </a:solidFill>
            <a:prstDash val="solid"/>
          </a:ln>
        </p:spPr>
      </p:sp>
      <p:sp>
        <p:nvSpPr>
          <p:cNvPr id="23" name="Text 21"/>
          <p:cNvSpPr/>
          <p:nvPr/>
        </p:nvSpPr>
        <p:spPr>
          <a:xfrm>
            <a:off x="8266176" y="2404872"/>
            <a:ext cx="1179576" cy="384048"/>
          </a:xfrm>
          <a:prstGeom prst="rect">
            <a:avLst/>
          </a:prstGeom>
          <a:noFill/>
          <a:ln/>
        </p:spPr>
        <p:txBody>
          <a:bodyPr wrap="square" lIns="0" tIns="0" rIns="0" bIns="0" rtlCol="0" anchor="ctr">
            <a:normAutofit/>
          </a:bodyPr>
          <a:lstStyle/>
          <a:p>
            <a:pPr algn="ctr" indent="0" marL="0">
              <a:lnSpc>
                <a:spcPct val="100000"/>
              </a:lnSpc>
              <a:buNone/>
            </a:pPr>
            <a:r>
              <a:rPr lang="en-US" sz="1250" b="1" dirty="0">
                <a:solidFill>
                  <a:srgbClr val="0B0B0B"/>
                </a:solidFill>
                <a:latin typeface="Arial" pitchFamily="34" charset="0"/>
                <a:ea typeface="Arial" pitchFamily="34" charset="-122"/>
                <a:cs typeface="Arial" pitchFamily="34" charset="-120"/>
              </a:rPr>
              <a:t>TELEMETRY</a:t>
            </a:r>
            <a:endParaRPr lang="en-US" sz="1250" dirty="0"/>
          </a:p>
        </p:txBody>
      </p:sp>
      <p:sp>
        <p:nvSpPr>
          <p:cNvPr id="24" name="Shape 22"/>
          <p:cNvSpPr/>
          <p:nvPr/>
        </p:nvSpPr>
        <p:spPr>
          <a:xfrm>
            <a:off x="9656064" y="2596896"/>
            <a:ext cx="256032" cy="0"/>
          </a:xfrm>
          <a:prstGeom prst="line">
            <a:avLst/>
          </a:prstGeom>
          <a:noFill/>
          <a:ln w="29210">
            <a:solidFill>
              <a:srgbClr val="FFFFFF"/>
            </a:solidFill>
            <a:prstDash val="solid"/>
            <a:tailEnd type="triangle"/>
          </a:ln>
        </p:spPr>
      </p:sp>
      <p:sp>
        <p:nvSpPr>
          <p:cNvPr id="25" name="Text 23"/>
          <p:cNvSpPr/>
          <p:nvPr/>
        </p:nvSpPr>
        <p:spPr>
          <a:xfrm>
            <a:off x="8631936" y="1664208"/>
            <a:ext cx="457200" cy="310896"/>
          </a:xfrm>
          <a:prstGeom prst="rect">
            <a:avLst/>
          </a:prstGeom>
          <a:noFill/>
          <a:ln/>
        </p:spPr>
        <p:txBody>
          <a:bodyPr wrap="square" lIns="0" tIns="0" rIns="0" bIns="0" rtlCol="0" anchor="t">
            <a:normAutofit/>
          </a:bodyPr>
          <a:lstStyle/>
          <a:p>
            <a:pPr algn="ctr" indent="0" marL="0">
              <a:lnSpc>
                <a:spcPct val="100000"/>
              </a:lnSpc>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6" name="Shape 24"/>
          <p:cNvSpPr/>
          <p:nvPr/>
        </p:nvSpPr>
        <p:spPr>
          <a:xfrm>
            <a:off x="9985248" y="2240280"/>
            <a:ext cx="1508760" cy="713232"/>
          </a:xfrm>
          <a:prstGeom prst="rect">
            <a:avLst/>
          </a:prstGeom>
          <a:solidFill>
            <a:srgbClr val="FFFDF7"/>
          </a:solidFill>
          <a:ln w="27940">
            <a:solidFill>
              <a:srgbClr val="0B0B0B"/>
            </a:solidFill>
            <a:prstDash val="solid"/>
          </a:ln>
        </p:spPr>
      </p:sp>
      <p:sp>
        <p:nvSpPr>
          <p:cNvPr id="27" name="Text 25"/>
          <p:cNvSpPr/>
          <p:nvPr/>
        </p:nvSpPr>
        <p:spPr>
          <a:xfrm>
            <a:off x="10149840" y="2404872"/>
            <a:ext cx="1179576" cy="384048"/>
          </a:xfrm>
          <a:prstGeom prst="rect">
            <a:avLst/>
          </a:prstGeom>
          <a:noFill/>
          <a:ln/>
        </p:spPr>
        <p:txBody>
          <a:bodyPr wrap="square" lIns="0" tIns="0" rIns="0" bIns="0" rtlCol="0" anchor="ctr">
            <a:normAutofit/>
          </a:bodyPr>
          <a:lstStyle/>
          <a:p>
            <a:pPr algn="ctr" indent="0" marL="0">
              <a:lnSpc>
                <a:spcPct val="100000"/>
              </a:lnSpc>
              <a:buNone/>
            </a:pPr>
            <a:r>
              <a:rPr lang="en-US" sz="1250" b="1" dirty="0">
                <a:solidFill>
                  <a:srgbClr val="0B0B0B"/>
                </a:solidFill>
                <a:latin typeface="Arial" pitchFamily="34" charset="0"/>
                <a:ea typeface="Arial" pitchFamily="34" charset="-122"/>
                <a:cs typeface="Arial" pitchFamily="34" charset="-120"/>
              </a:rPr>
              <a:t>RESULT</a:t>
            </a:r>
            <a:endParaRPr lang="en-US" sz="1250" dirty="0"/>
          </a:p>
        </p:txBody>
      </p:sp>
      <p:sp>
        <p:nvSpPr>
          <p:cNvPr id="28" name="Text 26"/>
          <p:cNvSpPr/>
          <p:nvPr/>
        </p:nvSpPr>
        <p:spPr>
          <a:xfrm>
            <a:off x="10515600" y="1664208"/>
            <a:ext cx="457200" cy="310896"/>
          </a:xfrm>
          <a:prstGeom prst="rect">
            <a:avLst/>
          </a:prstGeom>
          <a:noFill/>
          <a:ln/>
        </p:spPr>
        <p:txBody>
          <a:bodyPr wrap="square" lIns="0" tIns="0" rIns="0" bIns="0" rtlCol="0" anchor="t">
            <a:normAutofit/>
          </a:bodyPr>
          <a:lstStyle/>
          <a:p>
            <a:pPr algn="ctr" indent="0" marL="0">
              <a:lnSpc>
                <a:spcPct val="100000"/>
              </a:lnSpc>
              <a:buNone/>
            </a:pPr>
            <a:r>
              <a:rPr lang="en-US" sz="1600" b="1" dirty="0">
                <a:solidFill>
                  <a:srgbClr val="FFFFFF"/>
                </a:solidFill>
                <a:latin typeface="Arial" pitchFamily="34" charset="0"/>
                <a:ea typeface="Arial" pitchFamily="34" charset="-122"/>
                <a:cs typeface="Arial" pitchFamily="34" charset="-120"/>
              </a:rPr>
              <a:t>6</a:t>
            </a:r>
            <a:endParaRPr lang="en-US" sz="1600" dirty="0"/>
          </a:p>
        </p:txBody>
      </p:sp>
      <p:sp>
        <p:nvSpPr>
          <p:cNvPr id="29" name="Shape 27"/>
          <p:cNvSpPr/>
          <p:nvPr/>
        </p:nvSpPr>
        <p:spPr>
          <a:xfrm>
            <a:off x="658368" y="3977640"/>
            <a:ext cx="10744200" cy="0"/>
          </a:xfrm>
          <a:prstGeom prst="line">
            <a:avLst/>
          </a:prstGeom>
          <a:noFill/>
          <a:ln w="25400">
            <a:solidFill>
              <a:srgbClr val="FFFFFF"/>
            </a:solidFill>
            <a:prstDash val="solid"/>
          </a:ln>
        </p:spPr>
      </p:sp>
      <p:sp>
        <p:nvSpPr>
          <p:cNvPr id="30" name="Text 28"/>
          <p:cNvSpPr/>
          <p:nvPr/>
        </p:nvSpPr>
        <p:spPr>
          <a:xfrm>
            <a:off x="685800" y="4315968"/>
            <a:ext cx="2926080" cy="685800"/>
          </a:xfrm>
          <a:prstGeom prst="rect">
            <a:avLst/>
          </a:prstGeom>
          <a:noFill/>
          <a:ln/>
        </p:spPr>
        <p:txBody>
          <a:bodyPr wrap="square" lIns="0" tIns="0" rIns="0" bIns="0" rtlCol="0" anchor="t">
            <a:normAutofit/>
          </a:bodyPr>
          <a:lstStyle/>
          <a:p>
            <a:pPr algn="l" indent="0" marL="0">
              <a:lnSpc>
                <a:spcPct val="100000"/>
              </a:lnSpc>
              <a:buNone/>
            </a:pPr>
            <a:r>
              <a:rPr lang="en-US" sz="3600" b="1" dirty="0">
                <a:solidFill>
                  <a:srgbClr val="B8FF32"/>
                </a:solidFill>
                <a:latin typeface="Arial" pitchFamily="34" charset="0"/>
                <a:ea typeface="Arial" pitchFamily="34" charset="-122"/>
                <a:cs typeface="Arial" pitchFamily="34" charset="-120"/>
              </a:rPr>
              <a:t>4,807,319</a:t>
            </a:r>
            <a:endParaRPr lang="en-US" sz="3600" dirty="0"/>
          </a:p>
        </p:txBody>
      </p:sp>
      <p:sp>
        <p:nvSpPr>
          <p:cNvPr id="31" name="Text 29"/>
          <p:cNvSpPr/>
          <p:nvPr/>
        </p:nvSpPr>
        <p:spPr>
          <a:xfrm>
            <a:off x="713232" y="5047488"/>
            <a:ext cx="3749040" cy="320040"/>
          </a:xfrm>
          <a:prstGeom prst="rect">
            <a:avLst/>
          </a:prstGeom>
          <a:noFill/>
          <a:ln/>
        </p:spPr>
        <p:txBody>
          <a:bodyPr wrap="square" lIns="0" tIns="0" rIns="0" bIns="0" rtlCol="0" anchor="t">
            <a:normAutofit/>
          </a:bodyPr>
          <a:lstStyle/>
          <a:p>
            <a:pPr algn="l" indent="0" marL="0">
              <a:lnSpc>
                <a:spcPct val="100000"/>
              </a:lnSpc>
              <a:buNone/>
            </a:pPr>
            <a:r>
              <a:rPr lang="en-US" sz="1500" b="1" dirty="0">
                <a:solidFill>
                  <a:srgbClr val="FFFFFF"/>
                </a:solidFill>
                <a:latin typeface="Arial" pitchFamily="34" charset="0"/>
                <a:ea typeface="Arial" pitchFamily="34" charset="-122"/>
                <a:cs typeface="Arial" pitchFamily="34" charset="-120"/>
              </a:rPr>
              <a:t>durable records on live Pinkie</a:t>
            </a:r>
            <a:endParaRPr lang="en-US" sz="1500" dirty="0"/>
          </a:p>
        </p:txBody>
      </p:sp>
      <p:sp>
        <p:nvSpPr>
          <p:cNvPr id="32" name="Text 30"/>
          <p:cNvSpPr/>
          <p:nvPr/>
        </p:nvSpPr>
        <p:spPr>
          <a:xfrm>
            <a:off x="5577840" y="4315968"/>
            <a:ext cx="5349240" cy="960120"/>
          </a:xfrm>
          <a:prstGeom prst="rect">
            <a:avLst/>
          </a:prstGeom>
          <a:noFill/>
          <a:ln/>
        </p:spPr>
        <p:txBody>
          <a:bodyPr wrap="square" lIns="0" tIns="0" rIns="0" bIns="0" rtlCol="0" anchor="t">
            <a:normAutofit/>
          </a:bodyPr>
          <a:lstStyle/>
          <a:p>
            <a:pPr algn="r" indent="0" marL="0">
              <a:lnSpc>
                <a:spcPct val="100000"/>
              </a:lnSpc>
              <a:buNone/>
            </a:pPr>
            <a:r>
              <a:rPr lang="en-US" sz="2300" b="1" dirty="0">
                <a:solidFill>
                  <a:srgbClr val="FFFFFF"/>
                </a:solidFill>
                <a:latin typeface="Arial" pitchFamily="34" charset="0"/>
                <a:ea typeface="Arial" pitchFamily="34" charset="-122"/>
                <a:cs typeface="Arial" pitchFamily="34" charset="-120"/>
              </a:rPr>
              <a:t>Evidence is useful only if it survives</a:t>
            </a:r>
            <a:endParaRPr lang="en-US" sz="2300" dirty="0"/>
          </a:p>
          <a:p>
            <a:pPr algn="r" indent="0" marL="0">
              <a:lnSpc>
                <a:spcPct val="100000"/>
              </a:lnSpc>
              <a:buNone/>
            </a:pPr>
            <a:r>
              <a:rPr lang="en-US" sz="2300" b="1" dirty="0">
                <a:solidFill>
                  <a:srgbClr val="FFFFFF"/>
                </a:solidFill>
                <a:latin typeface="Arial" pitchFamily="34" charset="0"/>
                <a:ea typeface="Arial" pitchFamily="34" charset="-122"/>
                <a:cs typeface="Arial" pitchFamily="34" charset="-120"/>
              </a:rPr>
              <a:t>the process that made the decision.</a:t>
            </a:r>
            <a:endParaRPr lang="en-US" sz="2300" dirty="0"/>
          </a:p>
        </p:txBody>
      </p:sp>
      <p:sp>
        <p:nvSpPr>
          <p:cNvPr id="33" name="Text 31"/>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https://github.com/specdog/leash</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STATE</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19</a:t>
            </a:r>
            <a:endParaRPr lang="en-US" sz="950" dirty="0"/>
          </a:p>
        </p:txBody>
      </p:sp>
      <p:sp>
        <p:nvSpPr>
          <p:cNvPr id="5" name="Text 3"/>
          <p:cNvSpPr/>
          <p:nvPr/>
        </p:nvSpPr>
        <p:spPr>
          <a:xfrm>
            <a:off x="502920" y="566928"/>
            <a:ext cx="11109960" cy="914400"/>
          </a:xfrm>
          <a:prstGeom prst="rect">
            <a:avLst/>
          </a:prstGeom>
          <a:noFill/>
          <a:ln/>
        </p:spPr>
        <p:txBody>
          <a:bodyPr wrap="square" lIns="0" tIns="0" rIns="0" bIns="0" rtlCol="0" anchor="ctr">
            <a:normAutofit/>
          </a:bodyPr>
          <a:lstStyle/>
          <a:p>
            <a:pPr indent="0" marL="0">
              <a:buNone/>
            </a:pPr>
            <a:r>
              <a:rPr lang="en-US" sz="3400" b="1" dirty="0">
                <a:solidFill>
                  <a:srgbClr val="0B0B0B"/>
                </a:solidFill>
                <a:latin typeface="Arial Black" pitchFamily="34" charset="0"/>
                <a:ea typeface="Arial Black" pitchFamily="34" charset="-122"/>
                <a:cs typeface="Arial Black" pitchFamily="34" charset="-120"/>
              </a:rPr>
              <a:t>Safety is a state machine with visible exits.</a:t>
            </a:r>
            <a:endParaRPr lang="en-US" sz="3400" dirty="0"/>
          </a:p>
        </p:txBody>
      </p:sp>
      <p:sp>
        <p:nvSpPr>
          <p:cNvPr id="6" name="Shape 4"/>
          <p:cNvSpPr/>
          <p:nvPr/>
        </p:nvSpPr>
        <p:spPr>
          <a:xfrm>
            <a:off x="685800" y="2057400"/>
            <a:ext cx="1828800" cy="868680"/>
          </a:xfrm>
          <a:prstGeom prst="rect">
            <a:avLst/>
          </a:prstGeom>
          <a:solidFill>
            <a:srgbClr val="FFFDF7"/>
          </a:solidFill>
          <a:ln w="27940">
            <a:solidFill>
              <a:srgbClr val="0B0B0B"/>
            </a:solidFill>
            <a:prstDash val="solid"/>
          </a:ln>
        </p:spPr>
      </p:sp>
      <p:sp>
        <p:nvSpPr>
          <p:cNvPr id="7" name="Text 5"/>
          <p:cNvSpPr/>
          <p:nvPr/>
        </p:nvSpPr>
        <p:spPr>
          <a:xfrm>
            <a:off x="850392" y="2221992"/>
            <a:ext cx="1499616" cy="539496"/>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0B0B0B"/>
                </a:solidFill>
                <a:latin typeface="Arial" pitchFamily="34" charset="0"/>
                <a:ea typeface="Arial" pitchFamily="34" charset="-122"/>
                <a:cs typeface="Arial" pitchFamily="34" charset="-120"/>
              </a:rPr>
              <a:t>IDLE</a:t>
            </a:r>
            <a:endParaRPr lang="en-US" sz="1600" dirty="0"/>
          </a:p>
        </p:txBody>
      </p:sp>
      <p:sp>
        <p:nvSpPr>
          <p:cNvPr id="8" name="Shape 6"/>
          <p:cNvSpPr/>
          <p:nvPr/>
        </p:nvSpPr>
        <p:spPr>
          <a:xfrm>
            <a:off x="3063240" y="1188720"/>
            <a:ext cx="1828800" cy="868680"/>
          </a:xfrm>
          <a:prstGeom prst="rect">
            <a:avLst/>
          </a:prstGeom>
          <a:solidFill>
            <a:srgbClr val="FFD63D"/>
          </a:solidFill>
          <a:ln w="27940">
            <a:solidFill>
              <a:srgbClr val="0B0B0B"/>
            </a:solidFill>
            <a:prstDash val="solid"/>
          </a:ln>
        </p:spPr>
      </p:sp>
      <p:sp>
        <p:nvSpPr>
          <p:cNvPr id="9" name="Text 7"/>
          <p:cNvSpPr/>
          <p:nvPr/>
        </p:nvSpPr>
        <p:spPr>
          <a:xfrm>
            <a:off x="3227832" y="1353312"/>
            <a:ext cx="1499616" cy="539496"/>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0B0B0B"/>
                </a:solidFill>
                <a:latin typeface="Arial" pitchFamily="34" charset="0"/>
                <a:ea typeface="Arial" pitchFamily="34" charset="-122"/>
                <a:cs typeface="Arial" pitchFamily="34" charset="-120"/>
              </a:rPr>
              <a:t>ARMED</a:t>
            </a:r>
            <a:endParaRPr lang="en-US" sz="1600" dirty="0"/>
          </a:p>
        </p:txBody>
      </p:sp>
      <p:sp>
        <p:nvSpPr>
          <p:cNvPr id="10" name="Shape 8"/>
          <p:cNvSpPr/>
          <p:nvPr/>
        </p:nvSpPr>
        <p:spPr>
          <a:xfrm>
            <a:off x="5623560" y="2057400"/>
            <a:ext cx="1828800" cy="868680"/>
          </a:xfrm>
          <a:prstGeom prst="rect">
            <a:avLst/>
          </a:prstGeom>
          <a:solidFill>
            <a:srgbClr val="B8FF32"/>
          </a:solidFill>
          <a:ln w="27940">
            <a:solidFill>
              <a:srgbClr val="0B0B0B"/>
            </a:solidFill>
            <a:prstDash val="solid"/>
          </a:ln>
        </p:spPr>
      </p:sp>
      <p:sp>
        <p:nvSpPr>
          <p:cNvPr id="11" name="Text 9"/>
          <p:cNvSpPr/>
          <p:nvPr/>
        </p:nvSpPr>
        <p:spPr>
          <a:xfrm>
            <a:off x="5788152" y="2221992"/>
            <a:ext cx="1499616" cy="539496"/>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0B0B0B"/>
                </a:solidFill>
                <a:latin typeface="Arial" pitchFamily="34" charset="0"/>
                <a:ea typeface="Arial" pitchFamily="34" charset="-122"/>
                <a:cs typeface="Arial" pitchFamily="34" charset="-120"/>
              </a:rPr>
              <a:t>MOVING</a:t>
            </a:r>
            <a:endParaRPr lang="en-US" sz="1600" dirty="0"/>
          </a:p>
        </p:txBody>
      </p:sp>
      <p:sp>
        <p:nvSpPr>
          <p:cNvPr id="12" name="Shape 10"/>
          <p:cNvSpPr/>
          <p:nvPr/>
        </p:nvSpPr>
        <p:spPr>
          <a:xfrm>
            <a:off x="8183880" y="1188720"/>
            <a:ext cx="1828800" cy="868680"/>
          </a:xfrm>
          <a:prstGeom prst="rect">
            <a:avLst/>
          </a:prstGeom>
          <a:solidFill>
            <a:srgbClr val="FF5B9D"/>
          </a:solidFill>
          <a:ln w="27940">
            <a:solidFill>
              <a:srgbClr val="0B0B0B"/>
            </a:solidFill>
            <a:prstDash val="solid"/>
          </a:ln>
        </p:spPr>
      </p:sp>
      <p:sp>
        <p:nvSpPr>
          <p:cNvPr id="13" name="Text 11"/>
          <p:cNvSpPr/>
          <p:nvPr/>
        </p:nvSpPr>
        <p:spPr>
          <a:xfrm>
            <a:off x="8348472" y="1353312"/>
            <a:ext cx="1499616" cy="539496"/>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0B0B0B"/>
                </a:solidFill>
                <a:latin typeface="Arial" pitchFamily="34" charset="0"/>
                <a:ea typeface="Arial" pitchFamily="34" charset="-122"/>
                <a:cs typeface="Arial" pitchFamily="34" charset="-120"/>
              </a:rPr>
              <a:t>STOPPING</a:t>
            </a:r>
            <a:endParaRPr lang="en-US" sz="1600" dirty="0"/>
          </a:p>
        </p:txBody>
      </p:sp>
      <p:sp>
        <p:nvSpPr>
          <p:cNvPr id="14" name="Shape 12"/>
          <p:cNvSpPr/>
          <p:nvPr/>
        </p:nvSpPr>
        <p:spPr>
          <a:xfrm>
            <a:off x="9646920" y="3383280"/>
            <a:ext cx="1828800" cy="868680"/>
          </a:xfrm>
          <a:prstGeom prst="rect">
            <a:avLst/>
          </a:prstGeom>
          <a:solidFill>
            <a:srgbClr val="DDE5FF"/>
          </a:solidFill>
          <a:ln w="27940">
            <a:solidFill>
              <a:srgbClr val="0B0B0B"/>
            </a:solidFill>
            <a:prstDash val="solid"/>
          </a:ln>
        </p:spPr>
      </p:sp>
      <p:sp>
        <p:nvSpPr>
          <p:cNvPr id="15" name="Text 13"/>
          <p:cNvSpPr/>
          <p:nvPr/>
        </p:nvSpPr>
        <p:spPr>
          <a:xfrm>
            <a:off x="9811512" y="3547872"/>
            <a:ext cx="1499616" cy="539496"/>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0B0B0B"/>
                </a:solidFill>
                <a:latin typeface="Arial" pitchFamily="34" charset="0"/>
                <a:ea typeface="Arial" pitchFamily="34" charset="-122"/>
                <a:cs typeface="Arial" pitchFamily="34" charset="-120"/>
              </a:rPr>
              <a:t>VERIFIED</a:t>
            </a:r>
            <a:endParaRPr lang="en-US" sz="1600" dirty="0"/>
          </a:p>
          <a:p>
            <a:pPr algn="ctr" indent="0" marL="0">
              <a:lnSpc>
                <a:spcPct val="100000"/>
              </a:lnSpc>
              <a:buNone/>
            </a:pPr>
            <a:r>
              <a:rPr lang="en-US" sz="1600" b="1" dirty="0">
                <a:solidFill>
                  <a:srgbClr val="0B0B0B"/>
                </a:solidFill>
                <a:latin typeface="Arial" pitchFamily="34" charset="0"/>
                <a:ea typeface="Arial" pitchFamily="34" charset="-122"/>
                <a:cs typeface="Arial" pitchFamily="34" charset="-120"/>
              </a:rPr>
              <a:t>ZERO</a:t>
            </a:r>
            <a:endParaRPr lang="en-US" sz="1600" dirty="0"/>
          </a:p>
        </p:txBody>
      </p:sp>
      <p:sp>
        <p:nvSpPr>
          <p:cNvPr id="16" name="Shape 14"/>
          <p:cNvSpPr/>
          <p:nvPr/>
        </p:nvSpPr>
        <p:spPr>
          <a:xfrm>
            <a:off x="3886200" y="4297680"/>
            <a:ext cx="1828800" cy="868680"/>
          </a:xfrm>
          <a:prstGeom prst="rect">
            <a:avLst/>
          </a:prstGeom>
          <a:solidFill>
            <a:srgbClr val="EF3340"/>
          </a:solidFill>
          <a:ln w="27940">
            <a:solidFill>
              <a:srgbClr val="0B0B0B"/>
            </a:solidFill>
            <a:prstDash val="solid"/>
          </a:ln>
        </p:spPr>
      </p:sp>
      <p:sp>
        <p:nvSpPr>
          <p:cNvPr id="17" name="Text 15"/>
          <p:cNvSpPr/>
          <p:nvPr/>
        </p:nvSpPr>
        <p:spPr>
          <a:xfrm>
            <a:off x="4050792" y="4462272"/>
            <a:ext cx="1499616" cy="539496"/>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FFFFFF"/>
                </a:solidFill>
                <a:latin typeface="Arial" pitchFamily="34" charset="0"/>
                <a:ea typeface="Arial" pitchFamily="34" charset="-122"/>
                <a:cs typeface="Arial" pitchFamily="34" charset="-120"/>
              </a:rPr>
              <a:t>FAULT</a:t>
            </a:r>
            <a:endParaRPr lang="en-US" sz="1600" dirty="0"/>
          </a:p>
        </p:txBody>
      </p:sp>
      <p:sp>
        <p:nvSpPr>
          <p:cNvPr id="18" name="Shape 16"/>
          <p:cNvSpPr/>
          <p:nvPr/>
        </p:nvSpPr>
        <p:spPr>
          <a:xfrm>
            <a:off x="2587752" y="2331720"/>
            <a:ext cx="384048" cy="-566928"/>
          </a:xfrm>
          <a:prstGeom prst="line">
            <a:avLst/>
          </a:prstGeom>
          <a:noFill/>
          <a:ln w="31750">
            <a:solidFill>
              <a:srgbClr val="0B0B0B"/>
            </a:solidFill>
            <a:prstDash val="solid"/>
            <a:tailEnd type="triangle"/>
          </a:ln>
        </p:spPr>
      </p:sp>
      <p:sp>
        <p:nvSpPr>
          <p:cNvPr id="19" name="Shape 17"/>
          <p:cNvSpPr/>
          <p:nvPr/>
        </p:nvSpPr>
        <p:spPr>
          <a:xfrm>
            <a:off x="4983480" y="1664208"/>
            <a:ext cx="566928" cy="594360"/>
          </a:xfrm>
          <a:prstGeom prst="line">
            <a:avLst/>
          </a:prstGeom>
          <a:noFill/>
          <a:ln w="31750">
            <a:solidFill>
              <a:srgbClr val="0B0B0B"/>
            </a:solidFill>
            <a:prstDash val="solid"/>
            <a:tailEnd type="triangle"/>
          </a:ln>
        </p:spPr>
      </p:sp>
      <p:sp>
        <p:nvSpPr>
          <p:cNvPr id="20" name="Shape 18"/>
          <p:cNvSpPr/>
          <p:nvPr/>
        </p:nvSpPr>
        <p:spPr>
          <a:xfrm>
            <a:off x="7543800" y="2267712"/>
            <a:ext cx="566928" cy="-594360"/>
          </a:xfrm>
          <a:prstGeom prst="line">
            <a:avLst/>
          </a:prstGeom>
          <a:noFill/>
          <a:ln w="31750">
            <a:solidFill>
              <a:srgbClr val="0B0B0B"/>
            </a:solidFill>
            <a:prstDash val="solid"/>
            <a:tailEnd type="triangle"/>
          </a:ln>
        </p:spPr>
      </p:sp>
      <p:sp>
        <p:nvSpPr>
          <p:cNvPr id="21" name="Shape 19"/>
          <p:cNvSpPr/>
          <p:nvPr/>
        </p:nvSpPr>
        <p:spPr>
          <a:xfrm>
            <a:off x="9464040" y="2029968"/>
            <a:ext cx="749808" cy="1234440"/>
          </a:xfrm>
          <a:prstGeom prst="line">
            <a:avLst/>
          </a:prstGeom>
          <a:noFill/>
          <a:ln w="31750">
            <a:solidFill>
              <a:srgbClr val="0B0B0B"/>
            </a:solidFill>
            <a:prstDash val="solid"/>
            <a:tailEnd type="triangle"/>
          </a:ln>
        </p:spPr>
      </p:sp>
      <p:sp>
        <p:nvSpPr>
          <p:cNvPr id="22" name="Shape 20"/>
          <p:cNvSpPr/>
          <p:nvPr/>
        </p:nvSpPr>
        <p:spPr>
          <a:xfrm>
            <a:off x="9555480" y="3858768"/>
            <a:ext cx="-3749040" cy="822960"/>
          </a:xfrm>
          <a:prstGeom prst="line">
            <a:avLst/>
          </a:prstGeom>
          <a:noFill/>
          <a:ln w="31750">
            <a:solidFill>
              <a:srgbClr val="EF3340"/>
            </a:solidFill>
            <a:prstDash val="solid"/>
            <a:tailEnd type="triangle"/>
          </a:ln>
        </p:spPr>
      </p:sp>
      <p:sp>
        <p:nvSpPr>
          <p:cNvPr id="23" name="Shape 21"/>
          <p:cNvSpPr/>
          <p:nvPr/>
        </p:nvSpPr>
        <p:spPr>
          <a:xfrm>
            <a:off x="3977640" y="4315968"/>
            <a:ext cx="-2103120" cy="-1234440"/>
          </a:xfrm>
          <a:prstGeom prst="line">
            <a:avLst/>
          </a:prstGeom>
          <a:noFill/>
          <a:ln w="31750">
            <a:solidFill>
              <a:srgbClr val="EF3340"/>
            </a:solidFill>
            <a:prstDash val="solid"/>
            <a:tailEnd type="triangle"/>
          </a:ln>
        </p:spPr>
      </p:sp>
      <p:sp>
        <p:nvSpPr>
          <p:cNvPr id="24" name="Text 22"/>
          <p:cNvSpPr/>
          <p:nvPr/>
        </p:nvSpPr>
        <p:spPr>
          <a:xfrm>
            <a:off x="2926080" y="5577840"/>
            <a:ext cx="6492240" cy="320040"/>
          </a:xfrm>
          <a:prstGeom prst="rect">
            <a:avLst/>
          </a:prstGeom>
          <a:noFill/>
          <a:ln/>
        </p:spPr>
        <p:txBody>
          <a:bodyPr wrap="square" lIns="0" tIns="0" rIns="0" bIns="0" rtlCol="0" anchor="t">
            <a:normAutofit/>
          </a:bodyPr>
          <a:lstStyle/>
          <a:p>
            <a:pPr algn="ctr" indent="0" marL="0">
              <a:lnSpc>
                <a:spcPct val="100000"/>
              </a:lnSpc>
              <a:buNone/>
            </a:pPr>
            <a:r>
              <a:rPr lang="en-US" sz="1600" b="1" dirty="0">
                <a:solidFill>
                  <a:srgbClr val="EF3340"/>
                </a:solidFill>
                <a:latin typeface="Arial" pitchFamily="34" charset="0"/>
                <a:ea typeface="Arial" pitchFamily="34" charset="-122"/>
                <a:cs typeface="Arial" pitchFamily="34" charset="-120"/>
              </a:rPr>
              <a:t>timeout • E-stop • stale sensor • ownership loss</a:t>
            </a:r>
            <a:endParaRPr lang="en-US" sz="1600" dirty="0"/>
          </a:p>
        </p:txBody>
      </p:sp>
      <p:sp>
        <p:nvSpPr>
          <p:cNvPr id="25" name="Text 23"/>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github.com/specdog/leash</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B8FF32"/>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VERIFIED STOP</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20</a:t>
            </a:r>
            <a:endParaRPr lang="en-US" sz="950" dirty="0"/>
          </a:p>
        </p:txBody>
      </p:sp>
      <p:sp>
        <p:nvSpPr>
          <p:cNvPr id="5" name="Text 3"/>
          <p:cNvSpPr/>
          <p:nvPr/>
        </p:nvSpPr>
        <p:spPr>
          <a:xfrm>
            <a:off x="502920" y="566928"/>
            <a:ext cx="11109960" cy="914400"/>
          </a:xfrm>
          <a:prstGeom prst="rect">
            <a:avLst/>
          </a:prstGeom>
          <a:noFill/>
          <a:ln/>
        </p:spPr>
        <p:txBody>
          <a:bodyPr wrap="square" lIns="0" tIns="0" rIns="0" bIns="0" rtlCol="0" anchor="ctr">
            <a:normAutofit/>
          </a:bodyPr>
          <a:lstStyle/>
          <a:p>
            <a:pPr indent="0" marL="0">
              <a:buNone/>
            </a:pPr>
            <a:r>
              <a:rPr lang="en-US" sz="3200" b="1" dirty="0">
                <a:solidFill>
                  <a:srgbClr val="0B0B0B"/>
                </a:solidFill>
                <a:latin typeface="Arial Black" pitchFamily="34" charset="0"/>
                <a:ea typeface="Arial Black" pitchFamily="34" charset="-122"/>
                <a:cs typeface="Arial Black" pitchFamily="34" charset="-120"/>
              </a:rPr>
              <a:t>A stop command is a request. Zero is the proof.</a:t>
            </a:r>
            <a:endParaRPr lang="en-US" sz="3200" dirty="0"/>
          </a:p>
        </p:txBody>
      </p:sp>
      <p:sp>
        <p:nvSpPr>
          <p:cNvPr id="6" name="Text 4"/>
          <p:cNvSpPr/>
          <p:nvPr/>
        </p:nvSpPr>
        <p:spPr>
          <a:xfrm>
            <a:off x="594360" y="1508760"/>
            <a:ext cx="5760720" cy="914400"/>
          </a:xfrm>
          <a:prstGeom prst="rect">
            <a:avLst/>
          </a:prstGeom>
          <a:noFill/>
          <a:ln/>
        </p:spPr>
        <p:txBody>
          <a:bodyPr wrap="square" lIns="0" tIns="0" rIns="0" bIns="0" rtlCol="0" anchor="t">
            <a:normAutofit/>
          </a:bodyPr>
          <a:lstStyle/>
          <a:p>
            <a:pPr algn="l" indent="0" marL="0">
              <a:lnSpc>
                <a:spcPct val="100000"/>
              </a:lnSpc>
              <a:buNone/>
            </a:pPr>
            <a:r>
              <a:rPr lang="en-US" sz="4600" b="1" dirty="0">
                <a:solidFill>
                  <a:srgbClr val="0B0B0B"/>
                </a:solidFill>
                <a:latin typeface="Arial" pitchFamily="34" charset="0"/>
                <a:ea typeface="Arial" pitchFamily="34" charset="-122"/>
                <a:cs typeface="Arial" pitchFamily="34" charset="-120"/>
              </a:rPr>
              <a:t>37.622 ms</a:t>
            </a:r>
            <a:endParaRPr lang="en-US" sz="4600" dirty="0"/>
          </a:p>
        </p:txBody>
      </p:sp>
      <p:sp>
        <p:nvSpPr>
          <p:cNvPr id="7" name="Text 5"/>
          <p:cNvSpPr/>
          <p:nvPr/>
        </p:nvSpPr>
        <p:spPr>
          <a:xfrm>
            <a:off x="640080" y="2432304"/>
            <a:ext cx="5303520" cy="365760"/>
          </a:xfrm>
          <a:prstGeom prst="rect">
            <a:avLst/>
          </a:prstGeom>
          <a:noFill/>
          <a:ln/>
        </p:spPr>
        <p:txBody>
          <a:bodyPr wrap="square" lIns="0" tIns="0" rIns="0" bIns="0" rtlCol="0" anchor="t">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physical E-stop acknowledgement</a:t>
            </a:r>
            <a:endParaRPr lang="en-US" sz="1800" dirty="0"/>
          </a:p>
        </p:txBody>
      </p:sp>
      <p:sp>
        <p:nvSpPr>
          <p:cNvPr id="8" name="Shape 6"/>
          <p:cNvSpPr/>
          <p:nvPr/>
        </p:nvSpPr>
        <p:spPr>
          <a:xfrm>
            <a:off x="685800" y="3246120"/>
            <a:ext cx="10652760" cy="0"/>
          </a:xfrm>
          <a:prstGeom prst="line">
            <a:avLst/>
          </a:prstGeom>
          <a:noFill/>
          <a:ln w="38100">
            <a:solidFill>
              <a:srgbClr val="0B0B0B"/>
            </a:solidFill>
            <a:prstDash val="solid"/>
          </a:ln>
        </p:spPr>
      </p:sp>
      <p:sp>
        <p:nvSpPr>
          <p:cNvPr id="9" name="Shape 7"/>
          <p:cNvSpPr/>
          <p:nvPr/>
        </p:nvSpPr>
        <p:spPr>
          <a:xfrm>
            <a:off x="914400" y="3959352"/>
            <a:ext cx="475488" cy="475488"/>
          </a:xfrm>
          <a:prstGeom prst="ellipse">
            <a:avLst/>
          </a:prstGeom>
          <a:solidFill>
            <a:srgbClr val="FFFDF7"/>
          </a:solidFill>
          <a:ln w="25400">
            <a:solidFill>
              <a:srgbClr val="0B0B0B"/>
            </a:solidFill>
            <a:prstDash val="solid"/>
          </a:ln>
        </p:spPr>
      </p:sp>
      <p:sp>
        <p:nvSpPr>
          <p:cNvPr id="10" name="Text 8"/>
          <p:cNvSpPr/>
          <p:nvPr/>
        </p:nvSpPr>
        <p:spPr>
          <a:xfrm>
            <a:off x="548640" y="4645152"/>
            <a:ext cx="1207008" cy="274320"/>
          </a:xfrm>
          <a:prstGeom prst="rect">
            <a:avLst/>
          </a:prstGeom>
          <a:noFill/>
          <a:ln/>
        </p:spPr>
        <p:txBody>
          <a:bodyPr wrap="square" lIns="0" tIns="0" rIns="0" bIns="0" rtlCol="0" anchor="t">
            <a:normAutofit/>
          </a:bodyPr>
          <a:lstStyle/>
          <a:p>
            <a:pPr algn="ctr" indent="0" marL="0">
              <a:lnSpc>
                <a:spcPct val="100000"/>
              </a:lnSpc>
              <a:buNone/>
            </a:pPr>
            <a:r>
              <a:rPr lang="en-US" sz="1100" b="1" dirty="0">
                <a:solidFill>
                  <a:srgbClr val="0B0B0B"/>
                </a:solidFill>
                <a:latin typeface="Arial" pitchFamily="34" charset="0"/>
                <a:ea typeface="Arial" pitchFamily="34" charset="-122"/>
                <a:cs typeface="Arial" pitchFamily="34" charset="-120"/>
              </a:rPr>
              <a:t>REQUEST</a:t>
            </a:r>
            <a:endParaRPr lang="en-US" sz="1100" dirty="0"/>
          </a:p>
        </p:txBody>
      </p:sp>
      <p:sp>
        <p:nvSpPr>
          <p:cNvPr id="11" name="Shape 9"/>
          <p:cNvSpPr/>
          <p:nvPr/>
        </p:nvSpPr>
        <p:spPr>
          <a:xfrm>
            <a:off x="1417320" y="4197096"/>
            <a:ext cx="1719072" cy="0"/>
          </a:xfrm>
          <a:prstGeom prst="line">
            <a:avLst/>
          </a:prstGeom>
          <a:noFill/>
          <a:ln w="27940">
            <a:solidFill>
              <a:srgbClr val="0B0B0B"/>
            </a:solidFill>
            <a:prstDash val="solid"/>
            <a:tailEnd type="triangle"/>
          </a:ln>
        </p:spPr>
      </p:sp>
      <p:sp>
        <p:nvSpPr>
          <p:cNvPr id="12" name="Shape 10"/>
          <p:cNvSpPr/>
          <p:nvPr/>
        </p:nvSpPr>
        <p:spPr>
          <a:xfrm>
            <a:off x="3291840" y="3959352"/>
            <a:ext cx="475488" cy="475488"/>
          </a:xfrm>
          <a:prstGeom prst="ellipse">
            <a:avLst/>
          </a:prstGeom>
          <a:solidFill>
            <a:srgbClr val="FFFDF7"/>
          </a:solidFill>
          <a:ln w="25400">
            <a:solidFill>
              <a:srgbClr val="0B0B0B"/>
            </a:solidFill>
            <a:prstDash val="solid"/>
          </a:ln>
        </p:spPr>
      </p:sp>
      <p:sp>
        <p:nvSpPr>
          <p:cNvPr id="13" name="Text 11"/>
          <p:cNvSpPr/>
          <p:nvPr/>
        </p:nvSpPr>
        <p:spPr>
          <a:xfrm>
            <a:off x="2926080" y="4645152"/>
            <a:ext cx="1207008" cy="274320"/>
          </a:xfrm>
          <a:prstGeom prst="rect">
            <a:avLst/>
          </a:prstGeom>
          <a:noFill/>
          <a:ln/>
        </p:spPr>
        <p:txBody>
          <a:bodyPr wrap="square" lIns="0" tIns="0" rIns="0" bIns="0" rtlCol="0" anchor="t">
            <a:normAutofit/>
          </a:bodyPr>
          <a:lstStyle/>
          <a:p>
            <a:pPr algn="ctr" indent="0" marL="0">
              <a:lnSpc>
                <a:spcPct val="100000"/>
              </a:lnSpc>
              <a:buNone/>
            </a:pPr>
            <a:r>
              <a:rPr lang="en-US" sz="1100" b="1" dirty="0">
                <a:solidFill>
                  <a:srgbClr val="0B0B0B"/>
                </a:solidFill>
                <a:latin typeface="Arial" pitchFamily="34" charset="0"/>
                <a:ea typeface="Arial" pitchFamily="34" charset="-122"/>
                <a:cs typeface="Arial" pitchFamily="34" charset="-120"/>
              </a:rPr>
              <a:t>ACK</a:t>
            </a:r>
            <a:endParaRPr lang="en-US" sz="1100" dirty="0"/>
          </a:p>
        </p:txBody>
      </p:sp>
      <p:sp>
        <p:nvSpPr>
          <p:cNvPr id="14" name="Shape 12"/>
          <p:cNvSpPr/>
          <p:nvPr/>
        </p:nvSpPr>
        <p:spPr>
          <a:xfrm>
            <a:off x="3794760" y="4197096"/>
            <a:ext cx="1719072" cy="0"/>
          </a:xfrm>
          <a:prstGeom prst="line">
            <a:avLst/>
          </a:prstGeom>
          <a:noFill/>
          <a:ln w="27940">
            <a:solidFill>
              <a:srgbClr val="0B0B0B"/>
            </a:solidFill>
            <a:prstDash val="solid"/>
            <a:tailEnd type="triangle"/>
          </a:ln>
        </p:spPr>
      </p:sp>
      <p:sp>
        <p:nvSpPr>
          <p:cNvPr id="15" name="Shape 13"/>
          <p:cNvSpPr/>
          <p:nvPr/>
        </p:nvSpPr>
        <p:spPr>
          <a:xfrm>
            <a:off x="5669280" y="3959352"/>
            <a:ext cx="475488" cy="475488"/>
          </a:xfrm>
          <a:prstGeom prst="ellipse">
            <a:avLst/>
          </a:prstGeom>
          <a:solidFill>
            <a:srgbClr val="FFFDF7"/>
          </a:solidFill>
          <a:ln w="25400">
            <a:solidFill>
              <a:srgbClr val="0B0B0B"/>
            </a:solidFill>
            <a:prstDash val="solid"/>
          </a:ln>
        </p:spPr>
      </p:sp>
      <p:sp>
        <p:nvSpPr>
          <p:cNvPr id="16" name="Text 14"/>
          <p:cNvSpPr/>
          <p:nvPr/>
        </p:nvSpPr>
        <p:spPr>
          <a:xfrm>
            <a:off x="5303520" y="4645152"/>
            <a:ext cx="1207008" cy="274320"/>
          </a:xfrm>
          <a:prstGeom prst="rect">
            <a:avLst/>
          </a:prstGeom>
          <a:noFill/>
          <a:ln/>
        </p:spPr>
        <p:txBody>
          <a:bodyPr wrap="square" lIns="0" tIns="0" rIns="0" bIns="0" rtlCol="0" anchor="t">
            <a:normAutofit/>
          </a:bodyPr>
          <a:lstStyle/>
          <a:p>
            <a:pPr algn="ctr" indent="0" marL="0">
              <a:lnSpc>
                <a:spcPct val="100000"/>
              </a:lnSpc>
              <a:buNone/>
            </a:pPr>
            <a:r>
              <a:rPr lang="en-US" sz="1100" b="1" dirty="0">
                <a:solidFill>
                  <a:srgbClr val="0B0B0B"/>
                </a:solidFill>
                <a:latin typeface="Arial" pitchFamily="34" charset="0"/>
                <a:ea typeface="Arial" pitchFamily="34" charset="-122"/>
                <a:cs typeface="Arial" pitchFamily="34" charset="-120"/>
              </a:rPr>
              <a:t>WRITE 0</a:t>
            </a:r>
            <a:endParaRPr lang="en-US" sz="1100" dirty="0"/>
          </a:p>
        </p:txBody>
      </p:sp>
      <p:sp>
        <p:nvSpPr>
          <p:cNvPr id="17" name="Shape 15"/>
          <p:cNvSpPr/>
          <p:nvPr/>
        </p:nvSpPr>
        <p:spPr>
          <a:xfrm>
            <a:off x="6172200" y="4197096"/>
            <a:ext cx="1719072" cy="0"/>
          </a:xfrm>
          <a:prstGeom prst="line">
            <a:avLst/>
          </a:prstGeom>
          <a:noFill/>
          <a:ln w="27940">
            <a:solidFill>
              <a:srgbClr val="0B0B0B"/>
            </a:solidFill>
            <a:prstDash val="solid"/>
            <a:tailEnd type="triangle"/>
          </a:ln>
        </p:spPr>
      </p:sp>
      <p:sp>
        <p:nvSpPr>
          <p:cNvPr id="18" name="Shape 16"/>
          <p:cNvSpPr/>
          <p:nvPr/>
        </p:nvSpPr>
        <p:spPr>
          <a:xfrm>
            <a:off x="8046720" y="3959352"/>
            <a:ext cx="475488" cy="475488"/>
          </a:xfrm>
          <a:prstGeom prst="ellipse">
            <a:avLst/>
          </a:prstGeom>
          <a:solidFill>
            <a:srgbClr val="FFFDF7"/>
          </a:solidFill>
          <a:ln w="25400">
            <a:solidFill>
              <a:srgbClr val="0B0B0B"/>
            </a:solidFill>
            <a:prstDash val="solid"/>
          </a:ln>
        </p:spPr>
      </p:sp>
      <p:sp>
        <p:nvSpPr>
          <p:cNvPr id="19" name="Text 17"/>
          <p:cNvSpPr/>
          <p:nvPr/>
        </p:nvSpPr>
        <p:spPr>
          <a:xfrm>
            <a:off x="7680960" y="4645152"/>
            <a:ext cx="1207008" cy="274320"/>
          </a:xfrm>
          <a:prstGeom prst="rect">
            <a:avLst/>
          </a:prstGeom>
          <a:noFill/>
          <a:ln/>
        </p:spPr>
        <p:txBody>
          <a:bodyPr wrap="square" lIns="0" tIns="0" rIns="0" bIns="0" rtlCol="0" anchor="t">
            <a:normAutofit/>
          </a:bodyPr>
          <a:lstStyle/>
          <a:p>
            <a:pPr algn="ctr" indent="0" marL="0">
              <a:lnSpc>
                <a:spcPct val="100000"/>
              </a:lnSpc>
              <a:buNone/>
            </a:pPr>
            <a:r>
              <a:rPr lang="en-US" sz="1100" b="1" dirty="0">
                <a:solidFill>
                  <a:srgbClr val="0B0B0B"/>
                </a:solidFill>
                <a:latin typeface="Arial" pitchFamily="34" charset="0"/>
                <a:ea typeface="Arial" pitchFamily="34" charset="-122"/>
                <a:cs typeface="Arial" pitchFamily="34" charset="-120"/>
              </a:rPr>
              <a:t>READBACK</a:t>
            </a:r>
            <a:endParaRPr lang="en-US" sz="1100" dirty="0"/>
          </a:p>
        </p:txBody>
      </p:sp>
      <p:sp>
        <p:nvSpPr>
          <p:cNvPr id="20" name="Shape 18"/>
          <p:cNvSpPr/>
          <p:nvPr/>
        </p:nvSpPr>
        <p:spPr>
          <a:xfrm>
            <a:off x="8549640" y="4197096"/>
            <a:ext cx="1719072" cy="0"/>
          </a:xfrm>
          <a:prstGeom prst="line">
            <a:avLst/>
          </a:prstGeom>
          <a:noFill/>
          <a:ln w="27940">
            <a:solidFill>
              <a:srgbClr val="0B0B0B"/>
            </a:solidFill>
            <a:prstDash val="solid"/>
            <a:tailEnd type="triangle"/>
          </a:ln>
        </p:spPr>
      </p:sp>
      <p:sp>
        <p:nvSpPr>
          <p:cNvPr id="21" name="Shape 19"/>
          <p:cNvSpPr/>
          <p:nvPr/>
        </p:nvSpPr>
        <p:spPr>
          <a:xfrm>
            <a:off x="10424160" y="3959352"/>
            <a:ext cx="475488" cy="475488"/>
          </a:xfrm>
          <a:prstGeom prst="ellipse">
            <a:avLst/>
          </a:prstGeom>
          <a:solidFill>
            <a:srgbClr val="2855FF"/>
          </a:solidFill>
          <a:ln w="25400">
            <a:solidFill>
              <a:srgbClr val="0B0B0B"/>
            </a:solidFill>
            <a:prstDash val="solid"/>
          </a:ln>
        </p:spPr>
      </p:sp>
      <p:sp>
        <p:nvSpPr>
          <p:cNvPr id="22" name="Text 20"/>
          <p:cNvSpPr/>
          <p:nvPr/>
        </p:nvSpPr>
        <p:spPr>
          <a:xfrm>
            <a:off x="10058400" y="4645152"/>
            <a:ext cx="1207008" cy="274320"/>
          </a:xfrm>
          <a:prstGeom prst="rect">
            <a:avLst/>
          </a:prstGeom>
          <a:noFill/>
          <a:ln/>
        </p:spPr>
        <p:txBody>
          <a:bodyPr wrap="square" lIns="0" tIns="0" rIns="0" bIns="0" rtlCol="0" anchor="t">
            <a:normAutofit/>
          </a:bodyPr>
          <a:lstStyle/>
          <a:p>
            <a:pPr algn="ctr" indent="0" marL="0">
              <a:lnSpc>
                <a:spcPct val="100000"/>
              </a:lnSpc>
              <a:buNone/>
            </a:pPr>
            <a:r>
              <a:rPr lang="en-US" sz="1100" b="1" dirty="0">
                <a:solidFill>
                  <a:srgbClr val="2855FF"/>
                </a:solidFill>
                <a:latin typeface="Arial" pitchFamily="34" charset="0"/>
                <a:ea typeface="Arial" pitchFamily="34" charset="-122"/>
                <a:cs typeface="Arial" pitchFamily="34" charset="-120"/>
              </a:rPr>
              <a:t>PROOF</a:t>
            </a:r>
            <a:endParaRPr lang="en-US" sz="1100" dirty="0"/>
          </a:p>
        </p:txBody>
      </p:sp>
      <p:sp>
        <p:nvSpPr>
          <p:cNvPr id="23" name="Text 21"/>
          <p:cNvSpPr/>
          <p:nvPr/>
        </p:nvSpPr>
        <p:spPr>
          <a:xfrm>
            <a:off x="5440680" y="1719072"/>
            <a:ext cx="5532120" cy="502920"/>
          </a:xfrm>
          <a:prstGeom prst="rect">
            <a:avLst/>
          </a:prstGeom>
          <a:noFill/>
          <a:ln/>
        </p:spPr>
        <p:txBody>
          <a:bodyPr wrap="square" lIns="0" tIns="0" rIns="0" bIns="0" rtlCol="0" anchor="t">
            <a:normAutofit/>
          </a:bodyPr>
          <a:lstStyle/>
          <a:p>
            <a:pPr algn="r" indent="0" marL="0">
              <a:lnSpc>
                <a:spcPct val="100000"/>
              </a:lnSpc>
              <a:buNone/>
            </a:pPr>
            <a:r>
              <a:rPr lang="en-US" sz="2300" b="1" dirty="0">
                <a:solidFill>
                  <a:srgbClr val="0B0B0B"/>
                </a:solidFill>
                <a:latin typeface="Arial" pitchFamily="34" charset="0"/>
                <a:ea typeface="Arial" pitchFamily="34" charset="-122"/>
                <a:cs typeface="Arial" pitchFamily="34" charset="-120"/>
              </a:rPr>
              <a:t>The evidence bundle also verified final zero.</a:t>
            </a:r>
            <a:endParaRPr lang="en-US" sz="2300" dirty="0"/>
          </a:p>
        </p:txBody>
      </p:sp>
      <p:sp>
        <p:nvSpPr>
          <p:cNvPr id="24" name="Shape 22"/>
          <p:cNvSpPr/>
          <p:nvPr/>
        </p:nvSpPr>
        <p:spPr>
          <a:xfrm>
            <a:off x="4434840" y="5532120"/>
            <a:ext cx="3246120" cy="384048"/>
          </a:xfrm>
          <a:prstGeom prst="roundRect">
            <a:avLst>
              <a:gd name="adj" fmla="val 19048"/>
            </a:avLst>
          </a:prstGeom>
          <a:solidFill>
            <a:srgbClr val="FFFDF7"/>
          </a:solidFill>
          <a:ln w="19050">
            <a:solidFill>
              <a:srgbClr val="0B0B0B"/>
            </a:solidFill>
            <a:prstDash val="solid"/>
          </a:ln>
        </p:spPr>
      </p:sp>
      <p:sp>
        <p:nvSpPr>
          <p:cNvPr id="25" name="Text 23"/>
          <p:cNvSpPr/>
          <p:nvPr/>
        </p:nvSpPr>
        <p:spPr>
          <a:xfrm>
            <a:off x="4544568" y="5605272"/>
            <a:ext cx="3026664" cy="219456"/>
          </a:xfrm>
          <a:prstGeom prst="rect">
            <a:avLst/>
          </a:prstGeom>
          <a:noFill/>
          <a:ln/>
        </p:spPr>
        <p:txBody>
          <a:bodyPr wrap="square" lIns="0" tIns="0" rIns="0" bIns="0" rtlCol="0" anchor="ctr">
            <a:normAutofit/>
          </a:bodyPr>
          <a:lstStyle/>
          <a:p>
            <a:pPr algn="ctr" indent="0" marL="0">
              <a:lnSpc>
                <a:spcPct val="100000"/>
              </a:lnSpc>
              <a:buNone/>
            </a:pPr>
            <a:r>
              <a:rPr lang="en-US" sz="1050" b="1" dirty="0">
                <a:solidFill>
                  <a:srgbClr val="0B0B0B"/>
                </a:solidFill>
                <a:latin typeface="Arial" pitchFamily="34" charset="0"/>
                <a:ea typeface="Arial" pitchFamily="34" charset="-122"/>
                <a:cs typeface="Arial" pitchFamily="34" charset="-120"/>
              </a:rPr>
              <a:t>MEASURED ON JETSON ORIN NX</a:t>
            </a:r>
            <a:endParaRPr lang="en-US" sz="1050" dirty="0"/>
          </a:p>
        </p:txBody>
      </p:sp>
      <p:sp>
        <p:nvSpPr>
          <p:cNvPr id="26" name="Text 24"/>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github.com/specdog/leash</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0B0B"/>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CUDA</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21</a:t>
            </a:r>
            <a:endParaRPr lang="en-US" sz="950" dirty="0"/>
          </a:p>
        </p:txBody>
      </p:sp>
      <p:sp>
        <p:nvSpPr>
          <p:cNvPr id="5" name="Text 3"/>
          <p:cNvSpPr/>
          <p:nvPr/>
        </p:nvSpPr>
        <p:spPr>
          <a:xfrm>
            <a:off x="502920" y="566928"/>
            <a:ext cx="11109960" cy="91440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rial Black" pitchFamily="34" charset="0"/>
                <a:ea typeface="Arial Black" pitchFamily="34" charset="-122"/>
                <a:cs typeface="Arial Black" pitchFamily="34" charset="-120"/>
              </a:rPr>
              <a:t>CUDA accelerates. CPU owns motion.</a:t>
            </a:r>
            <a:endParaRPr lang="en-US" sz="3400" dirty="0"/>
          </a:p>
        </p:txBody>
      </p:sp>
      <p:sp>
        <p:nvSpPr>
          <p:cNvPr id="6" name="Shape 4"/>
          <p:cNvSpPr/>
          <p:nvPr/>
        </p:nvSpPr>
        <p:spPr>
          <a:xfrm>
            <a:off x="731520" y="1874520"/>
            <a:ext cx="2926080" cy="1874520"/>
          </a:xfrm>
          <a:prstGeom prst="rect">
            <a:avLst/>
          </a:prstGeom>
          <a:solidFill>
            <a:srgbClr val="B8FF32"/>
          </a:solidFill>
          <a:ln w="27940">
            <a:solidFill>
              <a:srgbClr val="0B0B0B"/>
            </a:solidFill>
            <a:prstDash val="solid"/>
          </a:ln>
        </p:spPr>
      </p:sp>
      <p:sp>
        <p:nvSpPr>
          <p:cNvPr id="7" name="Text 5"/>
          <p:cNvSpPr/>
          <p:nvPr/>
        </p:nvSpPr>
        <p:spPr>
          <a:xfrm>
            <a:off x="896112" y="2039112"/>
            <a:ext cx="2596896" cy="1545336"/>
          </a:xfrm>
          <a:prstGeom prst="rect">
            <a:avLst/>
          </a:prstGeom>
          <a:noFill/>
          <a:ln/>
        </p:spPr>
        <p:txBody>
          <a:bodyPr wrap="square" lIns="0" tIns="0" rIns="0" bIns="0" rtlCol="0" anchor="ctr">
            <a:normAutofit/>
          </a:bodyPr>
          <a:lstStyle/>
          <a:p>
            <a:pPr algn="ctr" indent="0" marL="0">
              <a:lnSpc>
                <a:spcPct val="100000"/>
              </a:lnSpc>
              <a:buNone/>
            </a:pPr>
            <a:r>
              <a:rPr lang="en-US" sz="2400" b="1" dirty="0">
                <a:solidFill>
                  <a:srgbClr val="0B0B0B"/>
                </a:solidFill>
                <a:latin typeface="Arial" pitchFamily="34" charset="0"/>
                <a:ea typeface="Arial" pitchFamily="34" charset="-122"/>
                <a:cs typeface="Arial" pitchFamily="34" charset="-120"/>
              </a:rPr>
              <a:t>CPU</a:t>
            </a:r>
            <a:endParaRPr lang="en-US" sz="2400" dirty="0"/>
          </a:p>
          <a:p>
            <a:pPr algn="ctr" indent="0" marL="0">
              <a:lnSpc>
                <a:spcPct val="100000"/>
              </a:lnSpc>
              <a:buNone/>
            </a:pPr>
            <a:r>
              <a:rPr lang="en-US" sz="2400" b="1" dirty="0">
                <a:solidFill>
                  <a:srgbClr val="0B0B0B"/>
                </a:solidFill>
                <a:latin typeface="Arial" pitchFamily="34" charset="0"/>
                <a:ea typeface="Arial" pitchFamily="34" charset="-122"/>
                <a:cs typeface="Arial" pitchFamily="34" charset="-120"/>
              </a:rPr>
              <a:t>AUTHORITATIVE</a:t>
            </a:r>
            <a:endParaRPr lang="en-US" sz="2400" dirty="0"/>
          </a:p>
        </p:txBody>
      </p:sp>
      <p:sp>
        <p:nvSpPr>
          <p:cNvPr id="8" name="Shape 6"/>
          <p:cNvSpPr/>
          <p:nvPr/>
        </p:nvSpPr>
        <p:spPr>
          <a:xfrm>
            <a:off x="4617720" y="1874520"/>
            <a:ext cx="2926080" cy="1874520"/>
          </a:xfrm>
          <a:prstGeom prst="rect">
            <a:avLst/>
          </a:prstGeom>
          <a:solidFill>
            <a:srgbClr val="2855FF"/>
          </a:solidFill>
          <a:ln w="27940">
            <a:solidFill>
              <a:srgbClr val="0B0B0B"/>
            </a:solidFill>
            <a:prstDash val="solid"/>
          </a:ln>
        </p:spPr>
      </p:sp>
      <p:sp>
        <p:nvSpPr>
          <p:cNvPr id="9" name="Text 7"/>
          <p:cNvSpPr/>
          <p:nvPr/>
        </p:nvSpPr>
        <p:spPr>
          <a:xfrm>
            <a:off x="4782312" y="2039112"/>
            <a:ext cx="2596896" cy="1545336"/>
          </a:xfrm>
          <a:prstGeom prst="rect">
            <a:avLst/>
          </a:prstGeom>
          <a:noFill/>
          <a:ln/>
        </p:spPr>
        <p:txBody>
          <a:bodyPr wrap="square" lIns="0" tIns="0" rIns="0" bIns="0" rtlCol="0" anchor="ctr">
            <a:normAutofit/>
          </a:bodyPr>
          <a:lstStyle/>
          <a:p>
            <a:pPr algn="ctr" indent="0" marL="0">
              <a:lnSpc>
                <a:spcPct val="100000"/>
              </a:lnSpc>
              <a:buNone/>
            </a:pPr>
            <a:r>
              <a:rPr lang="en-US" sz="2400" b="1" dirty="0">
                <a:solidFill>
                  <a:srgbClr val="FFFFFF"/>
                </a:solidFill>
                <a:latin typeface="Arial" pitchFamily="34" charset="0"/>
                <a:ea typeface="Arial" pitchFamily="34" charset="-122"/>
                <a:cs typeface="Arial" pitchFamily="34" charset="-120"/>
              </a:rPr>
              <a:t>CUDA</a:t>
            </a:r>
            <a:endParaRPr lang="en-US" sz="2400" dirty="0"/>
          </a:p>
          <a:p>
            <a:pPr algn="ctr" indent="0" marL="0">
              <a:lnSpc>
                <a:spcPct val="100000"/>
              </a:lnSpc>
              <a:buNone/>
            </a:pPr>
            <a:r>
              <a:rPr lang="en-US" sz="2400" b="1" dirty="0">
                <a:solidFill>
                  <a:srgbClr val="FFFFFF"/>
                </a:solidFill>
                <a:latin typeface="Arial" pitchFamily="34" charset="0"/>
                <a:ea typeface="Arial" pitchFamily="34" charset="-122"/>
                <a:cs typeface="Arial" pitchFamily="34" charset="-120"/>
              </a:rPr>
              <a:t>SHADOW</a:t>
            </a:r>
            <a:endParaRPr lang="en-US" sz="2400" dirty="0"/>
          </a:p>
        </p:txBody>
      </p:sp>
      <p:sp>
        <p:nvSpPr>
          <p:cNvPr id="10" name="Shape 8"/>
          <p:cNvSpPr/>
          <p:nvPr/>
        </p:nvSpPr>
        <p:spPr>
          <a:xfrm>
            <a:off x="8503920" y="1874520"/>
            <a:ext cx="2926080" cy="1874520"/>
          </a:xfrm>
          <a:prstGeom prst="rect">
            <a:avLst/>
          </a:prstGeom>
          <a:solidFill>
            <a:srgbClr val="FFFDF7"/>
          </a:solidFill>
          <a:ln w="27940">
            <a:solidFill>
              <a:srgbClr val="0B0B0B"/>
            </a:solidFill>
            <a:prstDash val="solid"/>
          </a:ln>
        </p:spPr>
      </p:sp>
      <p:sp>
        <p:nvSpPr>
          <p:cNvPr id="11" name="Text 9"/>
          <p:cNvSpPr/>
          <p:nvPr/>
        </p:nvSpPr>
        <p:spPr>
          <a:xfrm>
            <a:off x="8668512" y="2039112"/>
            <a:ext cx="2596896" cy="1545336"/>
          </a:xfrm>
          <a:prstGeom prst="rect">
            <a:avLst/>
          </a:prstGeom>
          <a:noFill/>
          <a:ln/>
        </p:spPr>
        <p:txBody>
          <a:bodyPr wrap="square" lIns="0" tIns="0" rIns="0" bIns="0" rtlCol="0" anchor="ctr">
            <a:normAutofit/>
          </a:bodyPr>
          <a:lstStyle/>
          <a:p>
            <a:pPr algn="ctr" indent="0" marL="0">
              <a:lnSpc>
                <a:spcPct val="100000"/>
              </a:lnSpc>
              <a:buNone/>
            </a:pPr>
            <a:r>
              <a:rPr lang="en-US" sz="2400" b="1" dirty="0">
                <a:solidFill>
                  <a:srgbClr val="0B0B0B"/>
                </a:solidFill>
                <a:latin typeface="Arial" pitchFamily="34" charset="0"/>
                <a:ea typeface="Arial" pitchFamily="34" charset="-122"/>
                <a:cs typeface="Arial" pitchFamily="34" charset="-120"/>
              </a:rPr>
              <a:t>MOTOR</a:t>
            </a:r>
            <a:endParaRPr lang="en-US" sz="2400" dirty="0"/>
          </a:p>
          <a:p>
            <a:pPr algn="ctr" indent="0" marL="0">
              <a:lnSpc>
                <a:spcPct val="100000"/>
              </a:lnSpc>
              <a:buNone/>
            </a:pPr>
            <a:r>
              <a:rPr lang="en-US" sz="2400" b="1" dirty="0">
                <a:solidFill>
                  <a:srgbClr val="0B0B0B"/>
                </a:solidFill>
                <a:latin typeface="Arial" pitchFamily="34" charset="0"/>
                <a:ea typeface="Arial" pitchFamily="34" charset="-122"/>
                <a:cs typeface="Arial" pitchFamily="34" charset="-120"/>
              </a:rPr>
              <a:t>WRITE</a:t>
            </a:r>
            <a:endParaRPr lang="en-US" sz="2400" dirty="0"/>
          </a:p>
        </p:txBody>
      </p:sp>
      <p:sp>
        <p:nvSpPr>
          <p:cNvPr id="12" name="Shape 10"/>
          <p:cNvSpPr/>
          <p:nvPr/>
        </p:nvSpPr>
        <p:spPr>
          <a:xfrm>
            <a:off x="3767328" y="2816352"/>
            <a:ext cx="731520" cy="0"/>
          </a:xfrm>
          <a:prstGeom prst="line">
            <a:avLst/>
          </a:prstGeom>
          <a:noFill/>
          <a:ln w="38100">
            <a:solidFill>
              <a:srgbClr val="FFFFFF"/>
            </a:solidFill>
            <a:prstDash val="solid"/>
            <a:tailEnd type="triangle"/>
          </a:ln>
        </p:spPr>
      </p:sp>
      <p:sp>
        <p:nvSpPr>
          <p:cNvPr id="13" name="Shape 11"/>
          <p:cNvSpPr/>
          <p:nvPr/>
        </p:nvSpPr>
        <p:spPr>
          <a:xfrm>
            <a:off x="7662672" y="2816352"/>
            <a:ext cx="731520" cy="0"/>
          </a:xfrm>
          <a:prstGeom prst="line">
            <a:avLst/>
          </a:prstGeom>
          <a:noFill/>
          <a:ln w="38100">
            <a:solidFill>
              <a:srgbClr val="FFFFFF"/>
            </a:solidFill>
            <a:prstDash val="solid"/>
            <a:tailEnd type="triangle"/>
          </a:ln>
        </p:spPr>
      </p:sp>
      <p:sp>
        <p:nvSpPr>
          <p:cNvPr id="14" name="Shape 12"/>
          <p:cNvSpPr/>
          <p:nvPr/>
        </p:nvSpPr>
        <p:spPr>
          <a:xfrm>
            <a:off x="4882896" y="4251960"/>
            <a:ext cx="2377440" cy="0"/>
          </a:xfrm>
          <a:prstGeom prst="line">
            <a:avLst/>
          </a:prstGeom>
          <a:noFill/>
          <a:ln w="63500">
            <a:solidFill>
              <a:srgbClr val="EF3340"/>
            </a:solidFill>
            <a:prstDash val="solid"/>
          </a:ln>
        </p:spPr>
      </p:sp>
      <p:sp>
        <p:nvSpPr>
          <p:cNvPr id="15" name="Text 13"/>
          <p:cNvSpPr/>
          <p:nvPr/>
        </p:nvSpPr>
        <p:spPr>
          <a:xfrm>
            <a:off x="4736592" y="4480560"/>
            <a:ext cx="2697480" cy="310896"/>
          </a:xfrm>
          <a:prstGeom prst="rect">
            <a:avLst/>
          </a:prstGeom>
          <a:noFill/>
          <a:ln/>
        </p:spPr>
        <p:txBody>
          <a:bodyPr wrap="square" lIns="0" tIns="0" rIns="0" bIns="0" rtlCol="0" anchor="t">
            <a:normAutofit/>
          </a:bodyPr>
          <a:lstStyle/>
          <a:p>
            <a:pPr algn="ctr" indent="0" marL="0">
              <a:lnSpc>
                <a:spcPct val="100000"/>
              </a:lnSpc>
              <a:buNone/>
            </a:pPr>
            <a:r>
              <a:rPr lang="en-US" sz="1200" b="1" dirty="0">
                <a:solidFill>
                  <a:srgbClr val="EF3340"/>
                </a:solidFill>
                <a:latin typeface="Arial" pitchFamily="34" charset="0"/>
                <a:ea typeface="Arial" pitchFamily="34" charset="-122"/>
                <a:cs typeface="Arial" pitchFamily="34" charset="-120"/>
              </a:rPr>
              <a:t>NO DIRECT AUTHORITY</a:t>
            </a:r>
            <a:endParaRPr lang="en-US" sz="1200" dirty="0"/>
          </a:p>
        </p:txBody>
      </p:sp>
      <p:sp>
        <p:nvSpPr>
          <p:cNvPr id="16" name="Text 14"/>
          <p:cNvSpPr/>
          <p:nvPr/>
        </p:nvSpPr>
        <p:spPr>
          <a:xfrm>
            <a:off x="2240280" y="5349240"/>
            <a:ext cx="7726680" cy="347472"/>
          </a:xfrm>
          <a:prstGeom prst="rect">
            <a:avLst/>
          </a:prstGeom>
          <a:noFill/>
          <a:ln/>
        </p:spPr>
        <p:txBody>
          <a:bodyPr wrap="square" lIns="0" tIns="0" rIns="0" bIns="0" rtlCol="0" anchor="t">
            <a:normAutofit/>
          </a:bodyPr>
          <a:lstStyle/>
          <a:p>
            <a:pPr algn="ctr" indent="0" marL="0">
              <a:lnSpc>
                <a:spcPct val="100000"/>
              </a:lnSpc>
              <a:buNone/>
            </a:pPr>
            <a:r>
              <a:rPr lang="en-US" sz="1800" b="1" dirty="0">
                <a:solidFill>
                  <a:srgbClr val="FFFFFF"/>
                </a:solidFill>
                <a:latin typeface="Arial" pitchFamily="34" charset="0"/>
                <a:ea typeface="Arial" pitchFamily="34" charset="-122"/>
                <a:cs typeface="Arial" pitchFamily="34" charset="-120"/>
              </a:rPr>
              <a:t>promote only after parity + performance evidence</a:t>
            </a:r>
            <a:endParaRPr lang="en-US" sz="1800" dirty="0"/>
          </a:p>
        </p:txBody>
      </p:sp>
      <p:sp>
        <p:nvSpPr>
          <p:cNvPr id="17" name="Text 15"/>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https://github.com/specdog/leash</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DE5FF"/>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INTEGRATION</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22</a:t>
            </a:r>
            <a:endParaRPr lang="en-US" sz="950" dirty="0"/>
          </a:p>
        </p:txBody>
      </p:sp>
      <p:sp>
        <p:nvSpPr>
          <p:cNvPr id="5" name="Text 3"/>
          <p:cNvSpPr/>
          <p:nvPr/>
        </p:nvSpPr>
        <p:spPr>
          <a:xfrm>
            <a:off x="502920" y="566928"/>
            <a:ext cx="11109960" cy="914400"/>
          </a:xfrm>
          <a:prstGeom prst="rect">
            <a:avLst/>
          </a:prstGeom>
          <a:noFill/>
          <a:ln/>
        </p:spPr>
        <p:txBody>
          <a:bodyPr wrap="square" lIns="0" tIns="0" rIns="0" bIns="0" rtlCol="0" anchor="ctr">
            <a:normAutofit/>
          </a:bodyPr>
          <a:lstStyle/>
          <a:p>
            <a:pPr indent="0" marL="0">
              <a:buNone/>
            </a:pPr>
            <a:r>
              <a:rPr lang="en-US" sz="3000" b="1" dirty="0">
                <a:solidFill>
                  <a:srgbClr val="0B0B0B"/>
                </a:solidFill>
                <a:latin typeface="Arial Black" pitchFamily="34" charset="0"/>
                <a:ea typeface="Arial Black" pitchFamily="34" charset="-122"/>
                <a:cs typeface="Arial Black" pitchFamily="34" charset="-120"/>
              </a:rPr>
              <a:t>Phantom types stop coordinate frames from drifting.</a:t>
            </a:r>
            <a:endParaRPr lang="en-US" sz="3000" dirty="0"/>
          </a:p>
        </p:txBody>
      </p:sp>
      <p:sp>
        <p:nvSpPr>
          <p:cNvPr id="6" name="Shape 4"/>
          <p:cNvSpPr/>
          <p:nvPr/>
        </p:nvSpPr>
        <p:spPr>
          <a:xfrm>
            <a:off x="566928" y="1188720"/>
            <a:ext cx="6537960" cy="4956048"/>
          </a:xfrm>
          <a:prstGeom prst="rect">
            <a:avLst/>
          </a:prstGeom>
          <a:solidFill>
            <a:srgbClr val="0B0B0B"/>
          </a:solidFill>
          <a:ln w="27940">
            <a:solidFill>
              <a:srgbClr val="0B0B0B"/>
            </a:solidFill>
            <a:prstDash val="solid"/>
          </a:ln>
        </p:spPr>
      </p:sp>
      <p:sp>
        <p:nvSpPr>
          <p:cNvPr id="7" name="Text 5"/>
          <p:cNvSpPr/>
          <p:nvPr/>
        </p:nvSpPr>
        <p:spPr>
          <a:xfrm>
            <a:off x="859536" y="1481328"/>
            <a:ext cx="5952744" cy="4370832"/>
          </a:xfrm>
          <a:prstGeom prst="rect">
            <a:avLst/>
          </a:prstGeom>
          <a:noFill/>
          <a:ln/>
        </p:spPr>
        <p:txBody>
          <a:bodyPr wrap="square" lIns="0" tIns="0" rIns="0" bIns="0" rtlCol="0" anchor="ctr">
            <a:normAutofit/>
          </a:bodyPr>
          <a:lstStyle/>
          <a:p>
            <a:pPr algn="l" indent="0" marL="0">
              <a:lnSpc>
                <a:spcPct val="100000"/>
              </a:lnSpc>
              <a:buNone/>
            </a:pPr>
            <a:r>
              <a:rPr lang="en-US" sz="1720" b="1" dirty="0">
                <a:solidFill>
                  <a:srgbClr val="FFFFFF"/>
                </a:solidFill>
                <a:latin typeface="Courier New" pitchFamily="34" charset="0"/>
                <a:ea typeface="Courier New" pitchFamily="34" charset="-122"/>
                <a:cs typeface="Courier New" pitchFamily="34" charset="-120"/>
              </a:rPr>
              <a:t>pub enum Map {}</a:t>
            </a:r>
            <a:endParaRPr lang="en-US" sz="1720" dirty="0"/>
          </a:p>
          <a:p>
            <a:pPr algn="l" indent="0" marL="0">
              <a:lnSpc>
                <a:spcPct val="100000"/>
              </a:lnSpc>
              <a:buNone/>
            </a:pPr>
            <a:r>
              <a:rPr lang="en-US" sz="1720" b="1" dirty="0">
                <a:solidFill>
                  <a:srgbClr val="FFFFFF"/>
                </a:solidFill>
                <a:latin typeface="Courier New" pitchFamily="34" charset="0"/>
                <a:ea typeface="Courier New" pitchFamily="34" charset="-122"/>
                <a:cs typeface="Courier New" pitchFamily="34" charset="-120"/>
              </a:rPr>
              <a:t>pub enum Odom {}</a:t>
            </a:r>
            <a:endParaRPr lang="en-US" sz="1720" dirty="0"/>
          </a:p>
          <a:p>
            <a:pPr algn="l" indent="0" marL="0">
              <a:lnSpc>
                <a:spcPct val="100000"/>
              </a:lnSpc>
              <a:buNone/>
            </a:pPr>
            <a:endParaRPr lang="en-US" sz="1720" dirty="0"/>
          </a:p>
          <a:p>
            <a:pPr algn="l" indent="0" marL="0">
              <a:lnSpc>
                <a:spcPct val="100000"/>
              </a:lnSpc>
              <a:buNone/>
            </a:pPr>
            <a:r>
              <a:rPr lang="en-US" sz="1720" b="1" dirty="0">
                <a:solidFill>
                  <a:srgbClr val="FFFFFF"/>
                </a:solidFill>
                <a:latin typeface="Courier New" pitchFamily="34" charset="0"/>
                <a:ea typeface="Courier New" pitchFamily="34" charset="-122"/>
                <a:cs typeface="Courier New" pitchFamily="34" charset="-120"/>
              </a:rPr>
              <a:t>pub struct Frame&lt;Tag&gt; {</a:t>
            </a:r>
            <a:endParaRPr lang="en-US" sz="1720" dirty="0"/>
          </a:p>
          <a:p>
            <a:pPr algn="l" indent="0" marL="0">
              <a:lnSpc>
                <a:spcPct val="100000"/>
              </a:lnSpc>
              <a:buNone/>
            </a:pPr>
            <a:r>
              <a:rPr lang="en-US" sz="1720" b="1" dirty="0">
                <a:solidFill>
                  <a:srgbClr val="FFFFFF"/>
                </a:solidFill>
                <a:latin typeface="Courier New" pitchFamily="34" charset="0"/>
                <a:ea typeface="Courier New" pitchFamily="34" charset="-122"/>
                <a:cs typeface="Courier New" pitchFamily="34" charset="-120"/>
              </a:rPr>
              <a:t>  name: FrameName,</a:t>
            </a:r>
            <a:endParaRPr lang="en-US" sz="1720" dirty="0"/>
          </a:p>
          <a:p>
            <a:pPr algn="l" indent="0" marL="0">
              <a:lnSpc>
                <a:spcPct val="100000"/>
              </a:lnSpc>
              <a:buNone/>
            </a:pPr>
            <a:r>
              <a:rPr lang="en-US" sz="1720" b="1" dirty="0">
                <a:solidFill>
                  <a:srgbClr val="FFFFFF"/>
                </a:solidFill>
                <a:latin typeface="Courier New" pitchFamily="34" charset="0"/>
                <a:ea typeface="Courier New" pitchFamily="34" charset="-122"/>
                <a:cs typeface="Courier New" pitchFamily="34" charset="-120"/>
              </a:rPr>
              <a:t>  marker: PhantomData&lt;fn() -&gt; Tag&gt;,</a:t>
            </a:r>
            <a:endParaRPr lang="en-US" sz="1720" dirty="0"/>
          </a:p>
          <a:p>
            <a:pPr algn="l" indent="0" marL="0">
              <a:lnSpc>
                <a:spcPct val="100000"/>
              </a:lnSpc>
              <a:buNone/>
            </a:pPr>
            <a:r>
              <a:rPr lang="en-US" sz="1720" b="1" dirty="0">
                <a:solidFill>
                  <a:srgbClr val="FFFFFF"/>
                </a:solidFill>
                <a:latin typeface="Courier New" pitchFamily="34" charset="0"/>
                <a:ea typeface="Courier New" pitchFamily="34" charset="-122"/>
                <a:cs typeface="Courier New" pitchFamily="34" charset="-120"/>
              </a:rPr>
              <a:t>}</a:t>
            </a:r>
            <a:endParaRPr lang="en-US" sz="1720" dirty="0"/>
          </a:p>
          <a:p>
            <a:pPr algn="l" indent="0" marL="0">
              <a:lnSpc>
                <a:spcPct val="100000"/>
              </a:lnSpc>
              <a:buNone/>
            </a:pPr>
            <a:endParaRPr lang="en-US" sz="1720" dirty="0"/>
          </a:p>
          <a:p>
            <a:pPr algn="l" indent="0" marL="0">
              <a:lnSpc>
                <a:spcPct val="100000"/>
              </a:lnSpc>
              <a:buNone/>
            </a:pPr>
            <a:r>
              <a:rPr lang="en-US" sz="1720" b="1" dirty="0">
                <a:solidFill>
                  <a:srgbClr val="FFFFFF"/>
                </a:solidFill>
                <a:latin typeface="Courier New" pitchFamily="34" charset="0"/>
                <a:ea typeface="Courier New" pitchFamily="34" charset="-122"/>
                <a:cs typeface="Courier New" pitchFamily="34" charset="-120"/>
              </a:rPr>
              <a:t>pub struct Pose2&lt;Tag&gt; {</a:t>
            </a:r>
            <a:endParaRPr lang="en-US" sz="1720" dirty="0"/>
          </a:p>
          <a:p>
            <a:pPr algn="l" indent="0" marL="0">
              <a:lnSpc>
                <a:spcPct val="100000"/>
              </a:lnSpc>
              <a:buNone/>
            </a:pPr>
            <a:r>
              <a:rPr lang="en-US" sz="1720" b="1" dirty="0">
                <a:solidFill>
                  <a:srgbClr val="FFFFFF"/>
                </a:solidFill>
                <a:latin typeface="Courier New" pitchFamily="34" charset="0"/>
                <a:ea typeface="Courier New" pitchFamily="34" charset="-122"/>
                <a:cs typeface="Courier New" pitchFamily="34" charset="-120"/>
              </a:rPr>
              <a:t>  frame: Frame&lt;Tag&gt;,</a:t>
            </a:r>
            <a:endParaRPr lang="en-US" sz="1720" dirty="0"/>
          </a:p>
          <a:p>
            <a:pPr algn="l" indent="0" marL="0">
              <a:lnSpc>
                <a:spcPct val="100000"/>
              </a:lnSpc>
              <a:buNone/>
            </a:pPr>
            <a:r>
              <a:rPr lang="en-US" sz="1720" b="1" dirty="0">
                <a:solidFill>
                  <a:srgbClr val="FFFFFF"/>
                </a:solidFill>
                <a:latin typeface="Courier New" pitchFamily="34" charset="0"/>
                <a:ea typeface="Courier New" pitchFamily="34" charset="-122"/>
                <a:cs typeface="Courier New" pitchFamily="34" charset="-120"/>
              </a:rPr>
              <a:t>  x: Meters, y: Meters, yaw: Radians,</a:t>
            </a:r>
            <a:endParaRPr lang="en-US" sz="1720" dirty="0"/>
          </a:p>
          <a:p>
            <a:pPr algn="l" indent="0" marL="0">
              <a:lnSpc>
                <a:spcPct val="100000"/>
              </a:lnSpc>
              <a:buNone/>
            </a:pPr>
            <a:r>
              <a:rPr lang="en-US" sz="1720" b="1" dirty="0">
                <a:solidFill>
                  <a:srgbClr val="FFFFFF"/>
                </a:solidFill>
                <a:latin typeface="Courier New" pitchFamily="34" charset="0"/>
                <a:ea typeface="Courier New" pitchFamily="34" charset="-122"/>
                <a:cs typeface="Courier New" pitchFamily="34" charset="-120"/>
              </a:rPr>
              <a:t>}</a:t>
            </a:r>
            <a:endParaRPr lang="en-US" sz="1720" dirty="0"/>
          </a:p>
        </p:txBody>
      </p:sp>
      <p:sp>
        <p:nvSpPr>
          <p:cNvPr id="8" name="Shape 6"/>
          <p:cNvSpPr/>
          <p:nvPr/>
        </p:nvSpPr>
        <p:spPr>
          <a:xfrm>
            <a:off x="7699248" y="1481328"/>
            <a:ext cx="3291840" cy="749808"/>
          </a:xfrm>
          <a:prstGeom prst="rect">
            <a:avLst/>
          </a:prstGeom>
          <a:solidFill>
            <a:srgbClr val="B8FF32"/>
          </a:solidFill>
          <a:ln w="27940">
            <a:solidFill>
              <a:srgbClr val="0B0B0B"/>
            </a:solidFill>
            <a:prstDash val="solid"/>
          </a:ln>
        </p:spPr>
      </p:sp>
      <p:sp>
        <p:nvSpPr>
          <p:cNvPr id="9" name="Text 7"/>
          <p:cNvSpPr/>
          <p:nvPr/>
        </p:nvSpPr>
        <p:spPr>
          <a:xfrm>
            <a:off x="7863840" y="1645920"/>
            <a:ext cx="2962656" cy="420624"/>
          </a:xfrm>
          <a:prstGeom prst="rect">
            <a:avLst/>
          </a:prstGeom>
          <a:noFill/>
          <a:ln/>
        </p:spPr>
        <p:txBody>
          <a:bodyPr wrap="square" lIns="0" tIns="0" rIns="0" bIns="0" rtlCol="0" anchor="ctr">
            <a:normAutofit/>
          </a:bodyPr>
          <a:lstStyle/>
          <a:p>
            <a:pPr algn="ctr" indent="0" marL="0">
              <a:lnSpc>
                <a:spcPct val="100000"/>
              </a:lnSpc>
              <a:buNone/>
            </a:pPr>
            <a:r>
              <a:rPr lang="en-US" sz="2100" b="1" dirty="0">
                <a:solidFill>
                  <a:srgbClr val="0B0B0B"/>
                </a:solidFill>
                <a:latin typeface="Courier New" pitchFamily="34" charset="0"/>
                <a:ea typeface="Courier New" pitchFamily="34" charset="-122"/>
                <a:cs typeface="Courier New" pitchFamily="34" charset="-120"/>
              </a:rPr>
              <a:t>Pose2&lt;Map&gt;</a:t>
            </a:r>
            <a:endParaRPr lang="en-US" sz="2100" dirty="0"/>
          </a:p>
        </p:txBody>
      </p:sp>
      <p:sp>
        <p:nvSpPr>
          <p:cNvPr id="10" name="Shape 8"/>
          <p:cNvSpPr/>
          <p:nvPr/>
        </p:nvSpPr>
        <p:spPr>
          <a:xfrm>
            <a:off x="7699248" y="2743200"/>
            <a:ext cx="3291840" cy="749808"/>
          </a:xfrm>
          <a:prstGeom prst="rect">
            <a:avLst/>
          </a:prstGeom>
          <a:solidFill>
            <a:srgbClr val="FFD63D"/>
          </a:solidFill>
          <a:ln w="27940">
            <a:solidFill>
              <a:srgbClr val="0B0B0B"/>
            </a:solidFill>
            <a:prstDash val="solid"/>
          </a:ln>
        </p:spPr>
      </p:sp>
      <p:sp>
        <p:nvSpPr>
          <p:cNvPr id="11" name="Text 9"/>
          <p:cNvSpPr/>
          <p:nvPr/>
        </p:nvSpPr>
        <p:spPr>
          <a:xfrm>
            <a:off x="7863840" y="2907792"/>
            <a:ext cx="2962656" cy="420624"/>
          </a:xfrm>
          <a:prstGeom prst="rect">
            <a:avLst/>
          </a:prstGeom>
          <a:noFill/>
          <a:ln/>
        </p:spPr>
        <p:txBody>
          <a:bodyPr wrap="square" lIns="0" tIns="0" rIns="0" bIns="0" rtlCol="0" anchor="ctr">
            <a:normAutofit/>
          </a:bodyPr>
          <a:lstStyle/>
          <a:p>
            <a:pPr algn="ctr" indent="0" marL="0">
              <a:lnSpc>
                <a:spcPct val="100000"/>
              </a:lnSpc>
              <a:buNone/>
            </a:pPr>
            <a:r>
              <a:rPr lang="en-US" sz="2100" b="1" dirty="0">
                <a:solidFill>
                  <a:srgbClr val="0B0B0B"/>
                </a:solidFill>
                <a:latin typeface="Courier New" pitchFamily="34" charset="0"/>
                <a:ea typeface="Courier New" pitchFamily="34" charset="-122"/>
                <a:cs typeface="Courier New" pitchFamily="34" charset="-120"/>
              </a:rPr>
              <a:t>Pose2&lt;Odom&gt;</a:t>
            </a:r>
            <a:endParaRPr lang="en-US" sz="2100" dirty="0"/>
          </a:p>
        </p:txBody>
      </p:sp>
      <p:sp>
        <p:nvSpPr>
          <p:cNvPr id="12" name="Shape 10"/>
          <p:cNvSpPr/>
          <p:nvPr/>
        </p:nvSpPr>
        <p:spPr>
          <a:xfrm>
            <a:off x="7882128" y="3931920"/>
            <a:ext cx="2907792" cy="0"/>
          </a:xfrm>
          <a:prstGeom prst="line">
            <a:avLst/>
          </a:prstGeom>
          <a:noFill/>
          <a:ln w="63500">
            <a:solidFill>
              <a:srgbClr val="EF3340"/>
            </a:solidFill>
            <a:prstDash val="solid"/>
            <a:headEnd type="triangle"/>
            <a:tailEnd type="triangle"/>
          </a:ln>
        </p:spPr>
      </p:sp>
      <p:sp>
        <p:nvSpPr>
          <p:cNvPr id="13" name="Text 11"/>
          <p:cNvSpPr/>
          <p:nvPr/>
        </p:nvSpPr>
        <p:spPr>
          <a:xfrm>
            <a:off x="8412480" y="4133088"/>
            <a:ext cx="1828800" cy="310896"/>
          </a:xfrm>
          <a:prstGeom prst="rect">
            <a:avLst/>
          </a:prstGeom>
          <a:noFill/>
          <a:ln/>
        </p:spPr>
        <p:txBody>
          <a:bodyPr wrap="square" lIns="0" tIns="0" rIns="0" bIns="0" rtlCol="0" anchor="t">
            <a:normAutofit/>
          </a:bodyPr>
          <a:lstStyle/>
          <a:p>
            <a:pPr algn="ctr" indent="0" marL="0">
              <a:lnSpc>
                <a:spcPct val="100000"/>
              </a:lnSpc>
              <a:buNone/>
            </a:pPr>
            <a:r>
              <a:rPr lang="en-US" sz="1600" b="1" dirty="0">
                <a:solidFill>
                  <a:srgbClr val="EF3340"/>
                </a:solidFill>
                <a:latin typeface="Arial" pitchFamily="34" charset="0"/>
                <a:ea typeface="Arial" pitchFamily="34" charset="-122"/>
                <a:cs typeface="Arial" pitchFamily="34" charset="-120"/>
              </a:rPr>
              <a:t>won’t unify</a:t>
            </a:r>
            <a:endParaRPr lang="en-US" sz="1600" dirty="0"/>
          </a:p>
        </p:txBody>
      </p:sp>
      <p:sp>
        <p:nvSpPr>
          <p:cNvPr id="14" name="Shape 12"/>
          <p:cNvSpPr/>
          <p:nvPr/>
        </p:nvSpPr>
        <p:spPr>
          <a:xfrm>
            <a:off x="7452360" y="4956048"/>
            <a:ext cx="3840480" cy="713232"/>
          </a:xfrm>
          <a:prstGeom prst="rect">
            <a:avLst/>
          </a:prstGeom>
          <a:solidFill>
            <a:srgbClr val="FF5B9D"/>
          </a:solidFill>
          <a:ln w="27940">
            <a:solidFill>
              <a:srgbClr val="0B0B0B"/>
            </a:solidFill>
            <a:prstDash val="solid"/>
          </a:ln>
        </p:spPr>
      </p:sp>
      <p:sp>
        <p:nvSpPr>
          <p:cNvPr id="15" name="Text 13"/>
          <p:cNvSpPr/>
          <p:nvPr/>
        </p:nvSpPr>
        <p:spPr>
          <a:xfrm>
            <a:off x="7616952" y="5120640"/>
            <a:ext cx="3511296" cy="384048"/>
          </a:xfrm>
          <a:prstGeom prst="rect">
            <a:avLst/>
          </a:prstGeom>
          <a:noFill/>
          <a:ln/>
        </p:spPr>
        <p:txBody>
          <a:bodyPr wrap="square" lIns="0" tIns="0" rIns="0" bIns="0" rtlCol="0" anchor="ctr">
            <a:normAutofit/>
          </a:bodyPr>
          <a:lstStyle/>
          <a:p>
            <a:pPr algn="ctr" indent="0" marL="0">
              <a:lnSpc>
                <a:spcPct val="100000"/>
              </a:lnSpc>
              <a:buNone/>
            </a:pPr>
            <a:r>
              <a:rPr lang="en-US" sz="1450" b="1" dirty="0">
                <a:solidFill>
                  <a:srgbClr val="0B0B0B"/>
                </a:solidFill>
                <a:latin typeface="Courier New" pitchFamily="34" charset="0"/>
                <a:ea typeface="Courier New" pitchFamily="34" charset="-122"/>
                <a:cs typeface="Courier New" pitchFamily="34" charset="-120"/>
              </a:rPr>
              <a:t>Nav2 path → typed proposal → Leash</a:t>
            </a:r>
            <a:endParaRPr lang="en-US" sz="1450" dirty="0"/>
          </a:p>
        </p:txBody>
      </p:sp>
      <p:sp>
        <p:nvSpPr>
          <p:cNvPr id="16" name="Text 14"/>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github.com/specdog/leash</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MEASURED</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23</a:t>
            </a:r>
            <a:endParaRPr lang="en-US" sz="950" dirty="0"/>
          </a:p>
        </p:txBody>
      </p:sp>
      <p:sp>
        <p:nvSpPr>
          <p:cNvPr id="5" name="Text 3"/>
          <p:cNvSpPr/>
          <p:nvPr/>
        </p:nvSpPr>
        <p:spPr>
          <a:xfrm>
            <a:off x="502920" y="566928"/>
            <a:ext cx="11109960" cy="914400"/>
          </a:xfrm>
          <a:prstGeom prst="rect">
            <a:avLst/>
          </a:prstGeom>
          <a:noFill/>
          <a:ln/>
        </p:spPr>
        <p:txBody>
          <a:bodyPr wrap="square" lIns="0" tIns="0" rIns="0" bIns="0" rtlCol="0" anchor="ctr">
            <a:normAutofit/>
          </a:bodyPr>
          <a:lstStyle/>
          <a:p>
            <a:pPr indent="0" marL="0">
              <a:buNone/>
            </a:pPr>
            <a:r>
              <a:rPr lang="en-US" sz="3500" b="1" dirty="0">
                <a:solidFill>
                  <a:srgbClr val="0B0B0B"/>
                </a:solidFill>
                <a:latin typeface="Arial Black" pitchFamily="34" charset="0"/>
                <a:ea typeface="Arial Black" pitchFamily="34" charset="-122"/>
                <a:cs typeface="Arial Black" pitchFamily="34" charset="-120"/>
              </a:rPr>
              <a:t>The boundary is small enough to measure.</a:t>
            </a:r>
            <a:endParaRPr lang="en-US" sz="3500" dirty="0"/>
          </a:p>
        </p:txBody>
      </p:sp>
      <p:sp>
        <p:nvSpPr>
          <p:cNvPr id="6" name="Shape 4"/>
          <p:cNvSpPr/>
          <p:nvPr/>
        </p:nvSpPr>
        <p:spPr>
          <a:xfrm>
            <a:off x="621792" y="1389888"/>
            <a:ext cx="5257800" cy="1600200"/>
          </a:xfrm>
          <a:prstGeom prst="rect">
            <a:avLst/>
          </a:prstGeom>
          <a:solidFill>
            <a:srgbClr val="B8FF32"/>
          </a:solidFill>
          <a:ln w="31750">
            <a:solidFill>
              <a:srgbClr val="0B0B0B"/>
            </a:solidFill>
            <a:prstDash val="solid"/>
          </a:ln>
        </p:spPr>
      </p:sp>
      <p:sp>
        <p:nvSpPr>
          <p:cNvPr id="7" name="Text 5"/>
          <p:cNvSpPr/>
          <p:nvPr/>
        </p:nvSpPr>
        <p:spPr>
          <a:xfrm>
            <a:off x="896112" y="1609344"/>
            <a:ext cx="4709160" cy="530352"/>
          </a:xfrm>
          <a:prstGeom prst="rect">
            <a:avLst/>
          </a:prstGeom>
          <a:noFill/>
          <a:ln/>
        </p:spPr>
        <p:txBody>
          <a:bodyPr wrap="square" lIns="0" tIns="0" rIns="0" bIns="0" rtlCol="0" anchor="t">
            <a:normAutofit/>
          </a:bodyPr>
          <a:lstStyle/>
          <a:p>
            <a:pPr algn="l" indent="0" marL="0">
              <a:lnSpc>
                <a:spcPct val="100000"/>
              </a:lnSpc>
              <a:buNone/>
            </a:pPr>
            <a:r>
              <a:rPr lang="en-US" sz="3100" b="1" dirty="0">
                <a:solidFill>
                  <a:srgbClr val="0B0B0B"/>
                </a:solidFill>
                <a:latin typeface="Arial" pitchFamily="34" charset="0"/>
                <a:ea typeface="Arial" pitchFamily="34" charset="-122"/>
                <a:cs typeface="Arial" pitchFamily="34" charset="-120"/>
              </a:rPr>
              <a:t>58,306 ns</a:t>
            </a:r>
            <a:endParaRPr lang="en-US" sz="3100" dirty="0"/>
          </a:p>
        </p:txBody>
      </p:sp>
      <p:sp>
        <p:nvSpPr>
          <p:cNvPr id="8" name="Text 6"/>
          <p:cNvSpPr/>
          <p:nvPr/>
        </p:nvSpPr>
        <p:spPr>
          <a:xfrm>
            <a:off x="914400" y="2359152"/>
            <a:ext cx="4663440" cy="292608"/>
          </a:xfrm>
          <a:prstGeom prst="rect">
            <a:avLst/>
          </a:prstGeom>
          <a:noFill/>
          <a:ln/>
        </p:spPr>
        <p:txBody>
          <a:bodyPr wrap="square" lIns="0" tIns="0" rIns="0" bIns="0" rtlCol="0" anchor="t">
            <a:normAutofit/>
          </a:bodyPr>
          <a:lstStyle/>
          <a:p>
            <a:pPr algn="l" indent="0" marL="0">
              <a:lnSpc>
                <a:spcPct val="100000"/>
              </a:lnSpc>
              <a:buNone/>
            </a:pPr>
            <a:r>
              <a:rPr lang="en-US" sz="1500" b="1" dirty="0">
                <a:solidFill>
                  <a:srgbClr val="0B0B0B"/>
                </a:solidFill>
                <a:latin typeface="Arial" pitchFamily="34" charset="0"/>
                <a:ea typeface="Arial" pitchFamily="34" charset="-122"/>
                <a:cs typeface="Arial" pitchFamily="34" charset="-120"/>
              </a:rPr>
              <a:t>p99 CPU transition</a:t>
            </a:r>
            <a:endParaRPr lang="en-US" sz="1500" dirty="0"/>
          </a:p>
        </p:txBody>
      </p:sp>
      <p:sp>
        <p:nvSpPr>
          <p:cNvPr id="9" name="Shape 7"/>
          <p:cNvSpPr/>
          <p:nvPr/>
        </p:nvSpPr>
        <p:spPr>
          <a:xfrm>
            <a:off x="6272784" y="1389888"/>
            <a:ext cx="5257800" cy="1600200"/>
          </a:xfrm>
          <a:prstGeom prst="rect">
            <a:avLst/>
          </a:prstGeom>
          <a:solidFill>
            <a:srgbClr val="DDE5FF"/>
          </a:solidFill>
          <a:ln w="31750">
            <a:solidFill>
              <a:srgbClr val="0B0B0B"/>
            </a:solidFill>
            <a:prstDash val="solid"/>
          </a:ln>
        </p:spPr>
      </p:sp>
      <p:sp>
        <p:nvSpPr>
          <p:cNvPr id="10" name="Text 8"/>
          <p:cNvSpPr/>
          <p:nvPr/>
        </p:nvSpPr>
        <p:spPr>
          <a:xfrm>
            <a:off x="6547104" y="1609344"/>
            <a:ext cx="4709160" cy="530352"/>
          </a:xfrm>
          <a:prstGeom prst="rect">
            <a:avLst/>
          </a:prstGeom>
          <a:noFill/>
          <a:ln/>
        </p:spPr>
        <p:txBody>
          <a:bodyPr wrap="square" lIns="0" tIns="0" rIns="0" bIns="0" rtlCol="0" anchor="t">
            <a:normAutofit/>
          </a:bodyPr>
          <a:lstStyle/>
          <a:p>
            <a:pPr algn="l" indent="0" marL="0">
              <a:lnSpc>
                <a:spcPct val="100000"/>
              </a:lnSpc>
              <a:buNone/>
            </a:pPr>
            <a:r>
              <a:rPr lang="en-US" sz="3100" b="1" dirty="0">
                <a:solidFill>
                  <a:srgbClr val="0B0B0B"/>
                </a:solidFill>
                <a:latin typeface="Arial" pitchFamily="34" charset="0"/>
                <a:ea typeface="Arial" pitchFamily="34" charset="-122"/>
                <a:cs typeface="Arial" pitchFamily="34" charset="-120"/>
              </a:rPr>
              <a:t>0</a:t>
            </a:r>
            <a:endParaRPr lang="en-US" sz="3100" dirty="0"/>
          </a:p>
        </p:txBody>
      </p:sp>
      <p:sp>
        <p:nvSpPr>
          <p:cNvPr id="11" name="Text 9"/>
          <p:cNvSpPr/>
          <p:nvPr/>
        </p:nvSpPr>
        <p:spPr>
          <a:xfrm>
            <a:off x="6565392" y="2359152"/>
            <a:ext cx="4663440" cy="292608"/>
          </a:xfrm>
          <a:prstGeom prst="rect">
            <a:avLst/>
          </a:prstGeom>
          <a:noFill/>
          <a:ln/>
        </p:spPr>
        <p:txBody>
          <a:bodyPr wrap="square" lIns="0" tIns="0" rIns="0" bIns="0" rtlCol="0" anchor="t">
            <a:normAutofit/>
          </a:bodyPr>
          <a:lstStyle/>
          <a:p>
            <a:pPr algn="l" indent="0" marL="0">
              <a:lnSpc>
                <a:spcPct val="100000"/>
              </a:lnSpc>
              <a:buNone/>
            </a:pPr>
            <a:r>
              <a:rPr lang="en-US" sz="1500" b="1" dirty="0">
                <a:solidFill>
                  <a:srgbClr val="0B0B0B"/>
                </a:solidFill>
                <a:latin typeface="Arial" pitchFamily="34" charset="0"/>
                <a:ea typeface="Arial" pitchFamily="34" charset="-122"/>
                <a:cs typeface="Arial" pitchFamily="34" charset="-120"/>
              </a:rPr>
              <a:t>deadline misses at 100 Hz</a:t>
            </a:r>
            <a:endParaRPr lang="en-US" sz="1500" dirty="0"/>
          </a:p>
        </p:txBody>
      </p:sp>
      <p:sp>
        <p:nvSpPr>
          <p:cNvPr id="12" name="Shape 10"/>
          <p:cNvSpPr/>
          <p:nvPr/>
        </p:nvSpPr>
        <p:spPr>
          <a:xfrm>
            <a:off x="621792" y="3584448"/>
            <a:ext cx="5257800" cy="1600200"/>
          </a:xfrm>
          <a:prstGeom prst="rect">
            <a:avLst/>
          </a:prstGeom>
          <a:solidFill>
            <a:srgbClr val="FFD63D"/>
          </a:solidFill>
          <a:ln w="31750">
            <a:solidFill>
              <a:srgbClr val="0B0B0B"/>
            </a:solidFill>
            <a:prstDash val="solid"/>
          </a:ln>
        </p:spPr>
      </p:sp>
      <p:sp>
        <p:nvSpPr>
          <p:cNvPr id="13" name="Text 11"/>
          <p:cNvSpPr/>
          <p:nvPr/>
        </p:nvSpPr>
        <p:spPr>
          <a:xfrm>
            <a:off x="896112" y="3803904"/>
            <a:ext cx="4709160" cy="530352"/>
          </a:xfrm>
          <a:prstGeom prst="rect">
            <a:avLst/>
          </a:prstGeom>
          <a:noFill/>
          <a:ln/>
        </p:spPr>
        <p:txBody>
          <a:bodyPr wrap="square" lIns="0" tIns="0" rIns="0" bIns="0" rtlCol="0" anchor="t">
            <a:normAutofit/>
          </a:bodyPr>
          <a:lstStyle/>
          <a:p>
            <a:pPr algn="l" indent="0" marL="0">
              <a:lnSpc>
                <a:spcPct val="100000"/>
              </a:lnSpc>
              <a:buNone/>
            </a:pPr>
            <a:r>
              <a:rPr lang="en-US" sz="3100" b="1" dirty="0">
                <a:solidFill>
                  <a:srgbClr val="0B0B0B"/>
                </a:solidFill>
                <a:latin typeface="Arial" pitchFamily="34" charset="0"/>
                <a:ea typeface="Arial" pitchFamily="34" charset="-122"/>
                <a:cs typeface="Arial" pitchFamily="34" charset="-120"/>
              </a:rPr>
              <a:t>110,293/s</a:t>
            </a:r>
            <a:endParaRPr lang="en-US" sz="3100" dirty="0"/>
          </a:p>
        </p:txBody>
      </p:sp>
      <p:sp>
        <p:nvSpPr>
          <p:cNvPr id="14" name="Text 12"/>
          <p:cNvSpPr/>
          <p:nvPr/>
        </p:nvSpPr>
        <p:spPr>
          <a:xfrm>
            <a:off x="914400" y="4553712"/>
            <a:ext cx="4663440" cy="292608"/>
          </a:xfrm>
          <a:prstGeom prst="rect">
            <a:avLst/>
          </a:prstGeom>
          <a:noFill/>
          <a:ln/>
        </p:spPr>
        <p:txBody>
          <a:bodyPr wrap="square" lIns="0" tIns="0" rIns="0" bIns="0" rtlCol="0" anchor="t">
            <a:normAutofit/>
          </a:bodyPr>
          <a:lstStyle/>
          <a:p>
            <a:pPr algn="l" indent="0" marL="0">
              <a:lnSpc>
                <a:spcPct val="100000"/>
              </a:lnSpc>
              <a:buNone/>
            </a:pPr>
            <a:r>
              <a:rPr lang="en-US" sz="1500" b="1" dirty="0">
                <a:solidFill>
                  <a:srgbClr val="0B0B0B"/>
                </a:solidFill>
                <a:latin typeface="Arial" pitchFamily="34" charset="0"/>
                <a:ea typeface="Arial" pitchFamily="34" charset="-122"/>
                <a:cs typeface="Arial" pitchFamily="34" charset="-120"/>
              </a:rPr>
              <a:t>durable evidence records</a:t>
            </a:r>
            <a:endParaRPr lang="en-US" sz="1500" dirty="0"/>
          </a:p>
        </p:txBody>
      </p:sp>
      <p:sp>
        <p:nvSpPr>
          <p:cNvPr id="15" name="Shape 13"/>
          <p:cNvSpPr/>
          <p:nvPr/>
        </p:nvSpPr>
        <p:spPr>
          <a:xfrm>
            <a:off x="6272784" y="3584448"/>
            <a:ext cx="5257800" cy="1600200"/>
          </a:xfrm>
          <a:prstGeom prst="rect">
            <a:avLst/>
          </a:prstGeom>
          <a:solidFill>
            <a:srgbClr val="FF5B9D"/>
          </a:solidFill>
          <a:ln w="31750">
            <a:solidFill>
              <a:srgbClr val="0B0B0B"/>
            </a:solidFill>
            <a:prstDash val="solid"/>
          </a:ln>
        </p:spPr>
      </p:sp>
      <p:sp>
        <p:nvSpPr>
          <p:cNvPr id="16" name="Text 14"/>
          <p:cNvSpPr/>
          <p:nvPr/>
        </p:nvSpPr>
        <p:spPr>
          <a:xfrm>
            <a:off x="6547104" y="3803904"/>
            <a:ext cx="4709160" cy="530352"/>
          </a:xfrm>
          <a:prstGeom prst="rect">
            <a:avLst/>
          </a:prstGeom>
          <a:noFill/>
          <a:ln/>
        </p:spPr>
        <p:txBody>
          <a:bodyPr wrap="square" lIns="0" tIns="0" rIns="0" bIns="0" rtlCol="0" anchor="t">
            <a:normAutofit/>
          </a:bodyPr>
          <a:lstStyle/>
          <a:p>
            <a:pPr algn="l" indent="0" marL="0">
              <a:lnSpc>
                <a:spcPct val="100000"/>
              </a:lnSpc>
              <a:buNone/>
            </a:pPr>
            <a:r>
              <a:rPr lang="en-US" sz="3100" b="1" dirty="0">
                <a:solidFill>
                  <a:srgbClr val="0B0B0B"/>
                </a:solidFill>
                <a:latin typeface="Arial" pitchFamily="34" charset="0"/>
                <a:ea typeface="Arial" pitchFamily="34" charset="-122"/>
                <a:cs typeface="Arial" pitchFamily="34" charset="-120"/>
              </a:rPr>
              <a:t>37.622 ms</a:t>
            </a:r>
            <a:endParaRPr lang="en-US" sz="3100" dirty="0"/>
          </a:p>
        </p:txBody>
      </p:sp>
      <p:sp>
        <p:nvSpPr>
          <p:cNvPr id="17" name="Text 15"/>
          <p:cNvSpPr/>
          <p:nvPr/>
        </p:nvSpPr>
        <p:spPr>
          <a:xfrm>
            <a:off x="6565392" y="4553712"/>
            <a:ext cx="4663440" cy="292608"/>
          </a:xfrm>
          <a:prstGeom prst="rect">
            <a:avLst/>
          </a:prstGeom>
          <a:noFill/>
          <a:ln/>
        </p:spPr>
        <p:txBody>
          <a:bodyPr wrap="square" lIns="0" tIns="0" rIns="0" bIns="0" rtlCol="0" anchor="t">
            <a:normAutofit/>
          </a:bodyPr>
          <a:lstStyle/>
          <a:p>
            <a:pPr algn="l" indent="0" marL="0">
              <a:lnSpc>
                <a:spcPct val="100000"/>
              </a:lnSpc>
              <a:buNone/>
            </a:pPr>
            <a:r>
              <a:rPr lang="en-US" sz="1500" b="1" dirty="0">
                <a:solidFill>
                  <a:srgbClr val="0B0B0B"/>
                </a:solidFill>
                <a:latin typeface="Arial" pitchFamily="34" charset="0"/>
                <a:ea typeface="Arial" pitchFamily="34" charset="-122"/>
                <a:cs typeface="Arial" pitchFamily="34" charset="-120"/>
              </a:rPr>
              <a:t>physical E-stop acknowledgement</a:t>
            </a:r>
            <a:endParaRPr lang="en-US" sz="1500" dirty="0"/>
          </a:p>
        </p:txBody>
      </p:sp>
      <p:sp>
        <p:nvSpPr>
          <p:cNvPr id="18" name="Text 16"/>
          <p:cNvSpPr/>
          <p:nvPr/>
        </p:nvSpPr>
        <p:spPr>
          <a:xfrm>
            <a:off x="2377440" y="5833872"/>
            <a:ext cx="7406640" cy="310896"/>
          </a:xfrm>
          <a:prstGeom prst="rect">
            <a:avLst/>
          </a:prstGeom>
          <a:noFill/>
          <a:ln/>
        </p:spPr>
        <p:txBody>
          <a:bodyPr wrap="square" lIns="0" tIns="0" rIns="0" bIns="0" rtlCol="0" anchor="t">
            <a:normAutofit/>
          </a:bodyPr>
          <a:lstStyle/>
          <a:p>
            <a:pPr algn="ctr" indent="0" marL="0">
              <a:lnSpc>
                <a:spcPct val="100000"/>
              </a:lnSpc>
              <a:buNone/>
            </a:pPr>
            <a:r>
              <a:rPr lang="en-US" sz="1300" b="1" dirty="0">
                <a:solidFill>
                  <a:srgbClr val="2855FF"/>
                </a:solidFill>
                <a:latin typeface="Arial" pitchFamily="34" charset="0"/>
                <a:ea typeface="Arial" pitchFamily="34" charset="-122"/>
                <a:cs typeface="Arial" pitchFamily="34" charset="-120"/>
              </a:rPr>
              <a:t>JETSON ORIN NX • RECORDED EVIDENCE • NOT A SIMULATION</a:t>
            </a:r>
            <a:endParaRPr lang="en-US" sz="1300" dirty="0"/>
          </a:p>
        </p:txBody>
      </p:sp>
      <p:sp>
        <p:nvSpPr>
          <p:cNvPr id="19" name="Text 17"/>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github.com/specdog/leash</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D63D"/>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OPEN SOURCE</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24</a:t>
            </a:r>
            <a:endParaRPr lang="en-US" sz="950" dirty="0"/>
          </a:p>
        </p:txBody>
      </p:sp>
      <p:sp>
        <p:nvSpPr>
          <p:cNvPr id="5" name="Text 3"/>
          <p:cNvSpPr/>
          <p:nvPr/>
        </p:nvSpPr>
        <p:spPr>
          <a:xfrm>
            <a:off x="502920" y="566928"/>
            <a:ext cx="11109960" cy="914400"/>
          </a:xfrm>
          <a:prstGeom prst="rect">
            <a:avLst/>
          </a:prstGeom>
          <a:noFill/>
          <a:ln/>
        </p:spPr>
        <p:txBody>
          <a:bodyPr wrap="square" lIns="0" tIns="0" rIns="0" bIns="0" rtlCol="0" anchor="ctr">
            <a:normAutofit/>
          </a:bodyPr>
          <a:lstStyle/>
          <a:p>
            <a:pPr indent="0" marL="0">
              <a:buNone/>
            </a:pPr>
            <a:r>
              <a:rPr lang="en-US" sz="3000" b="1" dirty="0">
                <a:solidFill>
                  <a:srgbClr val="0B0B0B"/>
                </a:solidFill>
                <a:latin typeface="Arial Black" pitchFamily="34" charset="0"/>
                <a:ea typeface="Arial Black" pitchFamily="34" charset="-122"/>
                <a:cs typeface="Arial Black" pitchFamily="34" charset="-120"/>
              </a:rPr>
              <a:t>Leash is a boundary you can replace piece by piece.</a:t>
            </a:r>
            <a:endParaRPr lang="en-US" sz="3000" dirty="0"/>
          </a:p>
        </p:txBody>
      </p:sp>
      <p:sp>
        <p:nvSpPr>
          <p:cNvPr id="6" name="Shape 4"/>
          <p:cNvSpPr/>
          <p:nvPr/>
        </p:nvSpPr>
        <p:spPr>
          <a:xfrm>
            <a:off x="731520" y="1554480"/>
            <a:ext cx="2788920" cy="1051560"/>
          </a:xfrm>
          <a:prstGeom prst="rect">
            <a:avLst/>
          </a:prstGeom>
          <a:solidFill>
            <a:srgbClr val="FFFDF7"/>
          </a:solidFill>
          <a:ln w="27940">
            <a:solidFill>
              <a:srgbClr val="0B0B0B"/>
            </a:solidFill>
            <a:prstDash val="solid"/>
          </a:ln>
        </p:spPr>
      </p:sp>
      <p:sp>
        <p:nvSpPr>
          <p:cNvPr id="7" name="Text 5"/>
          <p:cNvSpPr/>
          <p:nvPr/>
        </p:nvSpPr>
        <p:spPr>
          <a:xfrm>
            <a:off x="896112" y="1719072"/>
            <a:ext cx="2459736" cy="722376"/>
          </a:xfrm>
          <a:prstGeom prst="rect">
            <a:avLst/>
          </a:prstGeom>
          <a:noFill/>
          <a:ln/>
        </p:spPr>
        <p:txBody>
          <a:bodyPr wrap="square" lIns="0" tIns="0" rIns="0" bIns="0" rtlCol="0" anchor="ctr">
            <a:normAutofit/>
          </a:bodyPr>
          <a:lstStyle/>
          <a:p>
            <a:pPr algn="ctr" indent="0" marL="0">
              <a:lnSpc>
                <a:spcPct val="100000"/>
              </a:lnSpc>
              <a:buNone/>
            </a:pPr>
            <a:r>
              <a:rPr lang="en-US" sz="2100" b="1" dirty="0">
                <a:solidFill>
                  <a:srgbClr val="0B0B0B"/>
                </a:solidFill>
                <a:latin typeface="Arial" pitchFamily="34" charset="0"/>
                <a:ea typeface="Arial" pitchFamily="34" charset="-122"/>
                <a:cs typeface="Arial" pitchFamily="34" charset="-120"/>
              </a:rPr>
              <a:t>CORE</a:t>
            </a:r>
            <a:endParaRPr lang="en-US" sz="2100" dirty="0"/>
          </a:p>
        </p:txBody>
      </p:sp>
      <p:sp>
        <p:nvSpPr>
          <p:cNvPr id="8" name="Text 6"/>
          <p:cNvSpPr/>
          <p:nvPr/>
        </p:nvSpPr>
        <p:spPr>
          <a:xfrm>
            <a:off x="896112" y="2761488"/>
            <a:ext cx="2468880" cy="292608"/>
          </a:xfrm>
          <a:prstGeom prst="rect">
            <a:avLst/>
          </a:prstGeom>
          <a:noFill/>
          <a:ln/>
        </p:spPr>
        <p:txBody>
          <a:bodyPr wrap="square" lIns="0" tIns="0" rIns="0" bIns="0" rtlCol="0" anchor="t">
            <a:normAutofit/>
          </a:bodyPr>
          <a:lstStyle/>
          <a:p>
            <a:pPr algn="ctr" indent="0" marL="0">
              <a:lnSpc>
                <a:spcPct val="100000"/>
              </a:lnSpc>
              <a:buNone/>
            </a:pPr>
            <a:r>
              <a:rPr lang="en-US" sz="1300" b="1" dirty="0">
                <a:solidFill>
                  <a:srgbClr val="0B0B0B"/>
                </a:solidFill>
                <a:latin typeface="Arial" pitchFamily="34" charset="0"/>
                <a:ea typeface="Arial" pitchFamily="34" charset="-122"/>
                <a:cs typeface="Arial" pitchFamily="34" charset="-120"/>
              </a:rPr>
              <a:t>types + contracts</a:t>
            </a:r>
            <a:endParaRPr lang="en-US" sz="1300" dirty="0"/>
          </a:p>
        </p:txBody>
      </p:sp>
      <p:sp>
        <p:nvSpPr>
          <p:cNvPr id="9" name="Shape 7"/>
          <p:cNvSpPr/>
          <p:nvPr/>
        </p:nvSpPr>
        <p:spPr>
          <a:xfrm>
            <a:off x="4343400" y="1554480"/>
            <a:ext cx="2788920" cy="1051560"/>
          </a:xfrm>
          <a:prstGeom prst="rect">
            <a:avLst/>
          </a:prstGeom>
          <a:solidFill>
            <a:srgbClr val="B8FF32"/>
          </a:solidFill>
          <a:ln w="27940">
            <a:solidFill>
              <a:srgbClr val="0B0B0B"/>
            </a:solidFill>
            <a:prstDash val="solid"/>
          </a:ln>
        </p:spPr>
      </p:sp>
      <p:sp>
        <p:nvSpPr>
          <p:cNvPr id="10" name="Text 8"/>
          <p:cNvSpPr/>
          <p:nvPr/>
        </p:nvSpPr>
        <p:spPr>
          <a:xfrm>
            <a:off x="4507992" y="1719072"/>
            <a:ext cx="2459736" cy="722376"/>
          </a:xfrm>
          <a:prstGeom prst="rect">
            <a:avLst/>
          </a:prstGeom>
          <a:noFill/>
          <a:ln/>
        </p:spPr>
        <p:txBody>
          <a:bodyPr wrap="square" lIns="0" tIns="0" rIns="0" bIns="0" rtlCol="0" anchor="ctr">
            <a:normAutofit/>
          </a:bodyPr>
          <a:lstStyle/>
          <a:p>
            <a:pPr algn="ctr" indent="0" marL="0">
              <a:lnSpc>
                <a:spcPct val="100000"/>
              </a:lnSpc>
              <a:buNone/>
            </a:pPr>
            <a:r>
              <a:rPr lang="en-US" sz="2100" b="1" dirty="0">
                <a:solidFill>
                  <a:srgbClr val="0B0B0B"/>
                </a:solidFill>
                <a:latin typeface="Arial" pitchFamily="34" charset="0"/>
                <a:ea typeface="Arial" pitchFamily="34" charset="-122"/>
                <a:cs typeface="Arial" pitchFamily="34" charset="-120"/>
              </a:rPr>
              <a:t>RUNTIME</a:t>
            </a:r>
            <a:endParaRPr lang="en-US" sz="2100" dirty="0"/>
          </a:p>
        </p:txBody>
      </p:sp>
      <p:sp>
        <p:nvSpPr>
          <p:cNvPr id="11" name="Text 9"/>
          <p:cNvSpPr/>
          <p:nvPr/>
        </p:nvSpPr>
        <p:spPr>
          <a:xfrm>
            <a:off x="4507992" y="2761488"/>
            <a:ext cx="2468880" cy="292608"/>
          </a:xfrm>
          <a:prstGeom prst="rect">
            <a:avLst/>
          </a:prstGeom>
          <a:noFill/>
          <a:ln/>
        </p:spPr>
        <p:txBody>
          <a:bodyPr wrap="square" lIns="0" tIns="0" rIns="0" bIns="0" rtlCol="0" anchor="t">
            <a:normAutofit/>
          </a:bodyPr>
          <a:lstStyle/>
          <a:p>
            <a:pPr algn="ctr" indent="0" marL="0">
              <a:lnSpc>
                <a:spcPct val="100000"/>
              </a:lnSpc>
              <a:buNone/>
            </a:pPr>
            <a:r>
              <a:rPr lang="en-US" sz="1300" b="1" dirty="0">
                <a:solidFill>
                  <a:srgbClr val="0B0B0B"/>
                </a:solidFill>
                <a:latin typeface="Arial" pitchFamily="34" charset="0"/>
                <a:ea typeface="Arial" pitchFamily="34" charset="-122"/>
                <a:cs typeface="Arial" pitchFamily="34" charset="-120"/>
              </a:rPr>
              <a:t>policy + supervisor</a:t>
            </a:r>
            <a:endParaRPr lang="en-US" sz="1300" dirty="0"/>
          </a:p>
        </p:txBody>
      </p:sp>
      <p:sp>
        <p:nvSpPr>
          <p:cNvPr id="12" name="Shape 10"/>
          <p:cNvSpPr/>
          <p:nvPr/>
        </p:nvSpPr>
        <p:spPr>
          <a:xfrm>
            <a:off x="7955280" y="1554480"/>
            <a:ext cx="2788920" cy="1051560"/>
          </a:xfrm>
          <a:prstGeom prst="rect">
            <a:avLst/>
          </a:prstGeom>
          <a:solidFill>
            <a:srgbClr val="FF5B9D"/>
          </a:solidFill>
          <a:ln w="27940">
            <a:solidFill>
              <a:srgbClr val="0B0B0B"/>
            </a:solidFill>
            <a:prstDash val="solid"/>
          </a:ln>
        </p:spPr>
      </p:sp>
      <p:sp>
        <p:nvSpPr>
          <p:cNvPr id="13" name="Text 11"/>
          <p:cNvSpPr/>
          <p:nvPr/>
        </p:nvSpPr>
        <p:spPr>
          <a:xfrm>
            <a:off x="8119872" y="1719072"/>
            <a:ext cx="2459736" cy="722376"/>
          </a:xfrm>
          <a:prstGeom prst="rect">
            <a:avLst/>
          </a:prstGeom>
          <a:noFill/>
          <a:ln/>
        </p:spPr>
        <p:txBody>
          <a:bodyPr wrap="square" lIns="0" tIns="0" rIns="0" bIns="0" rtlCol="0" anchor="ctr">
            <a:normAutofit/>
          </a:bodyPr>
          <a:lstStyle/>
          <a:p>
            <a:pPr algn="ctr" indent="0" marL="0">
              <a:lnSpc>
                <a:spcPct val="100000"/>
              </a:lnSpc>
              <a:buNone/>
            </a:pPr>
            <a:r>
              <a:rPr lang="en-US" sz="2100" b="1" dirty="0">
                <a:solidFill>
                  <a:srgbClr val="0B0B0B"/>
                </a:solidFill>
                <a:latin typeface="Arial" pitchFamily="34" charset="0"/>
                <a:ea typeface="Arial" pitchFamily="34" charset="-122"/>
                <a:cs typeface="Arial" pitchFamily="34" charset="-120"/>
              </a:rPr>
              <a:t>ADAPTER</a:t>
            </a:r>
            <a:endParaRPr lang="en-US" sz="2100" dirty="0"/>
          </a:p>
        </p:txBody>
      </p:sp>
      <p:sp>
        <p:nvSpPr>
          <p:cNvPr id="14" name="Text 12"/>
          <p:cNvSpPr/>
          <p:nvPr/>
        </p:nvSpPr>
        <p:spPr>
          <a:xfrm>
            <a:off x="8119872" y="2761488"/>
            <a:ext cx="2468880" cy="292608"/>
          </a:xfrm>
          <a:prstGeom prst="rect">
            <a:avLst/>
          </a:prstGeom>
          <a:noFill/>
          <a:ln/>
        </p:spPr>
        <p:txBody>
          <a:bodyPr wrap="square" lIns="0" tIns="0" rIns="0" bIns="0" rtlCol="0" anchor="t">
            <a:normAutofit/>
          </a:bodyPr>
          <a:lstStyle/>
          <a:p>
            <a:pPr algn="ctr" indent="0" marL="0">
              <a:lnSpc>
                <a:spcPct val="100000"/>
              </a:lnSpc>
              <a:buNone/>
            </a:pPr>
            <a:r>
              <a:rPr lang="en-US" sz="1300" b="1" dirty="0">
                <a:solidFill>
                  <a:srgbClr val="0B0B0B"/>
                </a:solidFill>
                <a:latin typeface="Arial" pitchFamily="34" charset="0"/>
                <a:ea typeface="Arial" pitchFamily="34" charset="-122"/>
                <a:cs typeface="Arial" pitchFamily="34" charset="-120"/>
              </a:rPr>
              <a:t>hardware encoding</a:t>
            </a:r>
            <a:endParaRPr lang="en-US" sz="1300" dirty="0"/>
          </a:p>
        </p:txBody>
      </p:sp>
      <p:sp>
        <p:nvSpPr>
          <p:cNvPr id="15" name="Shape 13"/>
          <p:cNvSpPr/>
          <p:nvPr/>
        </p:nvSpPr>
        <p:spPr>
          <a:xfrm>
            <a:off x="2542032" y="3657600"/>
            <a:ext cx="2788920" cy="1051560"/>
          </a:xfrm>
          <a:prstGeom prst="rect">
            <a:avLst/>
          </a:prstGeom>
          <a:solidFill>
            <a:srgbClr val="DDE5FF"/>
          </a:solidFill>
          <a:ln w="27940">
            <a:solidFill>
              <a:srgbClr val="0B0B0B"/>
            </a:solidFill>
            <a:prstDash val="solid"/>
          </a:ln>
        </p:spPr>
      </p:sp>
      <p:sp>
        <p:nvSpPr>
          <p:cNvPr id="16" name="Text 14"/>
          <p:cNvSpPr/>
          <p:nvPr/>
        </p:nvSpPr>
        <p:spPr>
          <a:xfrm>
            <a:off x="2706624" y="3822192"/>
            <a:ext cx="2459736" cy="722376"/>
          </a:xfrm>
          <a:prstGeom prst="rect">
            <a:avLst/>
          </a:prstGeom>
          <a:noFill/>
          <a:ln/>
        </p:spPr>
        <p:txBody>
          <a:bodyPr wrap="square" lIns="0" tIns="0" rIns="0" bIns="0" rtlCol="0" anchor="ctr">
            <a:normAutofit/>
          </a:bodyPr>
          <a:lstStyle/>
          <a:p>
            <a:pPr algn="ctr" indent="0" marL="0">
              <a:lnSpc>
                <a:spcPct val="100000"/>
              </a:lnSpc>
              <a:buNone/>
            </a:pPr>
            <a:r>
              <a:rPr lang="en-US" sz="2100" b="1" dirty="0">
                <a:solidFill>
                  <a:srgbClr val="0B0B0B"/>
                </a:solidFill>
                <a:latin typeface="Arial" pitchFamily="34" charset="0"/>
                <a:ea typeface="Arial" pitchFamily="34" charset="-122"/>
                <a:cs typeface="Arial" pitchFamily="34" charset="-120"/>
              </a:rPr>
              <a:t>EVIDENCE</a:t>
            </a:r>
            <a:endParaRPr lang="en-US" sz="2100" dirty="0"/>
          </a:p>
        </p:txBody>
      </p:sp>
      <p:sp>
        <p:nvSpPr>
          <p:cNvPr id="17" name="Text 15"/>
          <p:cNvSpPr/>
          <p:nvPr/>
        </p:nvSpPr>
        <p:spPr>
          <a:xfrm>
            <a:off x="2706624" y="4864608"/>
            <a:ext cx="2468880" cy="292608"/>
          </a:xfrm>
          <a:prstGeom prst="rect">
            <a:avLst/>
          </a:prstGeom>
          <a:noFill/>
          <a:ln/>
        </p:spPr>
        <p:txBody>
          <a:bodyPr wrap="square" lIns="0" tIns="0" rIns="0" bIns="0" rtlCol="0" anchor="t">
            <a:normAutofit/>
          </a:bodyPr>
          <a:lstStyle/>
          <a:p>
            <a:pPr algn="ctr" indent="0" marL="0">
              <a:lnSpc>
                <a:spcPct val="100000"/>
              </a:lnSpc>
              <a:buNone/>
            </a:pPr>
            <a:r>
              <a:rPr lang="en-US" sz="1300" b="1" dirty="0">
                <a:solidFill>
                  <a:srgbClr val="0B0B0B"/>
                </a:solidFill>
                <a:latin typeface="Arial" pitchFamily="34" charset="0"/>
                <a:ea typeface="Arial" pitchFamily="34" charset="-122"/>
                <a:cs typeface="Arial" pitchFamily="34" charset="-120"/>
              </a:rPr>
              <a:t>append + replay</a:t>
            </a:r>
            <a:endParaRPr lang="en-US" sz="1300" dirty="0"/>
          </a:p>
        </p:txBody>
      </p:sp>
      <p:sp>
        <p:nvSpPr>
          <p:cNvPr id="18" name="Shape 16"/>
          <p:cNvSpPr/>
          <p:nvPr/>
        </p:nvSpPr>
        <p:spPr>
          <a:xfrm>
            <a:off x="6153912" y="3657600"/>
            <a:ext cx="2788920" cy="1051560"/>
          </a:xfrm>
          <a:prstGeom prst="rect">
            <a:avLst/>
          </a:prstGeom>
          <a:solidFill>
            <a:srgbClr val="2855FF"/>
          </a:solidFill>
          <a:ln w="27940">
            <a:solidFill>
              <a:srgbClr val="0B0B0B"/>
            </a:solidFill>
            <a:prstDash val="solid"/>
          </a:ln>
        </p:spPr>
      </p:sp>
      <p:sp>
        <p:nvSpPr>
          <p:cNvPr id="19" name="Text 17"/>
          <p:cNvSpPr/>
          <p:nvPr/>
        </p:nvSpPr>
        <p:spPr>
          <a:xfrm>
            <a:off x="6318504" y="3822192"/>
            <a:ext cx="2459736" cy="722376"/>
          </a:xfrm>
          <a:prstGeom prst="rect">
            <a:avLst/>
          </a:prstGeom>
          <a:noFill/>
          <a:ln/>
        </p:spPr>
        <p:txBody>
          <a:bodyPr wrap="square" lIns="0" tIns="0" rIns="0" bIns="0" rtlCol="0" anchor="ctr">
            <a:normAutofit/>
          </a:bodyPr>
          <a:lstStyle/>
          <a:p>
            <a:pPr algn="ctr" indent="0" marL="0">
              <a:lnSpc>
                <a:spcPct val="100000"/>
              </a:lnSpc>
              <a:buNone/>
            </a:pPr>
            <a:r>
              <a:rPr lang="en-US" sz="2100" b="1" dirty="0">
                <a:solidFill>
                  <a:srgbClr val="FFFFFF"/>
                </a:solidFill>
                <a:latin typeface="Arial" pitchFamily="34" charset="0"/>
                <a:ea typeface="Arial" pitchFamily="34" charset="-122"/>
                <a:cs typeface="Arial" pitchFamily="34" charset="-120"/>
              </a:rPr>
              <a:t>CUDA</a:t>
            </a:r>
            <a:endParaRPr lang="en-US" sz="2100" dirty="0"/>
          </a:p>
        </p:txBody>
      </p:sp>
      <p:sp>
        <p:nvSpPr>
          <p:cNvPr id="20" name="Text 18"/>
          <p:cNvSpPr/>
          <p:nvPr/>
        </p:nvSpPr>
        <p:spPr>
          <a:xfrm>
            <a:off x="6318504" y="4864608"/>
            <a:ext cx="2468880" cy="292608"/>
          </a:xfrm>
          <a:prstGeom prst="rect">
            <a:avLst/>
          </a:prstGeom>
          <a:noFill/>
          <a:ln/>
        </p:spPr>
        <p:txBody>
          <a:bodyPr wrap="square" lIns="0" tIns="0" rIns="0" bIns="0" rtlCol="0" anchor="t">
            <a:normAutofit/>
          </a:bodyPr>
          <a:lstStyle/>
          <a:p>
            <a:pPr algn="ctr" indent="0" marL="0">
              <a:lnSpc>
                <a:spcPct val="100000"/>
              </a:lnSpc>
              <a:buNone/>
            </a:pPr>
            <a:r>
              <a:rPr lang="en-US" sz="1300" b="1" dirty="0">
                <a:solidFill>
                  <a:srgbClr val="0B0B0B"/>
                </a:solidFill>
                <a:latin typeface="Arial" pitchFamily="34" charset="0"/>
                <a:ea typeface="Arial" pitchFamily="34" charset="-122"/>
                <a:cs typeface="Arial" pitchFamily="34" charset="-120"/>
              </a:rPr>
              <a:t>shadow acceleration</a:t>
            </a:r>
            <a:endParaRPr lang="en-US" sz="1300" dirty="0"/>
          </a:p>
        </p:txBody>
      </p:sp>
      <p:sp>
        <p:nvSpPr>
          <p:cNvPr id="21" name="Shape 19"/>
          <p:cNvSpPr/>
          <p:nvPr/>
        </p:nvSpPr>
        <p:spPr>
          <a:xfrm>
            <a:off x="3611880" y="2084832"/>
            <a:ext cx="640080" cy="0"/>
          </a:xfrm>
          <a:prstGeom prst="line">
            <a:avLst/>
          </a:prstGeom>
          <a:noFill/>
          <a:ln w="31750">
            <a:solidFill>
              <a:srgbClr val="0B0B0B"/>
            </a:solidFill>
            <a:prstDash val="solid"/>
            <a:tailEnd type="triangle"/>
          </a:ln>
        </p:spPr>
      </p:sp>
      <p:sp>
        <p:nvSpPr>
          <p:cNvPr id="22" name="Shape 20"/>
          <p:cNvSpPr/>
          <p:nvPr/>
        </p:nvSpPr>
        <p:spPr>
          <a:xfrm>
            <a:off x="7223760" y="2084832"/>
            <a:ext cx="640080" cy="0"/>
          </a:xfrm>
          <a:prstGeom prst="line">
            <a:avLst/>
          </a:prstGeom>
          <a:noFill/>
          <a:ln w="31750">
            <a:solidFill>
              <a:srgbClr val="0B0B0B"/>
            </a:solidFill>
            <a:prstDash val="solid"/>
            <a:tailEnd type="triangle"/>
          </a:ln>
        </p:spPr>
      </p:sp>
      <p:sp>
        <p:nvSpPr>
          <p:cNvPr id="23" name="Shape 21"/>
          <p:cNvSpPr/>
          <p:nvPr/>
        </p:nvSpPr>
        <p:spPr>
          <a:xfrm>
            <a:off x="4800600" y="2743200"/>
            <a:ext cx="-594360" cy="777240"/>
          </a:xfrm>
          <a:prstGeom prst="line">
            <a:avLst/>
          </a:prstGeom>
          <a:noFill/>
          <a:ln w="31750">
            <a:solidFill>
              <a:srgbClr val="0B0B0B"/>
            </a:solidFill>
            <a:prstDash val="solid"/>
            <a:tailEnd type="triangle"/>
          </a:ln>
        </p:spPr>
      </p:sp>
      <p:sp>
        <p:nvSpPr>
          <p:cNvPr id="24" name="Shape 22"/>
          <p:cNvSpPr/>
          <p:nvPr/>
        </p:nvSpPr>
        <p:spPr>
          <a:xfrm>
            <a:off x="6903720" y="2743200"/>
            <a:ext cx="594360" cy="777240"/>
          </a:xfrm>
          <a:prstGeom prst="line">
            <a:avLst/>
          </a:prstGeom>
          <a:noFill/>
          <a:ln w="31750">
            <a:solidFill>
              <a:srgbClr val="0B0B0B"/>
            </a:solidFill>
            <a:prstDash val="solid"/>
            <a:tailEnd type="triangle"/>
          </a:ln>
        </p:spPr>
      </p:sp>
      <p:sp>
        <p:nvSpPr>
          <p:cNvPr id="25" name="Shape 23"/>
          <p:cNvSpPr/>
          <p:nvPr/>
        </p:nvSpPr>
        <p:spPr>
          <a:xfrm>
            <a:off x="4709160" y="5532120"/>
            <a:ext cx="2743200" cy="384048"/>
          </a:xfrm>
          <a:prstGeom prst="roundRect">
            <a:avLst>
              <a:gd name="adj" fmla="val 19048"/>
            </a:avLst>
          </a:prstGeom>
          <a:solidFill>
            <a:srgbClr val="0B0B0B"/>
          </a:solidFill>
          <a:ln w="19050">
            <a:solidFill>
              <a:srgbClr val="0B0B0B"/>
            </a:solidFill>
            <a:prstDash val="solid"/>
          </a:ln>
        </p:spPr>
      </p:sp>
      <p:sp>
        <p:nvSpPr>
          <p:cNvPr id="26" name="Text 24"/>
          <p:cNvSpPr/>
          <p:nvPr/>
        </p:nvSpPr>
        <p:spPr>
          <a:xfrm>
            <a:off x="4818888" y="5605272"/>
            <a:ext cx="2523744" cy="219456"/>
          </a:xfrm>
          <a:prstGeom prst="rect">
            <a:avLst/>
          </a:prstGeom>
          <a:noFill/>
          <a:ln/>
        </p:spPr>
        <p:txBody>
          <a:bodyPr wrap="square" lIns="0" tIns="0" rIns="0" bIns="0" rtlCol="0" anchor="ctr">
            <a:normAutofit/>
          </a:bodyPr>
          <a:lstStyle/>
          <a:p>
            <a:pPr algn="ctr" indent="0" marL="0">
              <a:lnSpc>
                <a:spcPct val="100000"/>
              </a:lnSpc>
              <a:buNone/>
            </a:pPr>
            <a:r>
              <a:rPr lang="en-US" sz="1300" b="1" dirty="0">
                <a:solidFill>
                  <a:srgbClr val="FFFFFF"/>
                </a:solidFill>
                <a:latin typeface="Arial" pitchFamily="34" charset="0"/>
                <a:ea typeface="Arial" pitchFamily="34" charset="-122"/>
                <a:cs typeface="Arial" pitchFamily="34" charset="-120"/>
              </a:rPr>
              <a:t>MIT LICENSE</a:t>
            </a:r>
            <a:endParaRPr lang="en-US" sz="1300" dirty="0"/>
          </a:p>
        </p:txBody>
      </p:sp>
      <p:sp>
        <p:nvSpPr>
          <p:cNvPr id="27" name="Text 25"/>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github.com/specdog/leash</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HONEST STATUS</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25</a:t>
            </a:r>
            <a:endParaRPr lang="en-US" sz="950" dirty="0"/>
          </a:p>
        </p:txBody>
      </p:sp>
      <p:sp>
        <p:nvSpPr>
          <p:cNvPr id="5" name="Text 3"/>
          <p:cNvSpPr/>
          <p:nvPr/>
        </p:nvSpPr>
        <p:spPr>
          <a:xfrm>
            <a:off x="502920" y="566928"/>
            <a:ext cx="11109960" cy="914400"/>
          </a:xfrm>
          <a:prstGeom prst="rect">
            <a:avLst/>
          </a:prstGeom>
          <a:noFill/>
          <a:ln/>
        </p:spPr>
        <p:txBody>
          <a:bodyPr wrap="square" lIns="0" tIns="0" rIns="0" bIns="0" rtlCol="0" anchor="ctr">
            <a:normAutofit/>
          </a:bodyPr>
          <a:lstStyle/>
          <a:p>
            <a:pPr indent="0" marL="0">
              <a:buNone/>
            </a:pPr>
            <a:r>
              <a:rPr lang="en-US" sz="3100" b="1" dirty="0">
                <a:solidFill>
                  <a:srgbClr val="0B0B0B"/>
                </a:solidFill>
                <a:latin typeface="Arial Black" pitchFamily="34" charset="0"/>
                <a:ea typeface="Arial Black" pitchFamily="34" charset="-122"/>
                <a:cs typeface="Arial Black" pitchFamily="34" charset="-120"/>
              </a:rPr>
              <a:t>Live today is not the same as claimed tomorrow.</a:t>
            </a:r>
            <a:endParaRPr lang="en-US" sz="3100" dirty="0"/>
          </a:p>
        </p:txBody>
      </p:sp>
      <p:sp>
        <p:nvSpPr>
          <p:cNvPr id="6" name="Text 4"/>
          <p:cNvSpPr/>
          <p:nvPr/>
        </p:nvSpPr>
        <p:spPr>
          <a:xfrm>
            <a:off x="713232" y="1353312"/>
            <a:ext cx="5074920" cy="384048"/>
          </a:xfrm>
          <a:prstGeom prst="rect">
            <a:avLst/>
          </a:prstGeom>
          <a:noFill/>
          <a:ln/>
        </p:spPr>
        <p:txBody>
          <a:bodyPr wrap="square" lIns="0" tIns="0" rIns="0" bIns="0" rtlCol="0" anchor="t">
            <a:normAutofit/>
          </a:bodyPr>
          <a:lstStyle/>
          <a:p>
            <a:pPr algn="l" indent="0" marL="0">
              <a:lnSpc>
                <a:spcPct val="100000"/>
              </a:lnSpc>
              <a:buNone/>
            </a:pPr>
            <a:r>
              <a:rPr lang="en-US" sz="2200" b="1" dirty="0">
                <a:solidFill>
                  <a:srgbClr val="2855FF"/>
                </a:solidFill>
                <a:latin typeface="Arial" pitchFamily="34" charset="0"/>
                <a:ea typeface="Arial" pitchFamily="34" charset="-122"/>
                <a:cs typeface="Arial" pitchFamily="34" charset="-120"/>
              </a:rPr>
              <a:t>LIVE + VERIFIED</a:t>
            </a:r>
            <a:endParaRPr lang="en-US" sz="2200" dirty="0"/>
          </a:p>
        </p:txBody>
      </p:sp>
      <p:sp>
        <p:nvSpPr>
          <p:cNvPr id="7" name="Text 5"/>
          <p:cNvSpPr/>
          <p:nvPr/>
        </p:nvSpPr>
        <p:spPr>
          <a:xfrm>
            <a:off x="6400800" y="1353312"/>
            <a:ext cx="5074920" cy="384048"/>
          </a:xfrm>
          <a:prstGeom prst="rect">
            <a:avLst/>
          </a:prstGeom>
          <a:noFill/>
          <a:ln/>
        </p:spPr>
        <p:txBody>
          <a:bodyPr wrap="square" lIns="0" tIns="0" rIns="0" bIns="0" rtlCol="0" anchor="t">
            <a:normAutofit/>
          </a:bodyPr>
          <a:lstStyle/>
          <a:p>
            <a:pPr algn="l" indent="0" marL="0">
              <a:lnSpc>
                <a:spcPct val="100000"/>
              </a:lnSpc>
              <a:buNone/>
            </a:pPr>
            <a:r>
              <a:rPr lang="en-US" sz="2200" b="1" dirty="0">
                <a:solidFill>
                  <a:srgbClr val="EF3340"/>
                </a:solidFill>
                <a:latin typeface="Arial" pitchFamily="34" charset="0"/>
                <a:ea typeface="Arial" pitchFamily="34" charset="-122"/>
                <a:cs typeface="Arial" pitchFamily="34" charset="-120"/>
              </a:rPr>
              <a:t>NOT CLAIMED</a:t>
            </a:r>
            <a:endParaRPr lang="en-US" sz="2200" dirty="0"/>
          </a:p>
        </p:txBody>
      </p:sp>
      <p:sp>
        <p:nvSpPr>
          <p:cNvPr id="8" name="Shape 6"/>
          <p:cNvSpPr/>
          <p:nvPr/>
        </p:nvSpPr>
        <p:spPr>
          <a:xfrm>
            <a:off x="749808" y="1993392"/>
            <a:ext cx="274320" cy="274320"/>
          </a:xfrm>
          <a:prstGeom prst="ellipse">
            <a:avLst/>
          </a:prstGeom>
          <a:solidFill>
            <a:srgbClr val="B8FF32"/>
          </a:solidFill>
          <a:ln w="25400">
            <a:solidFill>
              <a:srgbClr val="0B0B0B"/>
            </a:solidFill>
            <a:prstDash val="solid"/>
          </a:ln>
        </p:spPr>
      </p:sp>
      <p:sp>
        <p:nvSpPr>
          <p:cNvPr id="9" name="Text 7"/>
          <p:cNvSpPr/>
          <p:nvPr/>
        </p:nvSpPr>
        <p:spPr>
          <a:xfrm>
            <a:off x="1188720" y="1938528"/>
            <a:ext cx="4709160" cy="320040"/>
          </a:xfrm>
          <a:prstGeom prst="rect">
            <a:avLst/>
          </a:prstGeom>
          <a:noFill/>
          <a:ln/>
        </p:spPr>
        <p:txBody>
          <a:bodyPr wrap="square" lIns="0" tIns="0" rIns="0" bIns="0" rtlCol="0" anchor="t">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controller ownership</a:t>
            </a:r>
            <a:endParaRPr lang="en-US" sz="1600" dirty="0"/>
          </a:p>
        </p:txBody>
      </p:sp>
      <p:sp>
        <p:nvSpPr>
          <p:cNvPr id="10" name="Shape 8"/>
          <p:cNvSpPr/>
          <p:nvPr/>
        </p:nvSpPr>
        <p:spPr>
          <a:xfrm>
            <a:off x="749808" y="2615184"/>
            <a:ext cx="274320" cy="274320"/>
          </a:xfrm>
          <a:prstGeom prst="ellipse">
            <a:avLst/>
          </a:prstGeom>
          <a:solidFill>
            <a:srgbClr val="B8FF32"/>
          </a:solidFill>
          <a:ln w="25400">
            <a:solidFill>
              <a:srgbClr val="0B0B0B"/>
            </a:solidFill>
            <a:prstDash val="solid"/>
          </a:ln>
        </p:spPr>
      </p:sp>
      <p:sp>
        <p:nvSpPr>
          <p:cNvPr id="11" name="Text 9"/>
          <p:cNvSpPr/>
          <p:nvPr/>
        </p:nvSpPr>
        <p:spPr>
          <a:xfrm>
            <a:off x="1188720" y="2560320"/>
            <a:ext cx="4709160" cy="320040"/>
          </a:xfrm>
          <a:prstGeom prst="rect">
            <a:avLst/>
          </a:prstGeom>
          <a:noFill/>
          <a:ln/>
        </p:spPr>
        <p:txBody>
          <a:bodyPr wrap="square" lIns="0" tIns="0" rIns="0" bIns="0" rtlCol="0" anchor="t">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CPU final authority</a:t>
            </a:r>
            <a:endParaRPr lang="en-US" sz="1600" dirty="0"/>
          </a:p>
        </p:txBody>
      </p:sp>
      <p:sp>
        <p:nvSpPr>
          <p:cNvPr id="12" name="Shape 10"/>
          <p:cNvSpPr/>
          <p:nvPr/>
        </p:nvSpPr>
        <p:spPr>
          <a:xfrm>
            <a:off x="749808" y="3236976"/>
            <a:ext cx="274320" cy="274320"/>
          </a:xfrm>
          <a:prstGeom prst="ellipse">
            <a:avLst/>
          </a:prstGeom>
          <a:solidFill>
            <a:srgbClr val="B8FF32"/>
          </a:solidFill>
          <a:ln w="25400">
            <a:solidFill>
              <a:srgbClr val="0B0B0B"/>
            </a:solidFill>
            <a:prstDash val="solid"/>
          </a:ln>
        </p:spPr>
      </p:sp>
      <p:sp>
        <p:nvSpPr>
          <p:cNvPr id="13" name="Text 11"/>
          <p:cNvSpPr/>
          <p:nvPr/>
        </p:nvSpPr>
        <p:spPr>
          <a:xfrm>
            <a:off x="1188720" y="3182112"/>
            <a:ext cx="4709160" cy="320040"/>
          </a:xfrm>
          <a:prstGeom prst="rect">
            <a:avLst/>
          </a:prstGeom>
          <a:noFill/>
          <a:ln/>
        </p:spPr>
        <p:txBody>
          <a:bodyPr wrap="square" lIns="0" tIns="0" rIns="0" bIns="0" rtlCol="0" anchor="t">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fresh LiDAR / IMU / odometry</a:t>
            </a:r>
            <a:endParaRPr lang="en-US" sz="1600" dirty="0"/>
          </a:p>
        </p:txBody>
      </p:sp>
      <p:sp>
        <p:nvSpPr>
          <p:cNvPr id="14" name="Shape 12"/>
          <p:cNvSpPr/>
          <p:nvPr/>
        </p:nvSpPr>
        <p:spPr>
          <a:xfrm>
            <a:off x="749808" y="3858768"/>
            <a:ext cx="274320" cy="274320"/>
          </a:xfrm>
          <a:prstGeom prst="ellipse">
            <a:avLst/>
          </a:prstGeom>
          <a:solidFill>
            <a:srgbClr val="B8FF32"/>
          </a:solidFill>
          <a:ln w="25400">
            <a:solidFill>
              <a:srgbClr val="0B0B0B"/>
            </a:solidFill>
            <a:prstDash val="solid"/>
          </a:ln>
        </p:spPr>
      </p:sp>
      <p:sp>
        <p:nvSpPr>
          <p:cNvPr id="15" name="Text 13"/>
          <p:cNvSpPr/>
          <p:nvPr/>
        </p:nvSpPr>
        <p:spPr>
          <a:xfrm>
            <a:off x="1188720" y="3803904"/>
            <a:ext cx="4709160" cy="320040"/>
          </a:xfrm>
          <a:prstGeom prst="rect">
            <a:avLst/>
          </a:prstGeom>
          <a:noFill/>
          <a:ln/>
        </p:spPr>
        <p:txBody>
          <a:bodyPr wrap="square" lIns="0" tIns="0" rIns="0" bIns="0" rtlCol="0" anchor="t">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camera snapshot</a:t>
            </a:r>
            <a:endParaRPr lang="en-US" sz="1600" dirty="0"/>
          </a:p>
        </p:txBody>
      </p:sp>
      <p:sp>
        <p:nvSpPr>
          <p:cNvPr id="16" name="Shape 14"/>
          <p:cNvSpPr/>
          <p:nvPr/>
        </p:nvSpPr>
        <p:spPr>
          <a:xfrm>
            <a:off x="749808" y="4480560"/>
            <a:ext cx="274320" cy="274320"/>
          </a:xfrm>
          <a:prstGeom prst="ellipse">
            <a:avLst/>
          </a:prstGeom>
          <a:solidFill>
            <a:srgbClr val="B8FF32"/>
          </a:solidFill>
          <a:ln w="25400">
            <a:solidFill>
              <a:srgbClr val="0B0B0B"/>
            </a:solidFill>
            <a:prstDash val="solid"/>
          </a:ln>
        </p:spPr>
      </p:sp>
      <p:sp>
        <p:nvSpPr>
          <p:cNvPr id="17" name="Text 15"/>
          <p:cNvSpPr/>
          <p:nvPr/>
        </p:nvSpPr>
        <p:spPr>
          <a:xfrm>
            <a:off x="1188720" y="4425696"/>
            <a:ext cx="4709160" cy="320040"/>
          </a:xfrm>
          <a:prstGeom prst="rect">
            <a:avLst/>
          </a:prstGeom>
          <a:noFill/>
          <a:ln/>
        </p:spPr>
        <p:txBody>
          <a:bodyPr wrap="square" lIns="0" tIns="0" rIns="0" bIns="0" rtlCol="0" anchor="t">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CUDA available in shadow</a:t>
            </a:r>
            <a:endParaRPr lang="en-US" sz="1600" dirty="0"/>
          </a:p>
        </p:txBody>
      </p:sp>
      <p:sp>
        <p:nvSpPr>
          <p:cNvPr id="18" name="Shape 16"/>
          <p:cNvSpPr/>
          <p:nvPr/>
        </p:nvSpPr>
        <p:spPr>
          <a:xfrm>
            <a:off x="749808" y="5102352"/>
            <a:ext cx="274320" cy="274320"/>
          </a:xfrm>
          <a:prstGeom prst="ellipse">
            <a:avLst/>
          </a:prstGeom>
          <a:solidFill>
            <a:srgbClr val="B8FF32"/>
          </a:solidFill>
          <a:ln w="25400">
            <a:solidFill>
              <a:srgbClr val="0B0B0B"/>
            </a:solidFill>
            <a:prstDash val="solid"/>
          </a:ln>
        </p:spPr>
      </p:sp>
      <p:sp>
        <p:nvSpPr>
          <p:cNvPr id="19" name="Text 17"/>
          <p:cNvSpPr/>
          <p:nvPr/>
        </p:nvSpPr>
        <p:spPr>
          <a:xfrm>
            <a:off x="1188720" y="5047488"/>
            <a:ext cx="4709160" cy="320040"/>
          </a:xfrm>
          <a:prstGeom prst="rect">
            <a:avLst/>
          </a:prstGeom>
          <a:noFill/>
          <a:ln/>
        </p:spPr>
        <p:txBody>
          <a:bodyPr wrap="square" lIns="0" tIns="0" rIns="0" bIns="0" rtlCol="0" anchor="t">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durable evidence</a:t>
            </a:r>
            <a:endParaRPr lang="en-US" sz="1600" dirty="0"/>
          </a:p>
        </p:txBody>
      </p:sp>
      <p:sp>
        <p:nvSpPr>
          <p:cNvPr id="20" name="Shape 18"/>
          <p:cNvSpPr/>
          <p:nvPr/>
        </p:nvSpPr>
        <p:spPr>
          <a:xfrm>
            <a:off x="6419088" y="1993392"/>
            <a:ext cx="274320" cy="274320"/>
          </a:xfrm>
          <a:prstGeom prst="ellipse">
            <a:avLst/>
          </a:prstGeom>
          <a:solidFill>
            <a:srgbClr val="FF5B9D"/>
          </a:solidFill>
          <a:ln w="25400">
            <a:solidFill>
              <a:srgbClr val="0B0B0B"/>
            </a:solidFill>
            <a:prstDash val="solid"/>
          </a:ln>
        </p:spPr>
      </p:sp>
      <p:sp>
        <p:nvSpPr>
          <p:cNvPr id="21" name="Text 19"/>
          <p:cNvSpPr/>
          <p:nvPr/>
        </p:nvSpPr>
        <p:spPr>
          <a:xfrm>
            <a:off x="6858000" y="1938528"/>
            <a:ext cx="4617720" cy="320040"/>
          </a:xfrm>
          <a:prstGeom prst="rect">
            <a:avLst/>
          </a:prstGeom>
          <a:noFill/>
          <a:ln/>
        </p:spPr>
        <p:txBody>
          <a:bodyPr wrap="square" lIns="0" tIns="0" rIns="0" bIns="0" rtlCol="0" anchor="t">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whole-house autonomy</a:t>
            </a:r>
            <a:endParaRPr lang="en-US" sz="1600" dirty="0"/>
          </a:p>
        </p:txBody>
      </p:sp>
      <p:sp>
        <p:nvSpPr>
          <p:cNvPr id="22" name="Shape 20"/>
          <p:cNvSpPr/>
          <p:nvPr/>
        </p:nvSpPr>
        <p:spPr>
          <a:xfrm>
            <a:off x="6419088" y="2615184"/>
            <a:ext cx="274320" cy="274320"/>
          </a:xfrm>
          <a:prstGeom prst="ellipse">
            <a:avLst/>
          </a:prstGeom>
          <a:solidFill>
            <a:srgbClr val="FF5B9D"/>
          </a:solidFill>
          <a:ln w="25400">
            <a:solidFill>
              <a:srgbClr val="0B0B0B"/>
            </a:solidFill>
            <a:prstDash val="solid"/>
          </a:ln>
        </p:spPr>
      </p:sp>
      <p:sp>
        <p:nvSpPr>
          <p:cNvPr id="23" name="Text 21"/>
          <p:cNvSpPr/>
          <p:nvPr/>
        </p:nvSpPr>
        <p:spPr>
          <a:xfrm>
            <a:off x="6858000" y="2560320"/>
            <a:ext cx="4617720" cy="320040"/>
          </a:xfrm>
          <a:prstGeom prst="rect">
            <a:avLst/>
          </a:prstGeom>
          <a:noFill/>
          <a:ln/>
        </p:spPr>
        <p:txBody>
          <a:bodyPr wrap="square" lIns="0" tIns="0" rIns="0" bIns="0" rtlCol="0" anchor="t">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active mapping at this moment</a:t>
            </a:r>
            <a:endParaRPr lang="en-US" sz="1600" dirty="0"/>
          </a:p>
        </p:txBody>
      </p:sp>
      <p:sp>
        <p:nvSpPr>
          <p:cNvPr id="24" name="Shape 22"/>
          <p:cNvSpPr/>
          <p:nvPr/>
        </p:nvSpPr>
        <p:spPr>
          <a:xfrm>
            <a:off x="6419088" y="3236976"/>
            <a:ext cx="274320" cy="274320"/>
          </a:xfrm>
          <a:prstGeom prst="ellipse">
            <a:avLst/>
          </a:prstGeom>
          <a:solidFill>
            <a:srgbClr val="FF5B9D"/>
          </a:solidFill>
          <a:ln w="25400">
            <a:solidFill>
              <a:srgbClr val="0B0B0B"/>
            </a:solidFill>
            <a:prstDash val="solid"/>
          </a:ln>
        </p:spPr>
      </p:sp>
      <p:sp>
        <p:nvSpPr>
          <p:cNvPr id="25" name="Text 23"/>
          <p:cNvSpPr/>
          <p:nvPr/>
        </p:nvSpPr>
        <p:spPr>
          <a:xfrm>
            <a:off x="6858000" y="3182112"/>
            <a:ext cx="4617720" cy="320040"/>
          </a:xfrm>
          <a:prstGeom prst="rect">
            <a:avLst/>
          </a:prstGeom>
          <a:noFill/>
          <a:ln/>
        </p:spPr>
        <p:txBody>
          <a:bodyPr wrap="square" lIns="0" tIns="0" rIns="0" bIns="0" rtlCol="0" anchor="t">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visual odometry lock</a:t>
            </a:r>
            <a:endParaRPr lang="en-US" sz="1600" dirty="0"/>
          </a:p>
        </p:txBody>
      </p:sp>
      <p:sp>
        <p:nvSpPr>
          <p:cNvPr id="26" name="Shape 24"/>
          <p:cNvSpPr/>
          <p:nvPr/>
        </p:nvSpPr>
        <p:spPr>
          <a:xfrm>
            <a:off x="6419088" y="3858768"/>
            <a:ext cx="274320" cy="274320"/>
          </a:xfrm>
          <a:prstGeom prst="ellipse">
            <a:avLst/>
          </a:prstGeom>
          <a:solidFill>
            <a:srgbClr val="FF5B9D"/>
          </a:solidFill>
          <a:ln w="25400">
            <a:solidFill>
              <a:srgbClr val="0B0B0B"/>
            </a:solidFill>
            <a:prstDash val="solid"/>
          </a:ln>
        </p:spPr>
      </p:sp>
      <p:sp>
        <p:nvSpPr>
          <p:cNvPr id="27" name="Text 25"/>
          <p:cNvSpPr/>
          <p:nvPr/>
        </p:nvSpPr>
        <p:spPr>
          <a:xfrm>
            <a:off x="6858000" y="3803904"/>
            <a:ext cx="4617720" cy="320040"/>
          </a:xfrm>
          <a:prstGeom prst="rect">
            <a:avLst/>
          </a:prstGeom>
          <a:noFill/>
          <a:ln/>
        </p:spPr>
        <p:txBody>
          <a:bodyPr wrap="square" lIns="0" tIns="0" rIns="0" bIns="0" rtlCol="0" anchor="t">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GPU motor authority</a:t>
            </a:r>
            <a:endParaRPr lang="en-US" sz="1600" dirty="0"/>
          </a:p>
        </p:txBody>
      </p:sp>
      <p:sp>
        <p:nvSpPr>
          <p:cNvPr id="28" name="Shape 26"/>
          <p:cNvSpPr/>
          <p:nvPr/>
        </p:nvSpPr>
        <p:spPr>
          <a:xfrm>
            <a:off x="6419088" y="4480560"/>
            <a:ext cx="274320" cy="274320"/>
          </a:xfrm>
          <a:prstGeom prst="ellipse">
            <a:avLst/>
          </a:prstGeom>
          <a:solidFill>
            <a:srgbClr val="FF5B9D"/>
          </a:solidFill>
          <a:ln w="25400">
            <a:solidFill>
              <a:srgbClr val="0B0B0B"/>
            </a:solidFill>
            <a:prstDash val="solid"/>
          </a:ln>
        </p:spPr>
      </p:sp>
      <p:sp>
        <p:nvSpPr>
          <p:cNvPr id="29" name="Text 27"/>
          <p:cNvSpPr/>
          <p:nvPr/>
        </p:nvSpPr>
        <p:spPr>
          <a:xfrm>
            <a:off x="6858000" y="4425696"/>
            <a:ext cx="4617720" cy="320040"/>
          </a:xfrm>
          <a:prstGeom prst="rect">
            <a:avLst/>
          </a:prstGeom>
          <a:noFill/>
          <a:ln/>
        </p:spPr>
        <p:txBody>
          <a:bodyPr wrap="square" lIns="0" tIns="0" rIns="0" bIns="0" rtlCol="0" anchor="t">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RL policy in the control loop</a:t>
            </a:r>
            <a:endParaRPr lang="en-US" sz="1600" dirty="0"/>
          </a:p>
        </p:txBody>
      </p:sp>
      <p:sp>
        <p:nvSpPr>
          <p:cNvPr id="30" name="Shape 28"/>
          <p:cNvSpPr/>
          <p:nvPr/>
        </p:nvSpPr>
        <p:spPr>
          <a:xfrm>
            <a:off x="6419088" y="5102352"/>
            <a:ext cx="274320" cy="274320"/>
          </a:xfrm>
          <a:prstGeom prst="ellipse">
            <a:avLst/>
          </a:prstGeom>
          <a:solidFill>
            <a:srgbClr val="FF5B9D"/>
          </a:solidFill>
          <a:ln w="25400">
            <a:solidFill>
              <a:srgbClr val="0B0B0B"/>
            </a:solidFill>
            <a:prstDash val="solid"/>
          </a:ln>
        </p:spPr>
      </p:sp>
      <p:sp>
        <p:nvSpPr>
          <p:cNvPr id="31" name="Text 29"/>
          <p:cNvSpPr/>
          <p:nvPr/>
        </p:nvSpPr>
        <p:spPr>
          <a:xfrm>
            <a:off x="6858000" y="5047488"/>
            <a:ext cx="4617720" cy="320040"/>
          </a:xfrm>
          <a:prstGeom prst="rect">
            <a:avLst/>
          </a:prstGeom>
          <a:noFill/>
          <a:ln/>
        </p:spPr>
        <p:txBody>
          <a:bodyPr wrap="square" lIns="0" tIns="0" rIns="0" bIns="0" rtlCol="0" anchor="t">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semantic room understanding</a:t>
            </a:r>
            <a:endParaRPr lang="en-US" sz="1600" dirty="0"/>
          </a:p>
        </p:txBody>
      </p:sp>
      <p:sp>
        <p:nvSpPr>
          <p:cNvPr id="32" name="Shape 30"/>
          <p:cNvSpPr/>
          <p:nvPr/>
        </p:nvSpPr>
        <p:spPr>
          <a:xfrm>
            <a:off x="6108192" y="1261872"/>
            <a:ext cx="0" cy="4480560"/>
          </a:xfrm>
          <a:prstGeom prst="line">
            <a:avLst/>
          </a:prstGeom>
          <a:noFill/>
          <a:ln w="25400">
            <a:solidFill>
              <a:srgbClr val="0B0B0B"/>
            </a:solidFill>
            <a:prstDash val="solid"/>
          </a:ln>
        </p:spPr>
      </p:sp>
      <p:sp>
        <p:nvSpPr>
          <p:cNvPr id="33" name="Text 31"/>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github.com/specdog/leash</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0B0B"/>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QUALIA • 2 MINUTES</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26</a:t>
            </a:r>
            <a:endParaRPr lang="en-US" sz="950" dirty="0"/>
          </a:p>
        </p:txBody>
      </p:sp>
      <p:sp>
        <p:nvSpPr>
          <p:cNvPr id="5" name="Text 3"/>
          <p:cNvSpPr/>
          <p:nvPr/>
        </p:nvSpPr>
        <p:spPr>
          <a:xfrm>
            <a:off x="502920" y="566928"/>
            <a:ext cx="11109960" cy="914400"/>
          </a:xfrm>
          <a:prstGeom prst="rect">
            <a:avLst/>
          </a:prstGeom>
          <a:noFill/>
          <a:ln/>
        </p:spPr>
        <p:txBody>
          <a:bodyPr wrap="square" lIns="0" tIns="0" rIns="0" bIns="0" rtlCol="0" anchor="ctr">
            <a:normAutofit/>
          </a:bodyPr>
          <a:lstStyle/>
          <a:p>
            <a:pPr indent="0" marL="0">
              <a:buNone/>
            </a:pPr>
            <a:r>
              <a:rPr lang="en-US" sz="3500" b="1" dirty="0">
                <a:solidFill>
                  <a:srgbClr val="FFFFFF"/>
                </a:solidFill>
                <a:latin typeface="Arial Black" pitchFamily="34" charset="0"/>
                <a:ea typeface="Arial Black" pitchFamily="34" charset="-122"/>
                <a:cs typeface="Arial Black" pitchFamily="34" charset="-120"/>
              </a:rPr>
              <a:t>Qualia thinks on a slower clock.</a:t>
            </a:r>
            <a:endParaRPr lang="en-US" sz="3500" dirty="0"/>
          </a:p>
        </p:txBody>
      </p:sp>
      <p:sp>
        <p:nvSpPr>
          <p:cNvPr id="6" name="Shape 4"/>
          <p:cNvSpPr/>
          <p:nvPr/>
        </p:nvSpPr>
        <p:spPr>
          <a:xfrm>
            <a:off x="521208" y="1252728"/>
            <a:ext cx="7827264" cy="3913632"/>
          </a:xfrm>
          <a:prstGeom prst="rect">
            <a:avLst/>
          </a:prstGeom>
          <a:solidFill>
            <a:srgbClr val="FFFDF7"/>
          </a:solidFill>
          <a:ln w="38100">
            <a:solidFill>
              <a:srgbClr val="B8FF32"/>
            </a:solidFill>
            <a:prstDash val="solid"/>
          </a:ln>
        </p:spPr>
      </p:sp>
      <p:pic>
        <p:nvPicPr>
          <p:cNvPr id="7" name="Image 0" descr="/Users/ericmanganaro/leash-worktrees/geek-on-a-leash-talk/talks/geek-on-a-leash/assets/qualia-world-current.png">    </p:cNvPr>
          <p:cNvPicPr>
            <a:picLocks noChangeAspect="1"/>
          </p:cNvPicPr>
          <p:nvPr/>
        </p:nvPicPr>
        <p:blipFill>
          <a:blip r:embed="rId1"/>
          <a:stretch>
            <a:fillRect/>
          </a:stretch>
        </p:blipFill>
        <p:spPr>
          <a:xfrm>
            <a:off x="594360" y="1327382"/>
            <a:ext cx="7680960" cy="3764323"/>
          </a:xfrm>
          <a:prstGeom prst="rect">
            <a:avLst/>
          </a:prstGeom>
        </p:spPr>
      </p:pic>
      <p:sp>
        <p:nvSpPr>
          <p:cNvPr id="8" name="Shape 5"/>
          <p:cNvSpPr/>
          <p:nvPr/>
        </p:nvSpPr>
        <p:spPr>
          <a:xfrm>
            <a:off x="8823960" y="1417320"/>
            <a:ext cx="2377440" cy="1097280"/>
          </a:xfrm>
          <a:prstGeom prst="rect">
            <a:avLst/>
          </a:prstGeom>
          <a:solidFill>
            <a:srgbClr val="B8FF32"/>
          </a:solidFill>
          <a:ln w="27940">
            <a:solidFill>
              <a:srgbClr val="0B0B0B"/>
            </a:solidFill>
            <a:prstDash val="solid"/>
          </a:ln>
        </p:spPr>
      </p:sp>
      <p:sp>
        <p:nvSpPr>
          <p:cNvPr id="9" name="Text 6"/>
          <p:cNvSpPr/>
          <p:nvPr/>
        </p:nvSpPr>
        <p:spPr>
          <a:xfrm>
            <a:off x="8988552" y="1581912"/>
            <a:ext cx="2048256" cy="768096"/>
          </a:xfrm>
          <a:prstGeom prst="rect">
            <a:avLst/>
          </a:prstGeom>
          <a:noFill/>
          <a:ln/>
        </p:spPr>
        <p:txBody>
          <a:bodyPr wrap="square" lIns="0" tIns="0" rIns="0" bIns="0" rtlCol="0" anchor="ctr">
            <a:normAutofit/>
          </a:bodyPr>
          <a:lstStyle/>
          <a:p>
            <a:pPr algn="ctr" indent="0" marL="0">
              <a:lnSpc>
                <a:spcPct val="100000"/>
              </a:lnSpc>
              <a:buNone/>
            </a:pPr>
            <a:r>
              <a:rPr lang="en-US" sz="2200" b="1" dirty="0">
                <a:solidFill>
                  <a:srgbClr val="0B0B0B"/>
                </a:solidFill>
                <a:latin typeface="Arial" pitchFamily="34" charset="0"/>
                <a:ea typeface="Arial" pitchFamily="34" charset="-122"/>
                <a:cs typeface="Arial" pitchFamily="34" charset="-120"/>
              </a:rPr>
              <a:t>LEASH</a:t>
            </a:r>
            <a:endParaRPr lang="en-US" sz="2200" dirty="0"/>
          </a:p>
          <a:p>
            <a:pPr algn="ctr" indent="0" marL="0">
              <a:lnSpc>
                <a:spcPct val="100000"/>
              </a:lnSpc>
              <a:buNone/>
            </a:pPr>
            <a:r>
              <a:rPr lang="en-US" sz="2200" b="1" dirty="0">
                <a:solidFill>
                  <a:srgbClr val="0B0B0B"/>
                </a:solidFill>
                <a:latin typeface="Arial" pitchFamily="34" charset="0"/>
                <a:ea typeface="Arial" pitchFamily="34" charset="-122"/>
                <a:cs typeface="Arial" pitchFamily="34" charset="-120"/>
              </a:rPr>
              <a:t>10 ms</a:t>
            </a:r>
            <a:endParaRPr lang="en-US" sz="2200" dirty="0"/>
          </a:p>
        </p:txBody>
      </p:sp>
      <p:sp>
        <p:nvSpPr>
          <p:cNvPr id="10" name="Shape 7"/>
          <p:cNvSpPr/>
          <p:nvPr/>
        </p:nvSpPr>
        <p:spPr>
          <a:xfrm>
            <a:off x="10012680" y="2633472"/>
            <a:ext cx="0" cy="777240"/>
          </a:xfrm>
          <a:prstGeom prst="line">
            <a:avLst/>
          </a:prstGeom>
          <a:noFill/>
          <a:ln w="38100">
            <a:solidFill>
              <a:srgbClr val="FFFFFF"/>
            </a:solidFill>
            <a:prstDash val="solid"/>
            <a:tailEnd type="triangle"/>
          </a:ln>
        </p:spPr>
      </p:sp>
      <p:sp>
        <p:nvSpPr>
          <p:cNvPr id="11" name="Shape 8"/>
          <p:cNvSpPr/>
          <p:nvPr/>
        </p:nvSpPr>
        <p:spPr>
          <a:xfrm>
            <a:off x="8823960" y="3520440"/>
            <a:ext cx="2377440" cy="1188720"/>
          </a:xfrm>
          <a:prstGeom prst="rect">
            <a:avLst/>
          </a:prstGeom>
          <a:solidFill>
            <a:srgbClr val="2855FF"/>
          </a:solidFill>
          <a:ln w="27940">
            <a:solidFill>
              <a:srgbClr val="0B0B0B"/>
            </a:solidFill>
            <a:prstDash val="solid"/>
          </a:ln>
        </p:spPr>
      </p:sp>
      <p:sp>
        <p:nvSpPr>
          <p:cNvPr id="12" name="Text 9"/>
          <p:cNvSpPr/>
          <p:nvPr/>
        </p:nvSpPr>
        <p:spPr>
          <a:xfrm>
            <a:off x="8988552" y="3685032"/>
            <a:ext cx="2048256" cy="859536"/>
          </a:xfrm>
          <a:prstGeom prst="rect">
            <a:avLst/>
          </a:prstGeom>
          <a:noFill/>
          <a:ln/>
        </p:spPr>
        <p:txBody>
          <a:bodyPr wrap="square" lIns="0" tIns="0" rIns="0" bIns="0" rtlCol="0" anchor="ctr">
            <a:normAutofit/>
          </a:bodyPr>
          <a:lstStyle/>
          <a:p>
            <a:pPr algn="ctr" indent="0" marL="0">
              <a:lnSpc>
                <a:spcPct val="100000"/>
              </a:lnSpc>
              <a:buNone/>
            </a:pPr>
            <a:r>
              <a:rPr lang="en-US" sz="1900" b="1" dirty="0">
                <a:solidFill>
                  <a:srgbClr val="FFFFFF"/>
                </a:solidFill>
                <a:latin typeface="Arial" pitchFamily="34" charset="0"/>
                <a:ea typeface="Arial" pitchFamily="34" charset="-122"/>
                <a:cs typeface="Arial" pitchFamily="34" charset="-120"/>
              </a:rPr>
              <a:t>QUALIA</a:t>
            </a:r>
            <a:endParaRPr lang="en-US" sz="1900" dirty="0"/>
          </a:p>
          <a:p>
            <a:pPr algn="ctr" indent="0" marL="0">
              <a:lnSpc>
                <a:spcPct val="100000"/>
              </a:lnSpc>
              <a:buNone/>
            </a:pPr>
            <a:r>
              <a:rPr lang="en-US" sz="1900" b="1" dirty="0">
                <a:solidFill>
                  <a:srgbClr val="FFFFFF"/>
                </a:solidFill>
                <a:latin typeface="Arial" pitchFamily="34" charset="0"/>
                <a:ea typeface="Arial" pitchFamily="34" charset="-122"/>
                <a:cs typeface="Arial" pitchFamily="34" charset="-120"/>
              </a:rPr>
              <a:t>seconds → minutes</a:t>
            </a:r>
            <a:endParaRPr lang="en-US" sz="1900" dirty="0"/>
          </a:p>
        </p:txBody>
      </p:sp>
      <p:sp>
        <p:nvSpPr>
          <p:cNvPr id="13" name="Text 10"/>
          <p:cNvSpPr/>
          <p:nvPr/>
        </p:nvSpPr>
        <p:spPr>
          <a:xfrm>
            <a:off x="1097280" y="5449824"/>
            <a:ext cx="6949440" cy="365760"/>
          </a:xfrm>
          <a:prstGeom prst="rect">
            <a:avLst/>
          </a:prstGeom>
          <a:noFill/>
          <a:ln/>
        </p:spPr>
        <p:txBody>
          <a:bodyPr wrap="square" lIns="0" tIns="0" rIns="0" bIns="0" rtlCol="0" anchor="t">
            <a:normAutofit/>
          </a:bodyPr>
          <a:lstStyle/>
          <a:p>
            <a:pPr algn="ctr" indent="0" marL="0">
              <a:lnSpc>
                <a:spcPct val="100000"/>
              </a:lnSpc>
              <a:buNone/>
            </a:pPr>
            <a:r>
              <a:rPr lang="en-US" sz="1800" b="1" dirty="0">
                <a:solidFill>
                  <a:srgbClr val="FFFFFF"/>
                </a:solidFill>
                <a:latin typeface="Arial" pitchFamily="34" charset="0"/>
                <a:ea typeface="Arial" pitchFamily="34" charset="-122"/>
                <a:cs typeface="Arial" pitchFamily="34" charset="-120"/>
              </a:rPr>
              <a:t>scene • mission • ontology • learning</a:t>
            </a:r>
            <a:endParaRPr lang="en-US" sz="1800" dirty="0"/>
          </a:p>
        </p:txBody>
      </p:sp>
      <p:sp>
        <p:nvSpPr>
          <p:cNvPr id="14" name="Text 11"/>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https://github.com/specdog/leash</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THE HANDOFF</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27</a:t>
            </a:r>
            <a:endParaRPr lang="en-US" sz="950" dirty="0"/>
          </a:p>
        </p:txBody>
      </p:sp>
      <p:sp>
        <p:nvSpPr>
          <p:cNvPr id="5" name="Text 3"/>
          <p:cNvSpPr/>
          <p:nvPr/>
        </p:nvSpPr>
        <p:spPr>
          <a:xfrm>
            <a:off x="502920" y="566928"/>
            <a:ext cx="11109960" cy="914400"/>
          </a:xfrm>
          <a:prstGeom prst="rect">
            <a:avLst/>
          </a:prstGeom>
          <a:noFill/>
          <a:ln/>
        </p:spPr>
        <p:txBody>
          <a:bodyPr wrap="square" lIns="0" tIns="0" rIns="0" bIns="0" rtlCol="0" anchor="ctr">
            <a:normAutofit/>
          </a:bodyPr>
          <a:lstStyle/>
          <a:p>
            <a:pPr indent="0" marL="0">
              <a:buNone/>
            </a:pPr>
            <a:r>
              <a:rPr lang="en-US" sz="3300" b="1" dirty="0">
                <a:solidFill>
                  <a:srgbClr val="0B0B0B"/>
                </a:solidFill>
                <a:latin typeface="Arial Black" pitchFamily="34" charset="0"/>
                <a:ea typeface="Arial Black" pitchFamily="34" charset="-122"/>
                <a:cs typeface="Arial Black" pitchFamily="34" charset="-120"/>
              </a:rPr>
              <a:t>Intelligence crosses as a typed proposal.</a:t>
            </a:r>
            <a:endParaRPr lang="en-US" sz="3300" dirty="0"/>
          </a:p>
        </p:txBody>
      </p:sp>
      <p:sp>
        <p:nvSpPr>
          <p:cNvPr id="6" name="Shape 4"/>
          <p:cNvSpPr/>
          <p:nvPr/>
        </p:nvSpPr>
        <p:spPr>
          <a:xfrm>
            <a:off x="521208" y="1344168"/>
            <a:ext cx="4718304" cy="2596896"/>
          </a:xfrm>
          <a:prstGeom prst="rect">
            <a:avLst/>
          </a:prstGeom>
          <a:solidFill>
            <a:srgbClr val="FFFDF7"/>
          </a:solidFill>
          <a:ln w="38100">
            <a:solidFill>
              <a:srgbClr val="2855FF"/>
            </a:solidFill>
            <a:prstDash val="solid"/>
          </a:ln>
        </p:spPr>
      </p:sp>
      <p:pic>
        <p:nvPicPr>
          <p:cNvPr id="7" name="Image 0" descr="/Users/ericmanganaro/leash-worktrees/geek-on-a-leash-talk/talks/geek-on-a-leash/assets/hermes-terminal-current.png">    </p:cNvPr>
          <p:cNvPicPr>
            <a:picLocks noChangeAspect="1"/>
          </p:cNvPicPr>
          <p:nvPr/>
        </p:nvPicPr>
        <p:blipFill>
          <a:blip r:embed="rId1"/>
          <a:stretch>
            <a:fillRect/>
          </a:stretch>
        </p:blipFill>
        <p:spPr>
          <a:xfrm>
            <a:off x="594360" y="1419405"/>
            <a:ext cx="4572000" cy="2446421"/>
          </a:xfrm>
          <a:prstGeom prst="rect">
            <a:avLst/>
          </a:prstGeom>
        </p:spPr>
      </p:pic>
      <p:sp>
        <p:nvSpPr>
          <p:cNvPr id="8" name="Shape 5"/>
          <p:cNvSpPr/>
          <p:nvPr/>
        </p:nvSpPr>
        <p:spPr>
          <a:xfrm>
            <a:off x="777240" y="4572000"/>
            <a:ext cx="1828800" cy="713232"/>
          </a:xfrm>
          <a:prstGeom prst="rect">
            <a:avLst/>
          </a:prstGeom>
          <a:solidFill>
            <a:srgbClr val="DDE5FF"/>
          </a:solidFill>
          <a:ln w="27940">
            <a:solidFill>
              <a:srgbClr val="0B0B0B"/>
            </a:solidFill>
            <a:prstDash val="solid"/>
          </a:ln>
        </p:spPr>
      </p:sp>
      <p:sp>
        <p:nvSpPr>
          <p:cNvPr id="9" name="Text 6"/>
          <p:cNvSpPr/>
          <p:nvPr/>
        </p:nvSpPr>
        <p:spPr>
          <a:xfrm>
            <a:off x="941832" y="4736592"/>
            <a:ext cx="1499616" cy="384048"/>
          </a:xfrm>
          <a:prstGeom prst="rect">
            <a:avLst/>
          </a:prstGeom>
          <a:noFill/>
          <a:ln/>
        </p:spPr>
        <p:txBody>
          <a:bodyPr wrap="square" lIns="0" tIns="0" rIns="0" bIns="0" rtlCol="0" anchor="ctr">
            <a:normAutofit/>
          </a:bodyPr>
          <a:lstStyle/>
          <a:p>
            <a:pPr algn="ctr" indent="0" marL="0">
              <a:lnSpc>
                <a:spcPct val="100000"/>
              </a:lnSpc>
              <a:buNone/>
            </a:pPr>
            <a:r>
              <a:rPr lang="en-US" sz="1700" b="1" dirty="0">
                <a:solidFill>
                  <a:srgbClr val="0B0B0B"/>
                </a:solidFill>
                <a:latin typeface="Arial" pitchFamily="34" charset="0"/>
                <a:ea typeface="Arial" pitchFamily="34" charset="-122"/>
                <a:cs typeface="Arial" pitchFamily="34" charset="-120"/>
              </a:rPr>
              <a:t>MISSION</a:t>
            </a:r>
            <a:endParaRPr lang="en-US" sz="1700" dirty="0"/>
          </a:p>
        </p:txBody>
      </p:sp>
      <p:sp>
        <p:nvSpPr>
          <p:cNvPr id="10" name="Shape 7"/>
          <p:cNvSpPr/>
          <p:nvPr/>
        </p:nvSpPr>
        <p:spPr>
          <a:xfrm>
            <a:off x="2724912" y="4919472"/>
            <a:ext cx="731520" cy="0"/>
          </a:xfrm>
          <a:prstGeom prst="line">
            <a:avLst/>
          </a:prstGeom>
          <a:noFill/>
          <a:ln w="31750">
            <a:solidFill>
              <a:srgbClr val="0B0B0B"/>
            </a:solidFill>
            <a:prstDash val="solid"/>
            <a:tailEnd type="triangle"/>
          </a:ln>
        </p:spPr>
      </p:sp>
      <p:sp>
        <p:nvSpPr>
          <p:cNvPr id="11" name="Shape 8"/>
          <p:cNvSpPr/>
          <p:nvPr/>
        </p:nvSpPr>
        <p:spPr>
          <a:xfrm>
            <a:off x="3566160" y="4572000"/>
            <a:ext cx="1828800" cy="713232"/>
          </a:xfrm>
          <a:prstGeom prst="rect">
            <a:avLst/>
          </a:prstGeom>
          <a:solidFill>
            <a:srgbClr val="FFD63D"/>
          </a:solidFill>
          <a:ln w="27940">
            <a:solidFill>
              <a:srgbClr val="0B0B0B"/>
            </a:solidFill>
            <a:prstDash val="solid"/>
          </a:ln>
        </p:spPr>
      </p:sp>
      <p:sp>
        <p:nvSpPr>
          <p:cNvPr id="12" name="Text 9"/>
          <p:cNvSpPr/>
          <p:nvPr/>
        </p:nvSpPr>
        <p:spPr>
          <a:xfrm>
            <a:off x="3730752" y="4736592"/>
            <a:ext cx="1499616" cy="384048"/>
          </a:xfrm>
          <a:prstGeom prst="rect">
            <a:avLst/>
          </a:prstGeom>
          <a:noFill/>
          <a:ln/>
        </p:spPr>
        <p:txBody>
          <a:bodyPr wrap="square" lIns="0" tIns="0" rIns="0" bIns="0" rtlCol="0" anchor="ctr">
            <a:normAutofit/>
          </a:bodyPr>
          <a:lstStyle/>
          <a:p>
            <a:pPr algn="ctr" indent="0" marL="0">
              <a:lnSpc>
                <a:spcPct val="100000"/>
              </a:lnSpc>
              <a:buNone/>
            </a:pPr>
            <a:r>
              <a:rPr lang="en-US" sz="1700" b="1" dirty="0">
                <a:solidFill>
                  <a:srgbClr val="0B0B0B"/>
                </a:solidFill>
                <a:latin typeface="Arial" pitchFamily="34" charset="0"/>
                <a:ea typeface="Arial" pitchFamily="34" charset="-122"/>
                <a:cs typeface="Arial" pitchFamily="34" charset="-120"/>
              </a:rPr>
              <a:t>CANDIDATE</a:t>
            </a:r>
            <a:endParaRPr lang="en-US" sz="1700" dirty="0"/>
          </a:p>
        </p:txBody>
      </p:sp>
      <p:sp>
        <p:nvSpPr>
          <p:cNvPr id="13" name="Shape 10"/>
          <p:cNvSpPr/>
          <p:nvPr/>
        </p:nvSpPr>
        <p:spPr>
          <a:xfrm>
            <a:off x="5513832" y="4919472"/>
            <a:ext cx="731520" cy="0"/>
          </a:xfrm>
          <a:prstGeom prst="line">
            <a:avLst/>
          </a:prstGeom>
          <a:noFill/>
          <a:ln w="31750">
            <a:solidFill>
              <a:srgbClr val="0B0B0B"/>
            </a:solidFill>
            <a:prstDash val="solid"/>
            <a:tailEnd type="triangle"/>
          </a:ln>
        </p:spPr>
      </p:sp>
      <p:sp>
        <p:nvSpPr>
          <p:cNvPr id="14" name="Shape 11"/>
          <p:cNvSpPr/>
          <p:nvPr/>
        </p:nvSpPr>
        <p:spPr>
          <a:xfrm>
            <a:off x="6355080" y="4572000"/>
            <a:ext cx="1828800" cy="713232"/>
          </a:xfrm>
          <a:prstGeom prst="rect">
            <a:avLst/>
          </a:prstGeom>
          <a:solidFill>
            <a:srgbClr val="B8FF32"/>
          </a:solidFill>
          <a:ln w="27940">
            <a:solidFill>
              <a:srgbClr val="0B0B0B"/>
            </a:solidFill>
            <a:prstDash val="solid"/>
          </a:ln>
        </p:spPr>
      </p:sp>
      <p:sp>
        <p:nvSpPr>
          <p:cNvPr id="15" name="Text 12"/>
          <p:cNvSpPr/>
          <p:nvPr/>
        </p:nvSpPr>
        <p:spPr>
          <a:xfrm>
            <a:off x="6519672" y="4736592"/>
            <a:ext cx="1499616" cy="384048"/>
          </a:xfrm>
          <a:prstGeom prst="rect">
            <a:avLst/>
          </a:prstGeom>
          <a:noFill/>
          <a:ln/>
        </p:spPr>
        <p:txBody>
          <a:bodyPr wrap="square" lIns="0" tIns="0" rIns="0" bIns="0" rtlCol="0" anchor="ctr">
            <a:normAutofit/>
          </a:bodyPr>
          <a:lstStyle/>
          <a:p>
            <a:pPr algn="ctr" indent="0" marL="0">
              <a:lnSpc>
                <a:spcPct val="100000"/>
              </a:lnSpc>
              <a:buNone/>
            </a:pPr>
            <a:r>
              <a:rPr lang="en-US" sz="1700" b="1" dirty="0">
                <a:solidFill>
                  <a:srgbClr val="0B0B0B"/>
                </a:solidFill>
                <a:latin typeface="Arial" pitchFamily="34" charset="0"/>
                <a:ea typeface="Arial" pitchFamily="34" charset="-122"/>
                <a:cs typeface="Arial" pitchFamily="34" charset="-120"/>
              </a:rPr>
              <a:t>LEASH</a:t>
            </a:r>
            <a:endParaRPr lang="en-US" sz="1700" dirty="0"/>
          </a:p>
        </p:txBody>
      </p:sp>
      <p:sp>
        <p:nvSpPr>
          <p:cNvPr id="16" name="Shape 13"/>
          <p:cNvSpPr/>
          <p:nvPr/>
        </p:nvSpPr>
        <p:spPr>
          <a:xfrm>
            <a:off x="8302752" y="4919472"/>
            <a:ext cx="731520" cy="0"/>
          </a:xfrm>
          <a:prstGeom prst="line">
            <a:avLst/>
          </a:prstGeom>
          <a:noFill/>
          <a:ln w="31750">
            <a:solidFill>
              <a:srgbClr val="0B0B0B"/>
            </a:solidFill>
            <a:prstDash val="solid"/>
            <a:tailEnd type="triangle"/>
          </a:ln>
        </p:spPr>
      </p:sp>
      <p:sp>
        <p:nvSpPr>
          <p:cNvPr id="17" name="Shape 14"/>
          <p:cNvSpPr/>
          <p:nvPr/>
        </p:nvSpPr>
        <p:spPr>
          <a:xfrm>
            <a:off x="9144000" y="4572000"/>
            <a:ext cx="1828800" cy="713232"/>
          </a:xfrm>
          <a:prstGeom prst="rect">
            <a:avLst/>
          </a:prstGeom>
          <a:solidFill>
            <a:srgbClr val="FF5B9D"/>
          </a:solidFill>
          <a:ln w="27940">
            <a:solidFill>
              <a:srgbClr val="0B0B0B"/>
            </a:solidFill>
            <a:prstDash val="solid"/>
          </a:ln>
        </p:spPr>
      </p:sp>
      <p:sp>
        <p:nvSpPr>
          <p:cNvPr id="18" name="Text 15"/>
          <p:cNvSpPr/>
          <p:nvPr/>
        </p:nvSpPr>
        <p:spPr>
          <a:xfrm>
            <a:off x="9308592" y="4736592"/>
            <a:ext cx="1499616" cy="384048"/>
          </a:xfrm>
          <a:prstGeom prst="rect">
            <a:avLst/>
          </a:prstGeom>
          <a:noFill/>
          <a:ln/>
        </p:spPr>
        <p:txBody>
          <a:bodyPr wrap="square" lIns="0" tIns="0" rIns="0" bIns="0" rtlCol="0" anchor="ctr">
            <a:normAutofit/>
          </a:bodyPr>
          <a:lstStyle/>
          <a:p>
            <a:pPr algn="ctr" indent="0" marL="0">
              <a:lnSpc>
                <a:spcPct val="100000"/>
              </a:lnSpc>
              <a:buNone/>
            </a:pPr>
            <a:r>
              <a:rPr lang="en-US" sz="1700" b="1" dirty="0">
                <a:solidFill>
                  <a:srgbClr val="0B0B0B"/>
                </a:solidFill>
                <a:latin typeface="Arial" pitchFamily="34" charset="0"/>
                <a:ea typeface="Arial" pitchFamily="34" charset="-122"/>
                <a:cs typeface="Arial" pitchFamily="34" charset="-120"/>
              </a:rPr>
              <a:t>EFFECT</a:t>
            </a:r>
            <a:endParaRPr lang="en-US" sz="1700" dirty="0"/>
          </a:p>
        </p:txBody>
      </p:sp>
      <p:sp>
        <p:nvSpPr>
          <p:cNvPr id="19" name="Shape 16"/>
          <p:cNvSpPr/>
          <p:nvPr/>
        </p:nvSpPr>
        <p:spPr>
          <a:xfrm>
            <a:off x="5852160" y="1371600"/>
            <a:ext cx="5212080" cy="2450592"/>
          </a:xfrm>
          <a:prstGeom prst="rect">
            <a:avLst/>
          </a:prstGeom>
          <a:solidFill>
            <a:srgbClr val="0B0B0B"/>
          </a:solidFill>
          <a:ln w="31750">
            <a:solidFill>
              <a:srgbClr val="0B0B0B"/>
            </a:solidFill>
            <a:prstDash val="solid"/>
          </a:ln>
        </p:spPr>
      </p:sp>
      <p:sp>
        <p:nvSpPr>
          <p:cNvPr id="20" name="Text 17"/>
          <p:cNvSpPr/>
          <p:nvPr/>
        </p:nvSpPr>
        <p:spPr>
          <a:xfrm>
            <a:off x="6199632" y="1673352"/>
            <a:ext cx="4526280" cy="1901952"/>
          </a:xfrm>
          <a:prstGeom prst="rect">
            <a:avLst/>
          </a:prstGeom>
          <a:noFill/>
          <a:ln/>
        </p:spPr>
        <p:txBody>
          <a:bodyPr wrap="square" lIns="0" tIns="0" rIns="0" bIns="0" rtlCol="0" anchor="t">
            <a:normAutofit/>
          </a:bodyPr>
          <a:lstStyle/>
          <a:p>
            <a:pPr algn="l" indent="0" marL="0">
              <a:lnSpc>
                <a:spcPct val="100000"/>
              </a:lnSpc>
              <a:buNone/>
            </a:pPr>
            <a:r>
              <a:rPr lang="en-US" sz="1700" dirty="0">
                <a:solidFill>
                  <a:srgbClr val="FFFFFF"/>
                </a:solidFill>
                <a:latin typeface="Courier New" pitchFamily="34" charset="0"/>
                <a:ea typeface="Courier New" pitchFamily="34" charset="-122"/>
                <a:cs typeface="Courier New" pitchFamily="34" charset="-120"/>
              </a:rPr>
              <a:t>{</a:t>
            </a:r>
            <a:endParaRPr lang="en-US" sz="1700" dirty="0"/>
          </a:p>
          <a:p>
            <a:pPr algn="l" indent="0" marL="0">
              <a:lnSpc>
                <a:spcPct val="100000"/>
              </a:lnSpc>
              <a:buNone/>
            </a:pPr>
            <a:r>
              <a:rPr lang="en-US" sz="1700" dirty="0">
                <a:solidFill>
                  <a:srgbClr val="FFFFFF"/>
                </a:solidFill>
                <a:latin typeface="Courier New" pitchFamily="34" charset="0"/>
                <a:ea typeface="Courier New" pitchFamily="34" charset="-122"/>
                <a:cs typeface="Courier New" pitchFamily="34" charset="-120"/>
              </a:rPr>
              <a:t>  "linear": 0.08,</a:t>
            </a:r>
            <a:endParaRPr lang="en-US" sz="1700" dirty="0"/>
          </a:p>
          <a:p>
            <a:pPr algn="l" indent="0" marL="0">
              <a:lnSpc>
                <a:spcPct val="100000"/>
              </a:lnSpc>
              <a:buNone/>
            </a:pPr>
            <a:r>
              <a:rPr lang="en-US" sz="1700" dirty="0">
                <a:solidFill>
                  <a:srgbClr val="FFFFFF"/>
                </a:solidFill>
                <a:latin typeface="Courier New" pitchFamily="34" charset="0"/>
                <a:ea typeface="Courier New" pitchFamily="34" charset="-122"/>
                <a:cs typeface="Courier New" pitchFamily="34" charset="-120"/>
              </a:rPr>
              <a:t>  "angular": 0.0,</a:t>
            </a:r>
            <a:endParaRPr lang="en-US" sz="1700" dirty="0"/>
          </a:p>
          <a:p>
            <a:pPr algn="l" indent="0" marL="0">
              <a:lnSpc>
                <a:spcPct val="100000"/>
              </a:lnSpc>
              <a:buNone/>
            </a:pPr>
            <a:r>
              <a:rPr lang="en-US" sz="1700" dirty="0">
                <a:solidFill>
                  <a:srgbClr val="FFFFFF"/>
                </a:solidFill>
                <a:latin typeface="Courier New" pitchFamily="34" charset="0"/>
                <a:ea typeface="Courier New" pitchFamily="34" charset="-122"/>
                <a:cs typeface="Courier New" pitchFamily="34" charset="-120"/>
              </a:rPr>
              <a:t>  "duration_ms": 400,</a:t>
            </a:r>
            <a:endParaRPr lang="en-US" sz="1700" dirty="0"/>
          </a:p>
          <a:p>
            <a:pPr algn="l" indent="0" marL="0">
              <a:lnSpc>
                <a:spcPct val="100000"/>
              </a:lnSpc>
              <a:buNone/>
            </a:pPr>
            <a:r>
              <a:rPr lang="en-US" sz="1700" dirty="0">
                <a:solidFill>
                  <a:srgbClr val="FFFFFF"/>
                </a:solidFill>
                <a:latin typeface="Courier New" pitchFamily="34" charset="0"/>
                <a:ea typeface="Courier New" pitchFamily="34" charset="-122"/>
                <a:cs typeface="Courier New" pitchFamily="34" charset="-120"/>
              </a:rPr>
              <a:t>  "reason": "bounded demo"</a:t>
            </a:r>
            <a:endParaRPr lang="en-US" sz="1700" dirty="0"/>
          </a:p>
          <a:p>
            <a:pPr algn="l" indent="0" marL="0">
              <a:lnSpc>
                <a:spcPct val="100000"/>
              </a:lnSpc>
              <a:buNone/>
            </a:pPr>
            <a:r>
              <a:rPr lang="en-US" sz="1700" dirty="0">
                <a:solidFill>
                  <a:srgbClr val="FFFFFF"/>
                </a:solidFill>
                <a:latin typeface="Courier New" pitchFamily="34" charset="0"/>
                <a:ea typeface="Courier New" pitchFamily="34" charset="-122"/>
                <a:cs typeface="Courier New" pitchFamily="34" charset="-120"/>
              </a:rPr>
              <a:t>}</a:t>
            </a:r>
            <a:endParaRPr lang="en-US" sz="1700" dirty="0"/>
          </a:p>
        </p:txBody>
      </p:sp>
      <p:sp>
        <p:nvSpPr>
          <p:cNvPr id="21" name="Text 18"/>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github.com/specdog/leash</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D63D"/>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LIVE DEMO</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28</a:t>
            </a:r>
            <a:endParaRPr lang="en-US" sz="950" dirty="0"/>
          </a:p>
        </p:txBody>
      </p:sp>
      <p:sp>
        <p:nvSpPr>
          <p:cNvPr id="5" name="Text 3"/>
          <p:cNvSpPr/>
          <p:nvPr/>
        </p:nvSpPr>
        <p:spPr>
          <a:xfrm>
            <a:off x="502920" y="566928"/>
            <a:ext cx="11109960" cy="914400"/>
          </a:xfrm>
          <a:prstGeom prst="rect">
            <a:avLst/>
          </a:prstGeom>
          <a:noFill/>
          <a:ln/>
        </p:spPr>
        <p:txBody>
          <a:bodyPr wrap="square" lIns="0" tIns="0" rIns="0" bIns="0" rtlCol="0" anchor="ctr">
            <a:normAutofit/>
          </a:bodyPr>
          <a:lstStyle/>
          <a:p>
            <a:pPr indent="0" marL="0">
              <a:buNone/>
            </a:pPr>
            <a:r>
              <a:rPr lang="en-US" sz="3600" b="1" dirty="0">
                <a:solidFill>
                  <a:srgbClr val="0B0B0B"/>
                </a:solidFill>
                <a:latin typeface="Arial Black" pitchFamily="34" charset="0"/>
                <a:ea typeface="Arial Black" pitchFamily="34" charset="-122"/>
                <a:cs typeface="Arial Black" pitchFamily="34" charset="-120"/>
              </a:rPr>
              <a:t>Observe. Approve. Pulse. Prove zero.</a:t>
            </a:r>
            <a:endParaRPr lang="en-US" sz="3600" dirty="0"/>
          </a:p>
        </p:txBody>
      </p:sp>
      <p:sp>
        <p:nvSpPr>
          <p:cNvPr id="6" name="Shape 4"/>
          <p:cNvSpPr/>
          <p:nvPr/>
        </p:nvSpPr>
        <p:spPr>
          <a:xfrm>
            <a:off x="1097280" y="1508760"/>
            <a:ext cx="594360" cy="594360"/>
          </a:xfrm>
          <a:prstGeom prst="ellipse">
            <a:avLst/>
          </a:prstGeom>
          <a:solidFill>
            <a:srgbClr val="2855FF"/>
          </a:solidFill>
          <a:ln w="25400">
            <a:solidFill>
              <a:srgbClr val="0B0B0B"/>
            </a:solidFill>
            <a:prstDash val="solid"/>
          </a:ln>
        </p:spPr>
      </p:sp>
      <p:sp>
        <p:nvSpPr>
          <p:cNvPr id="7" name="Text 5"/>
          <p:cNvSpPr/>
          <p:nvPr/>
        </p:nvSpPr>
        <p:spPr>
          <a:xfrm>
            <a:off x="1097280" y="1664208"/>
            <a:ext cx="594360" cy="274320"/>
          </a:xfrm>
          <a:prstGeom prst="rect">
            <a:avLst/>
          </a:prstGeom>
          <a:noFill/>
          <a:ln/>
        </p:spPr>
        <p:txBody>
          <a:bodyPr wrap="square" lIns="0" tIns="0" rIns="0" bIns="0" rtlCol="0" anchor="t">
            <a:normAutofit/>
          </a:bodyPr>
          <a:lstStyle/>
          <a:p>
            <a:pPr algn="ctr" indent="0" marL="0">
              <a:lnSpc>
                <a:spcPct val="100000"/>
              </a:lnSpc>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8" name="Shape 6"/>
          <p:cNvSpPr/>
          <p:nvPr/>
        </p:nvSpPr>
        <p:spPr>
          <a:xfrm>
            <a:off x="438912" y="2423160"/>
            <a:ext cx="1920240" cy="1371600"/>
          </a:xfrm>
          <a:prstGeom prst="rect">
            <a:avLst/>
          </a:prstGeom>
          <a:solidFill>
            <a:srgbClr val="FFFDF7"/>
          </a:solidFill>
          <a:ln w="27940">
            <a:solidFill>
              <a:srgbClr val="0B0B0B"/>
            </a:solidFill>
            <a:prstDash val="solid"/>
          </a:ln>
        </p:spPr>
      </p:sp>
      <p:sp>
        <p:nvSpPr>
          <p:cNvPr id="9" name="Text 7"/>
          <p:cNvSpPr/>
          <p:nvPr/>
        </p:nvSpPr>
        <p:spPr>
          <a:xfrm>
            <a:off x="603504" y="2587752"/>
            <a:ext cx="1591056" cy="1042416"/>
          </a:xfrm>
          <a:prstGeom prst="rect">
            <a:avLst/>
          </a:prstGeom>
          <a:noFill/>
          <a:ln/>
        </p:spPr>
        <p:txBody>
          <a:bodyPr wrap="square" lIns="0" tIns="0" rIns="0" bIns="0" rtlCol="0" anchor="ctr">
            <a:normAutofit/>
          </a:bodyPr>
          <a:lstStyle/>
          <a:p>
            <a:pPr algn="ctr" indent="0" marL="0">
              <a:lnSpc>
                <a:spcPct val="100000"/>
              </a:lnSpc>
              <a:buNone/>
            </a:pPr>
            <a:r>
              <a:rPr lang="en-US" sz="1700" b="1" dirty="0">
                <a:solidFill>
                  <a:srgbClr val="0B0B0B"/>
                </a:solidFill>
                <a:latin typeface="Arial" pitchFamily="34" charset="0"/>
                <a:ea typeface="Arial" pitchFamily="34" charset="-122"/>
                <a:cs typeface="Arial" pitchFamily="34" charset="-120"/>
              </a:rPr>
              <a:t>READ-ONLY</a:t>
            </a:r>
            <a:endParaRPr lang="en-US" sz="1700" dirty="0"/>
          </a:p>
          <a:p>
            <a:pPr algn="ctr" indent="0" marL="0">
              <a:lnSpc>
                <a:spcPct val="100000"/>
              </a:lnSpc>
              <a:buNone/>
            </a:pPr>
            <a:r>
              <a:rPr lang="en-US" sz="1700" b="1" dirty="0">
                <a:solidFill>
                  <a:srgbClr val="0B0B0B"/>
                </a:solidFill>
                <a:latin typeface="Arial" pitchFamily="34" charset="0"/>
                <a:ea typeface="Arial" pitchFamily="34" charset="-122"/>
                <a:cs typeface="Arial" pitchFamily="34" charset="-120"/>
              </a:rPr>
              <a:t>PREFLIGHT</a:t>
            </a:r>
            <a:endParaRPr lang="en-US" sz="1700" dirty="0"/>
          </a:p>
        </p:txBody>
      </p:sp>
      <p:sp>
        <p:nvSpPr>
          <p:cNvPr id="10" name="Shape 8"/>
          <p:cNvSpPr/>
          <p:nvPr/>
        </p:nvSpPr>
        <p:spPr>
          <a:xfrm>
            <a:off x="2414016" y="3108960"/>
            <a:ext cx="292608" cy="0"/>
          </a:xfrm>
          <a:prstGeom prst="line">
            <a:avLst/>
          </a:prstGeom>
          <a:noFill/>
          <a:ln w="31750">
            <a:solidFill>
              <a:srgbClr val="0B0B0B"/>
            </a:solidFill>
            <a:prstDash val="solid"/>
            <a:tailEnd type="triangle"/>
          </a:ln>
        </p:spPr>
      </p:sp>
      <p:sp>
        <p:nvSpPr>
          <p:cNvPr id="11" name="Shape 9"/>
          <p:cNvSpPr/>
          <p:nvPr/>
        </p:nvSpPr>
        <p:spPr>
          <a:xfrm>
            <a:off x="3438144" y="1508760"/>
            <a:ext cx="594360" cy="594360"/>
          </a:xfrm>
          <a:prstGeom prst="ellipse">
            <a:avLst/>
          </a:prstGeom>
          <a:solidFill>
            <a:srgbClr val="2855FF"/>
          </a:solidFill>
          <a:ln w="25400">
            <a:solidFill>
              <a:srgbClr val="0B0B0B"/>
            </a:solidFill>
            <a:prstDash val="solid"/>
          </a:ln>
        </p:spPr>
      </p:sp>
      <p:sp>
        <p:nvSpPr>
          <p:cNvPr id="12" name="Text 10"/>
          <p:cNvSpPr/>
          <p:nvPr/>
        </p:nvSpPr>
        <p:spPr>
          <a:xfrm>
            <a:off x="3438144" y="1664208"/>
            <a:ext cx="594360" cy="274320"/>
          </a:xfrm>
          <a:prstGeom prst="rect">
            <a:avLst/>
          </a:prstGeom>
          <a:noFill/>
          <a:ln/>
        </p:spPr>
        <p:txBody>
          <a:bodyPr wrap="square" lIns="0" tIns="0" rIns="0" bIns="0" rtlCol="0" anchor="t">
            <a:normAutofit/>
          </a:bodyPr>
          <a:lstStyle/>
          <a:p>
            <a:pPr algn="ctr" indent="0" marL="0">
              <a:lnSpc>
                <a:spcPct val="100000"/>
              </a:lnSpc>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3" name="Shape 11"/>
          <p:cNvSpPr/>
          <p:nvPr/>
        </p:nvSpPr>
        <p:spPr>
          <a:xfrm>
            <a:off x="2779776" y="2423160"/>
            <a:ext cx="1920240" cy="1371600"/>
          </a:xfrm>
          <a:prstGeom prst="rect">
            <a:avLst/>
          </a:prstGeom>
          <a:solidFill>
            <a:srgbClr val="DDE5FF"/>
          </a:solidFill>
          <a:ln w="27940">
            <a:solidFill>
              <a:srgbClr val="0B0B0B"/>
            </a:solidFill>
            <a:prstDash val="solid"/>
          </a:ln>
        </p:spPr>
      </p:sp>
      <p:sp>
        <p:nvSpPr>
          <p:cNvPr id="14" name="Text 12"/>
          <p:cNvSpPr/>
          <p:nvPr/>
        </p:nvSpPr>
        <p:spPr>
          <a:xfrm>
            <a:off x="2944368" y="2587752"/>
            <a:ext cx="1591056" cy="1042416"/>
          </a:xfrm>
          <a:prstGeom prst="rect">
            <a:avLst/>
          </a:prstGeom>
          <a:noFill/>
          <a:ln/>
        </p:spPr>
        <p:txBody>
          <a:bodyPr wrap="square" lIns="0" tIns="0" rIns="0" bIns="0" rtlCol="0" anchor="ctr">
            <a:normAutofit/>
          </a:bodyPr>
          <a:lstStyle/>
          <a:p>
            <a:pPr algn="ctr" indent="0" marL="0">
              <a:lnSpc>
                <a:spcPct val="100000"/>
              </a:lnSpc>
              <a:buNone/>
            </a:pPr>
            <a:r>
              <a:rPr lang="en-US" sz="1700" b="1" dirty="0">
                <a:solidFill>
                  <a:srgbClr val="0B0B0B"/>
                </a:solidFill>
                <a:latin typeface="Arial" pitchFamily="34" charset="0"/>
                <a:ea typeface="Arial" pitchFamily="34" charset="-122"/>
                <a:cs typeface="Arial" pitchFamily="34" charset="-120"/>
              </a:rPr>
              <a:t>HUMAN</a:t>
            </a:r>
            <a:endParaRPr lang="en-US" sz="1700" dirty="0"/>
          </a:p>
          <a:p>
            <a:pPr algn="ctr" indent="0" marL="0">
              <a:lnSpc>
                <a:spcPct val="100000"/>
              </a:lnSpc>
              <a:buNone/>
            </a:pPr>
            <a:r>
              <a:rPr lang="en-US" sz="1700" b="1" dirty="0">
                <a:solidFill>
                  <a:srgbClr val="0B0B0B"/>
                </a:solidFill>
                <a:latin typeface="Arial" pitchFamily="34" charset="0"/>
                <a:ea typeface="Arial" pitchFamily="34" charset="-122"/>
                <a:cs typeface="Arial" pitchFamily="34" charset="-120"/>
              </a:rPr>
              <a:t>APPROVAL</a:t>
            </a:r>
            <a:endParaRPr lang="en-US" sz="1700" dirty="0"/>
          </a:p>
        </p:txBody>
      </p:sp>
      <p:sp>
        <p:nvSpPr>
          <p:cNvPr id="15" name="Shape 13"/>
          <p:cNvSpPr/>
          <p:nvPr/>
        </p:nvSpPr>
        <p:spPr>
          <a:xfrm>
            <a:off x="4754880" y="3108960"/>
            <a:ext cx="292608" cy="0"/>
          </a:xfrm>
          <a:prstGeom prst="line">
            <a:avLst/>
          </a:prstGeom>
          <a:noFill/>
          <a:ln w="31750">
            <a:solidFill>
              <a:srgbClr val="0B0B0B"/>
            </a:solidFill>
            <a:prstDash val="solid"/>
            <a:tailEnd type="triangle"/>
          </a:ln>
        </p:spPr>
      </p:sp>
      <p:sp>
        <p:nvSpPr>
          <p:cNvPr id="16" name="Shape 14"/>
          <p:cNvSpPr/>
          <p:nvPr/>
        </p:nvSpPr>
        <p:spPr>
          <a:xfrm>
            <a:off x="5779008" y="1508760"/>
            <a:ext cx="594360" cy="594360"/>
          </a:xfrm>
          <a:prstGeom prst="ellipse">
            <a:avLst/>
          </a:prstGeom>
          <a:solidFill>
            <a:srgbClr val="2855FF"/>
          </a:solidFill>
          <a:ln w="25400">
            <a:solidFill>
              <a:srgbClr val="0B0B0B"/>
            </a:solidFill>
            <a:prstDash val="solid"/>
          </a:ln>
        </p:spPr>
      </p:sp>
      <p:sp>
        <p:nvSpPr>
          <p:cNvPr id="17" name="Text 15"/>
          <p:cNvSpPr/>
          <p:nvPr/>
        </p:nvSpPr>
        <p:spPr>
          <a:xfrm>
            <a:off x="5779008" y="1664208"/>
            <a:ext cx="594360" cy="274320"/>
          </a:xfrm>
          <a:prstGeom prst="rect">
            <a:avLst/>
          </a:prstGeom>
          <a:noFill/>
          <a:ln/>
        </p:spPr>
        <p:txBody>
          <a:bodyPr wrap="square" lIns="0" tIns="0" rIns="0" bIns="0" rtlCol="0" anchor="t">
            <a:normAutofit/>
          </a:bodyPr>
          <a:lstStyle/>
          <a:p>
            <a:pPr algn="ctr" indent="0" marL="0">
              <a:lnSpc>
                <a:spcPct val="100000"/>
              </a:lnSpc>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8" name="Shape 16"/>
          <p:cNvSpPr/>
          <p:nvPr/>
        </p:nvSpPr>
        <p:spPr>
          <a:xfrm>
            <a:off x="5120640" y="2423160"/>
            <a:ext cx="1920240" cy="1371600"/>
          </a:xfrm>
          <a:prstGeom prst="rect">
            <a:avLst/>
          </a:prstGeom>
          <a:solidFill>
            <a:srgbClr val="FF5B9D"/>
          </a:solidFill>
          <a:ln w="27940">
            <a:solidFill>
              <a:srgbClr val="0B0B0B"/>
            </a:solidFill>
            <a:prstDash val="solid"/>
          </a:ln>
        </p:spPr>
      </p:sp>
      <p:sp>
        <p:nvSpPr>
          <p:cNvPr id="19" name="Text 17"/>
          <p:cNvSpPr/>
          <p:nvPr/>
        </p:nvSpPr>
        <p:spPr>
          <a:xfrm>
            <a:off x="5285232" y="2587752"/>
            <a:ext cx="1591056" cy="1042416"/>
          </a:xfrm>
          <a:prstGeom prst="rect">
            <a:avLst/>
          </a:prstGeom>
          <a:noFill/>
          <a:ln/>
        </p:spPr>
        <p:txBody>
          <a:bodyPr wrap="square" lIns="0" tIns="0" rIns="0" bIns="0" rtlCol="0" anchor="ctr">
            <a:normAutofit/>
          </a:bodyPr>
          <a:lstStyle/>
          <a:p>
            <a:pPr algn="ctr" indent="0" marL="0">
              <a:lnSpc>
                <a:spcPct val="100000"/>
              </a:lnSpc>
              <a:buNone/>
            </a:pPr>
            <a:r>
              <a:rPr lang="en-US" sz="1700" b="1" dirty="0">
                <a:solidFill>
                  <a:srgbClr val="0B0B0B"/>
                </a:solidFill>
                <a:latin typeface="Arial" pitchFamily="34" charset="0"/>
                <a:ea typeface="Arial" pitchFamily="34" charset="-122"/>
                <a:cs typeface="Arial" pitchFamily="34" charset="-120"/>
              </a:rPr>
              <a:t>≤ 0.10</a:t>
            </a:r>
            <a:endParaRPr lang="en-US" sz="1700" dirty="0"/>
          </a:p>
          <a:p>
            <a:pPr algn="ctr" indent="0" marL="0">
              <a:lnSpc>
                <a:spcPct val="100000"/>
              </a:lnSpc>
              <a:buNone/>
            </a:pPr>
            <a:r>
              <a:rPr lang="en-US" sz="1700" b="1" dirty="0">
                <a:solidFill>
                  <a:srgbClr val="0B0B0B"/>
                </a:solidFill>
                <a:latin typeface="Arial" pitchFamily="34" charset="0"/>
                <a:ea typeface="Arial" pitchFamily="34" charset="-122"/>
                <a:cs typeface="Arial" pitchFamily="34" charset="-120"/>
              </a:rPr>
              <a:t>≤ 500 ms</a:t>
            </a:r>
            <a:endParaRPr lang="en-US" sz="1700" dirty="0"/>
          </a:p>
        </p:txBody>
      </p:sp>
      <p:sp>
        <p:nvSpPr>
          <p:cNvPr id="20" name="Shape 18"/>
          <p:cNvSpPr/>
          <p:nvPr/>
        </p:nvSpPr>
        <p:spPr>
          <a:xfrm>
            <a:off x="7095744" y="3108960"/>
            <a:ext cx="292608" cy="0"/>
          </a:xfrm>
          <a:prstGeom prst="line">
            <a:avLst/>
          </a:prstGeom>
          <a:noFill/>
          <a:ln w="31750">
            <a:solidFill>
              <a:srgbClr val="0B0B0B"/>
            </a:solidFill>
            <a:prstDash val="solid"/>
            <a:tailEnd type="triangle"/>
          </a:ln>
        </p:spPr>
      </p:sp>
      <p:sp>
        <p:nvSpPr>
          <p:cNvPr id="21" name="Shape 19"/>
          <p:cNvSpPr/>
          <p:nvPr/>
        </p:nvSpPr>
        <p:spPr>
          <a:xfrm>
            <a:off x="8119872" y="1508760"/>
            <a:ext cx="594360" cy="594360"/>
          </a:xfrm>
          <a:prstGeom prst="ellipse">
            <a:avLst/>
          </a:prstGeom>
          <a:solidFill>
            <a:srgbClr val="2855FF"/>
          </a:solidFill>
          <a:ln w="25400">
            <a:solidFill>
              <a:srgbClr val="0B0B0B"/>
            </a:solidFill>
            <a:prstDash val="solid"/>
          </a:ln>
        </p:spPr>
      </p:sp>
      <p:sp>
        <p:nvSpPr>
          <p:cNvPr id="22" name="Text 20"/>
          <p:cNvSpPr/>
          <p:nvPr/>
        </p:nvSpPr>
        <p:spPr>
          <a:xfrm>
            <a:off x="8119872" y="1664208"/>
            <a:ext cx="594360" cy="274320"/>
          </a:xfrm>
          <a:prstGeom prst="rect">
            <a:avLst/>
          </a:prstGeom>
          <a:noFill/>
          <a:ln/>
        </p:spPr>
        <p:txBody>
          <a:bodyPr wrap="square" lIns="0" tIns="0" rIns="0" bIns="0" rtlCol="0" anchor="t">
            <a:normAutofit/>
          </a:bodyPr>
          <a:lstStyle/>
          <a:p>
            <a:pPr algn="ctr" indent="0" marL="0">
              <a:lnSpc>
                <a:spcPct val="100000"/>
              </a:lnSpc>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23" name="Shape 21"/>
          <p:cNvSpPr/>
          <p:nvPr/>
        </p:nvSpPr>
        <p:spPr>
          <a:xfrm>
            <a:off x="7461504" y="2423160"/>
            <a:ext cx="1920240" cy="1371600"/>
          </a:xfrm>
          <a:prstGeom prst="rect">
            <a:avLst/>
          </a:prstGeom>
          <a:solidFill>
            <a:srgbClr val="B8FF32"/>
          </a:solidFill>
          <a:ln w="27940">
            <a:solidFill>
              <a:srgbClr val="0B0B0B"/>
            </a:solidFill>
            <a:prstDash val="solid"/>
          </a:ln>
        </p:spPr>
      </p:sp>
      <p:sp>
        <p:nvSpPr>
          <p:cNvPr id="24" name="Text 22"/>
          <p:cNvSpPr/>
          <p:nvPr/>
        </p:nvSpPr>
        <p:spPr>
          <a:xfrm>
            <a:off x="7626096" y="2587752"/>
            <a:ext cx="1591056" cy="1042416"/>
          </a:xfrm>
          <a:prstGeom prst="rect">
            <a:avLst/>
          </a:prstGeom>
          <a:noFill/>
          <a:ln/>
        </p:spPr>
        <p:txBody>
          <a:bodyPr wrap="square" lIns="0" tIns="0" rIns="0" bIns="0" rtlCol="0" anchor="ctr">
            <a:normAutofit/>
          </a:bodyPr>
          <a:lstStyle/>
          <a:p>
            <a:pPr algn="ctr" indent="0" marL="0">
              <a:lnSpc>
                <a:spcPct val="100000"/>
              </a:lnSpc>
              <a:buNone/>
            </a:pPr>
            <a:r>
              <a:rPr lang="en-US" sz="1700" b="1" dirty="0">
                <a:solidFill>
                  <a:srgbClr val="0B0B0B"/>
                </a:solidFill>
                <a:latin typeface="Arial" pitchFamily="34" charset="0"/>
                <a:ea typeface="Arial" pitchFamily="34" charset="-122"/>
                <a:cs typeface="Arial" pitchFamily="34" charset="-120"/>
              </a:rPr>
              <a:t>VERIFY</a:t>
            </a:r>
            <a:endParaRPr lang="en-US" sz="1700" dirty="0"/>
          </a:p>
          <a:p>
            <a:pPr algn="ctr" indent="0" marL="0">
              <a:lnSpc>
                <a:spcPct val="100000"/>
              </a:lnSpc>
              <a:buNone/>
            </a:pPr>
            <a:r>
              <a:rPr lang="en-US" sz="1700" b="1" dirty="0">
                <a:solidFill>
                  <a:srgbClr val="0B0B0B"/>
                </a:solidFill>
                <a:latin typeface="Arial" pitchFamily="34" charset="0"/>
                <a:ea typeface="Arial" pitchFamily="34" charset="-122"/>
                <a:cs typeface="Arial" pitchFamily="34" charset="-120"/>
              </a:rPr>
              <a:t>STOP</a:t>
            </a:r>
            <a:endParaRPr lang="en-US" sz="1700" dirty="0"/>
          </a:p>
        </p:txBody>
      </p:sp>
      <p:sp>
        <p:nvSpPr>
          <p:cNvPr id="25" name="Shape 23"/>
          <p:cNvSpPr/>
          <p:nvPr/>
        </p:nvSpPr>
        <p:spPr>
          <a:xfrm>
            <a:off x="9436608" y="3108960"/>
            <a:ext cx="292608" cy="0"/>
          </a:xfrm>
          <a:prstGeom prst="line">
            <a:avLst/>
          </a:prstGeom>
          <a:noFill/>
          <a:ln w="31750">
            <a:solidFill>
              <a:srgbClr val="0B0B0B"/>
            </a:solidFill>
            <a:prstDash val="solid"/>
            <a:tailEnd type="triangle"/>
          </a:ln>
        </p:spPr>
      </p:sp>
      <p:sp>
        <p:nvSpPr>
          <p:cNvPr id="26" name="Shape 24"/>
          <p:cNvSpPr/>
          <p:nvPr/>
        </p:nvSpPr>
        <p:spPr>
          <a:xfrm>
            <a:off x="10460736" y="1508760"/>
            <a:ext cx="594360" cy="594360"/>
          </a:xfrm>
          <a:prstGeom prst="ellipse">
            <a:avLst/>
          </a:prstGeom>
          <a:solidFill>
            <a:srgbClr val="B8FF32"/>
          </a:solidFill>
          <a:ln w="25400">
            <a:solidFill>
              <a:srgbClr val="0B0B0B"/>
            </a:solidFill>
            <a:prstDash val="solid"/>
          </a:ln>
        </p:spPr>
      </p:sp>
      <p:sp>
        <p:nvSpPr>
          <p:cNvPr id="27" name="Text 25"/>
          <p:cNvSpPr/>
          <p:nvPr/>
        </p:nvSpPr>
        <p:spPr>
          <a:xfrm>
            <a:off x="10460736" y="1664208"/>
            <a:ext cx="594360" cy="274320"/>
          </a:xfrm>
          <a:prstGeom prst="rect">
            <a:avLst/>
          </a:prstGeom>
          <a:noFill/>
          <a:ln/>
        </p:spPr>
        <p:txBody>
          <a:bodyPr wrap="square" lIns="0" tIns="0" rIns="0" bIns="0" rtlCol="0" anchor="t">
            <a:normAutofit/>
          </a:bodyPr>
          <a:lstStyle/>
          <a:p>
            <a:pPr algn="ctr" indent="0" marL="0">
              <a:lnSpc>
                <a:spcPct val="100000"/>
              </a:lnSpc>
              <a:buNone/>
            </a:pPr>
            <a:r>
              <a:rPr lang="en-US" sz="1700" b="1" dirty="0">
                <a:solidFill>
                  <a:srgbClr val="0B0B0B"/>
                </a:solidFill>
                <a:latin typeface="Arial" pitchFamily="34" charset="0"/>
                <a:ea typeface="Arial" pitchFamily="34" charset="-122"/>
                <a:cs typeface="Arial" pitchFamily="34" charset="-120"/>
              </a:rPr>
              <a:t>5</a:t>
            </a:r>
            <a:endParaRPr lang="en-US" sz="1700" dirty="0"/>
          </a:p>
        </p:txBody>
      </p:sp>
      <p:sp>
        <p:nvSpPr>
          <p:cNvPr id="28" name="Shape 26"/>
          <p:cNvSpPr/>
          <p:nvPr/>
        </p:nvSpPr>
        <p:spPr>
          <a:xfrm>
            <a:off x="9802368" y="2423160"/>
            <a:ext cx="1920240" cy="1371600"/>
          </a:xfrm>
          <a:prstGeom prst="rect">
            <a:avLst/>
          </a:prstGeom>
          <a:solidFill>
            <a:srgbClr val="2855FF"/>
          </a:solidFill>
          <a:ln w="27940">
            <a:solidFill>
              <a:srgbClr val="0B0B0B"/>
            </a:solidFill>
            <a:prstDash val="solid"/>
          </a:ln>
        </p:spPr>
      </p:sp>
      <p:sp>
        <p:nvSpPr>
          <p:cNvPr id="29" name="Text 27"/>
          <p:cNvSpPr/>
          <p:nvPr/>
        </p:nvSpPr>
        <p:spPr>
          <a:xfrm>
            <a:off x="9966960" y="2587752"/>
            <a:ext cx="1591056" cy="1042416"/>
          </a:xfrm>
          <a:prstGeom prst="rect">
            <a:avLst/>
          </a:prstGeom>
          <a:noFill/>
          <a:ln/>
        </p:spPr>
        <p:txBody>
          <a:bodyPr wrap="square" lIns="0" tIns="0" rIns="0" bIns="0" rtlCol="0" anchor="ctr">
            <a:normAutofit/>
          </a:bodyPr>
          <a:lstStyle/>
          <a:p>
            <a:pPr algn="ctr" indent="0" marL="0">
              <a:lnSpc>
                <a:spcPct val="100000"/>
              </a:lnSpc>
              <a:buNone/>
            </a:pPr>
            <a:r>
              <a:rPr lang="en-US" sz="1700" b="1" dirty="0">
                <a:solidFill>
                  <a:srgbClr val="FFFFFF"/>
                </a:solidFill>
                <a:latin typeface="Arial" pitchFamily="34" charset="0"/>
                <a:ea typeface="Arial" pitchFamily="34" charset="-122"/>
                <a:cs typeface="Arial" pitchFamily="34" charset="-120"/>
              </a:rPr>
              <a:t>SHOW</a:t>
            </a:r>
            <a:endParaRPr lang="en-US" sz="1700" dirty="0"/>
          </a:p>
          <a:p>
            <a:pPr algn="ctr" indent="0" marL="0">
              <a:lnSpc>
                <a:spcPct val="100000"/>
              </a:lnSpc>
              <a:buNone/>
            </a:pPr>
            <a:r>
              <a:rPr lang="en-US" sz="1700" b="1" dirty="0">
                <a:solidFill>
                  <a:srgbClr val="FFFFFF"/>
                </a:solidFill>
                <a:latin typeface="Arial" pitchFamily="34" charset="0"/>
                <a:ea typeface="Arial" pitchFamily="34" charset="-122"/>
                <a:cs typeface="Arial" pitchFamily="34" charset="-120"/>
              </a:rPr>
              <a:t>EVIDENCE</a:t>
            </a:r>
            <a:endParaRPr lang="en-US" sz="1700" dirty="0"/>
          </a:p>
        </p:txBody>
      </p:sp>
      <p:sp>
        <p:nvSpPr>
          <p:cNvPr id="30" name="Shape 28"/>
          <p:cNvSpPr/>
          <p:nvPr/>
        </p:nvSpPr>
        <p:spPr>
          <a:xfrm>
            <a:off x="621792" y="4434840"/>
            <a:ext cx="10972800" cy="0"/>
          </a:xfrm>
          <a:prstGeom prst="line">
            <a:avLst/>
          </a:prstGeom>
          <a:noFill/>
          <a:ln w="31750">
            <a:solidFill>
              <a:srgbClr val="0B0B0B"/>
            </a:solidFill>
            <a:prstDash val="solid"/>
          </a:ln>
        </p:spPr>
      </p:sp>
      <p:sp>
        <p:nvSpPr>
          <p:cNvPr id="31" name="Text 29"/>
          <p:cNvSpPr/>
          <p:nvPr/>
        </p:nvSpPr>
        <p:spPr>
          <a:xfrm>
            <a:off x="685800" y="4800600"/>
            <a:ext cx="5120640" cy="384048"/>
          </a:xfrm>
          <a:prstGeom prst="rect">
            <a:avLst/>
          </a:prstGeom>
          <a:noFill/>
          <a:ln/>
        </p:spPr>
        <p:txBody>
          <a:bodyPr wrap="square" lIns="0" tIns="0" rIns="0" bIns="0" rtlCol="0" anchor="t">
            <a:normAutofit/>
          </a:bodyPr>
          <a:lstStyle/>
          <a:p>
            <a:pPr algn="l" indent="0" marL="0">
              <a:lnSpc>
                <a:spcPct val="100000"/>
              </a:lnSpc>
              <a:buNone/>
            </a:pPr>
            <a:r>
              <a:rPr lang="en-US" sz="2000" b="1" dirty="0">
                <a:solidFill>
                  <a:srgbClr val="EF3340"/>
                </a:solidFill>
                <a:latin typeface="Arial" pitchFamily="34" charset="0"/>
                <a:ea typeface="Arial" pitchFamily="34" charset="-122"/>
                <a:cs typeface="Arial" pitchFamily="34" charset="-120"/>
              </a:rPr>
              <a:t>ANY RED GATE → RECORDED FALLBACK</a:t>
            </a:r>
            <a:endParaRPr lang="en-US" sz="2000" dirty="0"/>
          </a:p>
        </p:txBody>
      </p:sp>
      <p:sp>
        <p:nvSpPr>
          <p:cNvPr id="32" name="Text 30"/>
          <p:cNvSpPr/>
          <p:nvPr/>
        </p:nvSpPr>
        <p:spPr>
          <a:xfrm>
            <a:off x="6035040" y="4800600"/>
            <a:ext cx="5212080" cy="384048"/>
          </a:xfrm>
          <a:prstGeom prst="rect">
            <a:avLst/>
          </a:prstGeom>
          <a:noFill/>
          <a:ln/>
        </p:spPr>
        <p:txBody>
          <a:bodyPr wrap="square" lIns="0" tIns="0" rIns="0" bIns="0" rtlCol="0" anchor="t">
            <a:normAutofit/>
          </a:bodyPr>
          <a:lstStyle/>
          <a:p>
            <a:pPr algn="r" indent="0" marL="0">
              <a:lnSpc>
                <a:spcPct val="100000"/>
              </a:lnSpc>
              <a:buNone/>
            </a:pPr>
            <a:r>
              <a:rPr lang="en-US" sz="2000" b="1" dirty="0">
                <a:solidFill>
                  <a:srgbClr val="0B0B0B"/>
                </a:solidFill>
                <a:latin typeface="Arial" pitchFamily="34" charset="0"/>
                <a:ea typeface="Arial" pitchFamily="34" charset="-122"/>
                <a:cs typeface="Arial" pitchFamily="34" charset="-120"/>
              </a:rPr>
              <a:t>No improvising around the boundary.</a:t>
            </a:r>
            <a:endParaRPr lang="en-US" sz="2000" dirty="0"/>
          </a:p>
        </p:txBody>
      </p:sp>
      <p:sp>
        <p:nvSpPr>
          <p:cNvPr id="33" name="Shape 31"/>
          <p:cNvSpPr/>
          <p:nvPr/>
        </p:nvSpPr>
        <p:spPr>
          <a:xfrm>
            <a:off x="4544568" y="5650992"/>
            <a:ext cx="2971800" cy="384048"/>
          </a:xfrm>
          <a:prstGeom prst="roundRect">
            <a:avLst>
              <a:gd name="adj" fmla="val 19048"/>
            </a:avLst>
          </a:prstGeom>
          <a:solidFill>
            <a:srgbClr val="0B0B0B"/>
          </a:solidFill>
          <a:ln w="19050">
            <a:solidFill>
              <a:srgbClr val="0B0B0B"/>
            </a:solidFill>
            <a:prstDash val="solid"/>
          </a:ln>
        </p:spPr>
      </p:sp>
      <p:sp>
        <p:nvSpPr>
          <p:cNvPr id="34" name="Text 32"/>
          <p:cNvSpPr/>
          <p:nvPr/>
        </p:nvSpPr>
        <p:spPr>
          <a:xfrm>
            <a:off x="4654296" y="5724144"/>
            <a:ext cx="2752344" cy="219456"/>
          </a:xfrm>
          <a:prstGeom prst="rect">
            <a:avLst/>
          </a:prstGeom>
          <a:noFill/>
          <a:ln/>
        </p:spPr>
        <p:txBody>
          <a:bodyPr wrap="square" lIns="0" tIns="0" rIns="0" bIns="0" rtlCol="0" anchor="ctr">
            <a:normAutofit/>
          </a:bodyPr>
          <a:lstStyle/>
          <a:p>
            <a:pPr algn="ctr" indent="0" marL="0">
              <a:lnSpc>
                <a:spcPct val="100000"/>
              </a:lnSpc>
              <a:buNone/>
            </a:pPr>
            <a:r>
              <a:rPr lang="en-US" sz="1100" b="1" dirty="0">
                <a:solidFill>
                  <a:srgbClr val="FFFFFF"/>
                </a:solidFill>
                <a:latin typeface="Arial" pitchFamily="34" charset="0"/>
                <a:ea typeface="Arial" pitchFamily="34" charset="-122"/>
                <a:cs typeface="Arial" pitchFamily="34" charset="-120"/>
              </a:rPr>
              <a:t>NO AUTONOMY CLAIM</a:t>
            </a:r>
            <a:endParaRPr lang="en-US" sz="1100" dirty="0"/>
          </a:p>
        </p:txBody>
      </p:sp>
      <p:sp>
        <p:nvSpPr>
          <p:cNvPr id="35" name="Text 33"/>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github.com/specdog/leash</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855FF"/>
        </a:solidFill>
      </p:bgPr>
    </p:bg>
    <p:spTree>
      <p:nvGrpSpPr>
        <p:cNvPr id="1" name=""/>
        <p:cNvGrpSpPr/>
        <p:nvPr/>
      </p:nvGrpSpPr>
      <p:grpSpPr>
        <a:xfrm>
          <a:off x="0" y="0"/>
          <a:ext cx="0" cy="0"/>
          <a:chOff x="0" y="0"/>
          <a:chExt cx="0" cy="0"/>
        </a:xfrm>
      </p:grpSpPr>
      <p:sp>
        <p:nvSpPr>
          <p:cNvPr id="2" name="Shape 0"/>
          <p:cNvSpPr/>
          <p:nvPr/>
        </p:nvSpPr>
        <p:spPr>
          <a:xfrm>
            <a:off x="274320" y="256032"/>
            <a:ext cx="11640312" cy="0"/>
          </a:xfrm>
          <a:prstGeom prst="line">
            <a:avLst/>
          </a:prstGeom>
          <a:noFill/>
          <a:ln w="15875">
            <a:solidFill>
              <a:srgbClr val="0B0B0B"/>
            </a:solidFill>
            <a:prstDash val="solid"/>
          </a:ln>
        </p:spPr>
      </p:sp>
      <p:sp>
        <p:nvSpPr>
          <p:cNvPr id="3" name="Text 1"/>
          <p:cNvSpPr/>
          <p:nvPr/>
        </p:nvSpPr>
        <p:spPr>
          <a:xfrm>
            <a:off x="384048" y="91440"/>
            <a:ext cx="2926080" cy="219456"/>
          </a:xfrm>
          <a:prstGeom prst="rect">
            <a:avLst/>
          </a:prstGeom>
          <a:noFill/>
          <a:ln/>
        </p:spPr>
        <p:txBody>
          <a:bodyPr wrap="square" lIns="0" tIns="0" rIns="0" bIns="0" rtlCol="0" anchor="ctr"/>
          <a:lstStyle/>
          <a:p>
            <a:pPr indent="0" marL="0">
              <a:buNone/>
            </a:pPr>
            <a:r>
              <a:rPr lang="en-US" sz="950" b="1" spc="140" kern="0" dirty="0">
                <a:solidFill>
                  <a:srgbClr val="0B0B0B"/>
                </a:solidFill>
                <a:latin typeface="Arial Black" pitchFamily="34" charset="0"/>
                <a:ea typeface="Arial Black" pitchFamily="34" charset="-122"/>
                <a:cs typeface="Arial Black" pitchFamily="34" charset="-120"/>
              </a:rPr>
              <a:t>TAKE IT WITH YOU</a:t>
            </a:r>
            <a:endParaRPr lang="en-US" sz="950" dirty="0"/>
          </a:p>
        </p:txBody>
      </p:sp>
      <p:sp>
        <p:nvSpPr>
          <p:cNvPr id="4" name="Text 2"/>
          <p:cNvSpPr/>
          <p:nvPr/>
        </p:nvSpPr>
        <p:spPr>
          <a:xfrm>
            <a:off x="11356848" y="91440"/>
            <a:ext cx="411480" cy="219456"/>
          </a:xfrm>
          <a:prstGeom prst="rect">
            <a:avLst/>
          </a:prstGeom>
          <a:noFill/>
          <a:ln/>
        </p:spPr>
        <p:txBody>
          <a:bodyPr wrap="square" lIns="0" tIns="0" rIns="0" bIns="0" rtlCol="0" anchor="ctr"/>
          <a:lstStyle/>
          <a:p>
            <a:pPr algn="r" indent="0" marL="0">
              <a:buNone/>
            </a:pPr>
            <a:r>
              <a:rPr lang="en-US" sz="950" b="1" dirty="0">
                <a:solidFill>
                  <a:srgbClr val="0B0B0B"/>
                </a:solidFill>
                <a:latin typeface="Courier New" pitchFamily="34" charset="0"/>
                <a:ea typeface="Courier New" pitchFamily="34" charset="-122"/>
                <a:cs typeface="Courier New" pitchFamily="34" charset="-120"/>
              </a:rPr>
              <a:t>29</a:t>
            </a:r>
            <a:endParaRPr lang="en-US" sz="950" dirty="0"/>
          </a:p>
        </p:txBody>
      </p:sp>
      <p:sp>
        <p:nvSpPr>
          <p:cNvPr id="5" name="Text 3"/>
          <p:cNvSpPr/>
          <p:nvPr/>
        </p:nvSpPr>
        <p:spPr>
          <a:xfrm>
            <a:off x="640080" y="868680"/>
            <a:ext cx="5760720" cy="1417320"/>
          </a:xfrm>
          <a:prstGeom prst="rect">
            <a:avLst/>
          </a:prstGeom>
          <a:noFill/>
          <a:ln/>
        </p:spPr>
        <p:txBody>
          <a:bodyPr wrap="square" lIns="0" tIns="0" rIns="0" bIns="0" rtlCol="0" anchor="t">
            <a:normAutofit/>
          </a:bodyPr>
          <a:lstStyle/>
          <a:p>
            <a:pPr algn="l" indent="0" marL="0">
              <a:lnSpc>
                <a:spcPct val="100000"/>
              </a:lnSpc>
              <a:buNone/>
            </a:pPr>
            <a:r>
              <a:rPr lang="en-US" sz="3800" b="1" dirty="0">
                <a:solidFill>
                  <a:srgbClr val="FFFFFF"/>
                </a:solidFill>
                <a:latin typeface="Arial" pitchFamily="34" charset="0"/>
                <a:ea typeface="Arial" pitchFamily="34" charset="-122"/>
                <a:cs typeface="Arial" pitchFamily="34" charset="-120"/>
              </a:rPr>
              <a:t>THE PLANNER</a:t>
            </a:r>
            <a:endParaRPr lang="en-US" sz="3800" dirty="0"/>
          </a:p>
          <a:p>
            <a:pPr algn="l" indent="0" marL="0">
              <a:lnSpc>
                <a:spcPct val="100000"/>
              </a:lnSpc>
              <a:buNone/>
            </a:pPr>
            <a:r>
              <a:rPr lang="en-US" sz="3800" b="1" dirty="0">
                <a:solidFill>
                  <a:srgbClr val="FFFFFF"/>
                </a:solidFill>
                <a:latin typeface="Arial" pitchFamily="34" charset="0"/>
                <a:ea typeface="Arial" pitchFamily="34" charset="-122"/>
                <a:cs typeface="Arial" pitchFamily="34" charset="-120"/>
              </a:rPr>
              <a:t>PROPOSES.</a:t>
            </a:r>
            <a:endParaRPr lang="en-US" sz="3800" dirty="0"/>
          </a:p>
        </p:txBody>
      </p:sp>
      <p:sp>
        <p:nvSpPr>
          <p:cNvPr id="6" name="Text 4"/>
          <p:cNvSpPr/>
          <p:nvPr/>
        </p:nvSpPr>
        <p:spPr>
          <a:xfrm>
            <a:off x="640080" y="2514600"/>
            <a:ext cx="5760720" cy="1417320"/>
          </a:xfrm>
          <a:prstGeom prst="rect">
            <a:avLst/>
          </a:prstGeom>
          <a:noFill/>
          <a:ln/>
        </p:spPr>
        <p:txBody>
          <a:bodyPr wrap="square" lIns="0" tIns="0" rIns="0" bIns="0" rtlCol="0" anchor="t">
            <a:normAutofit/>
          </a:bodyPr>
          <a:lstStyle/>
          <a:p>
            <a:pPr algn="l" indent="0" marL="0">
              <a:lnSpc>
                <a:spcPct val="100000"/>
              </a:lnSpc>
              <a:buNone/>
            </a:pPr>
            <a:r>
              <a:rPr lang="en-US" sz="3800" b="1" dirty="0">
                <a:solidFill>
                  <a:srgbClr val="B8FF32"/>
                </a:solidFill>
                <a:latin typeface="Arial" pitchFamily="34" charset="0"/>
                <a:ea typeface="Arial" pitchFamily="34" charset="-122"/>
                <a:cs typeface="Arial" pitchFamily="34" charset="-120"/>
              </a:rPr>
              <a:t>THE BOUNDARY</a:t>
            </a:r>
            <a:endParaRPr lang="en-US" sz="3800" dirty="0"/>
          </a:p>
          <a:p>
            <a:pPr algn="l" indent="0" marL="0">
              <a:lnSpc>
                <a:spcPct val="100000"/>
              </a:lnSpc>
              <a:buNone/>
            </a:pPr>
            <a:r>
              <a:rPr lang="en-US" sz="3800" b="1" dirty="0">
                <a:solidFill>
                  <a:srgbClr val="B8FF32"/>
                </a:solidFill>
                <a:latin typeface="Arial" pitchFamily="34" charset="0"/>
                <a:ea typeface="Arial" pitchFamily="34" charset="-122"/>
                <a:cs typeface="Arial" pitchFamily="34" charset="-120"/>
              </a:rPr>
              <a:t>DECIDES.</a:t>
            </a:r>
            <a:endParaRPr lang="en-US" sz="3800" dirty="0"/>
          </a:p>
        </p:txBody>
      </p:sp>
      <p:sp>
        <p:nvSpPr>
          <p:cNvPr id="7" name="Text 5"/>
          <p:cNvSpPr/>
          <p:nvPr/>
        </p:nvSpPr>
        <p:spPr>
          <a:xfrm>
            <a:off x="685800" y="4754880"/>
            <a:ext cx="4114800" cy="566928"/>
          </a:xfrm>
          <a:prstGeom prst="rect">
            <a:avLst/>
          </a:prstGeom>
          <a:noFill/>
          <a:ln/>
        </p:spPr>
        <p:txBody>
          <a:bodyPr wrap="square" lIns="0" tIns="0" rIns="0" bIns="0" rtlCol="0" anchor="t">
            <a:normAutofit/>
          </a:bodyPr>
          <a:lstStyle/>
          <a:p>
            <a:pPr algn="l" indent="0" marL="0">
              <a:lnSpc>
                <a:spcPct val="100000"/>
              </a:lnSpc>
              <a:buNone/>
            </a:pPr>
            <a:r>
              <a:rPr lang="en-US" sz="3100" b="1" dirty="0">
                <a:solidFill>
                  <a:srgbClr val="FFFFFF"/>
                </a:solidFill>
                <a:latin typeface="Arial" pitchFamily="34" charset="0"/>
                <a:ea typeface="Arial" pitchFamily="34" charset="-122"/>
                <a:cs typeface="Arial" pitchFamily="34" charset="-120"/>
              </a:rPr>
              <a:t>Questions?</a:t>
            </a:r>
            <a:endParaRPr lang="en-US" sz="3100" dirty="0"/>
          </a:p>
        </p:txBody>
      </p:sp>
      <p:sp>
        <p:nvSpPr>
          <p:cNvPr id="8" name="Text 6"/>
          <p:cNvSpPr/>
          <p:nvPr/>
        </p:nvSpPr>
        <p:spPr>
          <a:xfrm>
            <a:off x="713232" y="5486400"/>
            <a:ext cx="4663440" cy="320040"/>
          </a:xfrm>
          <a:prstGeom prst="rect">
            <a:avLst/>
          </a:prstGeom>
          <a:noFill/>
          <a:ln/>
        </p:spPr>
        <p:txBody>
          <a:bodyPr wrap="square" lIns="0" tIns="0" rIns="0" bIns="0" rtlCol="0" anchor="t">
            <a:normAutofit/>
          </a:bodyPr>
          <a:lstStyle/>
          <a:p>
            <a:pPr algn="l" indent="0" marL="0">
              <a:lnSpc>
                <a:spcPct val="100000"/>
              </a:lnSpc>
              <a:buNone/>
            </a:pPr>
            <a:r>
              <a:rPr lang="en-US" sz="1600" b="1" dirty="0">
                <a:solidFill>
                  <a:srgbClr val="FFFFFF"/>
                </a:solidFill>
                <a:latin typeface="Arial" pitchFamily="34" charset="0"/>
                <a:ea typeface="Arial" pitchFamily="34" charset="-122"/>
                <a:cs typeface="Arial" pitchFamily="34" charset="-120"/>
              </a:rPr>
              <a:t>github.com/specdog/leash</a:t>
            </a:r>
            <a:endParaRPr lang="en-US" sz="1600" dirty="0"/>
          </a:p>
        </p:txBody>
      </p:sp>
      <p:sp>
        <p:nvSpPr>
          <p:cNvPr id="9" name="Shape 7"/>
          <p:cNvSpPr/>
          <p:nvPr/>
        </p:nvSpPr>
        <p:spPr>
          <a:xfrm>
            <a:off x="7589520" y="841248"/>
            <a:ext cx="3840480" cy="3840480"/>
          </a:xfrm>
          <a:prstGeom prst="rect">
            <a:avLst/>
          </a:prstGeom>
          <a:solidFill>
            <a:srgbClr val="FFFFFF"/>
          </a:solidFill>
          <a:ln w="38100">
            <a:solidFill>
              <a:srgbClr val="0B0B0B"/>
            </a:solidFill>
            <a:prstDash val="solid"/>
          </a:ln>
        </p:spPr>
      </p:sp>
      <p:pic>
        <p:nvPicPr>
          <p:cNvPr id="10" name="Image 0" descr="/Users/ericmanganaro/leash-worktrees/geek-on-a-leash-talk/talks/geek-on-a-leash/output/geek-on-a-leash-qr.png">    </p:cNvPr>
          <p:cNvPicPr>
            <a:picLocks noChangeAspect="1"/>
          </p:cNvPicPr>
          <p:nvPr/>
        </p:nvPicPr>
        <p:blipFill>
          <a:blip r:embed="rId1"/>
          <a:stretch>
            <a:fillRect/>
          </a:stretch>
        </p:blipFill>
        <p:spPr>
          <a:xfrm>
            <a:off x="7790688" y="1042416"/>
            <a:ext cx="3438144" cy="3438144"/>
          </a:xfrm>
          <a:prstGeom prst="rect">
            <a:avLst/>
          </a:prstGeom>
        </p:spPr>
      </p:pic>
      <p:sp>
        <p:nvSpPr>
          <p:cNvPr id="11" name="Shape 8"/>
          <p:cNvSpPr/>
          <p:nvPr/>
        </p:nvSpPr>
        <p:spPr>
          <a:xfrm>
            <a:off x="7818120" y="4983480"/>
            <a:ext cx="3383280" cy="384048"/>
          </a:xfrm>
          <a:prstGeom prst="roundRect">
            <a:avLst>
              <a:gd name="adj" fmla="val 19048"/>
            </a:avLst>
          </a:prstGeom>
          <a:solidFill>
            <a:srgbClr val="FFD63D"/>
          </a:solidFill>
          <a:ln w="19050">
            <a:solidFill>
              <a:srgbClr val="0B0B0B"/>
            </a:solidFill>
            <a:prstDash val="solid"/>
          </a:ln>
        </p:spPr>
      </p:sp>
      <p:sp>
        <p:nvSpPr>
          <p:cNvPr id="12" name="Text 9"/>
          <p:cNvSpPr/>
          <p:nvPr/>
        </p:nvSpPr>
        <p:spPr>
          <a:xfrm>
            <a:off x="7927848" y="5056632"/>
            <a:ext cx="3163824" cy="219456"/>
          </a:xfrm>
          <a:prstGeom prst="rect">
            <a:avLst/>
          </a:prstGeom>
          <a:noFill/>
          <a:ln/>
        </p:spPr>
        <p:txBody>
          <a:bodyPr wrap="square" lIns="0" tIns="0" rIns="0" bIns="0" rtlCol="0" anchor="ctr">
            <a:normAutofit/>
          </a:bodyPr>
          <a:lstStyle/>
          <a:p>
            <a:pPr algn="ctr" indent="0" marL="0">
              <a:lnSpc>
                <a:spcPct val="100000"/>
              </a:lnSpc>
              <a:buNone/>
            </a:pPr>
            <a:r>
              <a:rPr lang="en-US" sz="1050" b="1" dirty="0">
                <a:solidFill>
                  <a:srgbClr val="0B0B0B"/>
                </a:solidFill>
                <a:latin typeface="Arial" pitchFamily="34" charset="0"/>
                <a:ea typeface="Arial" pitchFamily="34" charset="-122"/>
                <a:cs typeface="Arial" pitchFamily="34" charset="-120"/>
              </a:rPr>
              <a:t>DECK + NOTES + EVIDENCE</a:t>
            </a:r>
            <a:endParaRPr lang="en-US" sz="1050" dirty="0"/>
          </a:p>
        </p:txBody>
      </p:sp>
      <p:sp>
        <p:nvSpPr>
          <p:cNvPr id="13" name="Text 10"/>
          <p:cNvSpPr/>
          <p:nvPr/>
        </p:nvSpPr>
        <p:spPr>
          <a:xfrm>
            <a:off x="7726680" y="5559552"/>
            <a:ext cx="3566160" cy="310896"/>
          </a:xfrm>
          <a:prstGeom prst="rect">
            <a:avLst/>
          </a:prstGeom>
          <a:noFill/>
          <a:ln/>
        </p:spPr>
        <p:txBody>
          <a:bodyPr wrap="square" lIns="0" tIns="0" rIns="0" bIns="0" rtlCol="0" anchor="t">
            <a:normAutofit/>
          </a:bodyPr>
          <a:lstStyle/>
          <a:p>
            <a:pPr algn="ctr" indent="0" marL="0">
              <a:lnSpc>
                <a:spcPct val="100000"/>
              </a:lnSpc>
              <a:buNone/>
            </a:pPr>
            <a:r>
              <a:rPr lang="en-US" sz="1050" b="1" dirty="0">
                <a:solidFill>
                  <a:srgbClr val="FFFFFF"/>
                </a:solidFill>
                <a:latin typeface="Arial" pitchFamily="34" charset="0"/>
                <a:ea typeface="Arial" pitchFamily="34" charset="-122"/>
                <a:cs typeface="Arial" pitchFamily="34" charset="-120"/>
              </a:rPr>
              <a:t>Direct PDF QR • valid through Sep 8, 2026 12:59 PM ET</a:t>
            </a:r>
            <a:endParaRPr lang="en-US" sz="1050" dirty="0"/>
          </a:p>
        </p:txBody>
      </p:sp>
      <p:sp>
        <p:nvSpPr>
          <p:cNvPr id="14" name="Text 11"/>
          <p:cNvSpPr/>
          <p:nvPr/>
        </p:nvSpPr>
        <p:spPr>
          <a:xfrm>
            <a:off x="502920" y="6519672"/>
            <a:ext cx="4754880" cy="164592"/>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https://github.com/specdog/leash</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Blac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specdog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Geek on a Leash — Rust at the Boundary Between Intent and Motion</dc:title>
  <dc:subject>Leash architecture, Rust safety boundaries, and a live UGV demonstration</dc:subject>
  <dc:creator>Eric Manganaro</dc:creator>
  <cp:lastModifiedBy>Eric Manganaro</cp:lastModifiedBy>
  <cp:revision>1</cp:revision>
  <dcterms:created xsi:type="dcterms:W3CDTF">2026-09-01T17:03:36Z</dcterms:created>
  <dcterms:modified xsi:type="dcterms:W3CDTF">2026-09-01T17:03:36Z</dcterms:modified>
</cp:coreProperties>
</file>