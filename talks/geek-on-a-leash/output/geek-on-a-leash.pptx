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Rust Tuesdays version: substantially more source code, fewer broad architecture slides, and a line-by-line tour of the language mechanisms that make Leash safe enough to sit near motors.
[Sources]
- https://github.com/specdog/leash
- https://www.waveshare.com/product/ai/robots/ugv-rover-pt-jetson-orin-ai-kit.htm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authority, not intelligence. Several producers may propose motion, but only one narrow boundary may authorize it. Rust lets us represent that authority in types rather than conventions.
[Sources]
- https://github.com/specdog/leash/blob/566bc569b24bf5f392291b142469282fcdfac2b3/README.md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define the boundary. The rest of this talk asks how Rust preserves that order across generics, traits, threads, drivers, serialization, ROS2, and CUDA.
[Sources]
- https://github.com/specdog/leash/blob/566bc569b24bf5f392291b142469282fcdfac2b3/README.md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Pinkie is the concrete forcing function: Jetson compute, motor controller, LiDAR, camera, and an actual chassis. Every language decision we discuss has a physical consequence at this boundary.
[Sources]
- https://www.waveshare.com/product/ai/robots/ugv-rover-pt-jetson-orin-ai-kit.htm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workspace structure is not packaging trivia. Core defines the legal vocabulary. Runtime owns authority. Adapters and accelerators depend inward, so they cannot redefine the rules without creating a visible dependency violation.
[Sources]
- https://github.com/specdog/leash/blob/566bc569b24bf5f392291b142469282fcdfac2b3/Cargo.toml
- https://github.com/specdog/leash/blob/566bc569b24bf5f392291b142469282fcdfac2b3/crates/leash-core/Cargo.toml
- https://github.com/specdog/leash/blob/566bc569b24bf5f392291b142469282fcdfac2b3/crates/leash-runtime/Cargo.toml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 is not valuable here because it is fashionable or merely fast. It is valuable because validation, ownership, and lifecycle rules can be made structural and checked before the robot is powered.
[Sources]
- https://github.com/specdog/leash/blob/566bc569b24bf5f392291b142469282fcdfac2b3/crates/leash-core/src/drive.rs
- https://github.com/specdog/leash/blob/566bc569b24bf5f392291b142469282fcdfac2b3/crates/leash-runtime/src/supervisor.rs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unsafe policy. Runtime and hardware adapters forbid it. CUDA denies it at the crate root, then opens one explicitly named module. That makes the unsafe surface searchable and reviewable.
[Sources]
- https://github.com/specdog/leash/blob/566bc569b24bf5f392291b142469282fcdfac2b3/crates/leash-runtime/src/lib.rs
- https://github.com/specdog/leash/blob/566bc569b24bf5f392291b142469282fcdfac2b3/crates/leash-waveshare/src/lib.rs
- https://github.com/specdog/leash/blob/566bc569b24bf5f392291b142469282fcdfac2b3/crates/leash-cuda/src/lib.rs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newtype is the first important move. NormalizedDrive is as cheap as f64 at runtime, but its private tuple field means external code must call the validating constructor. After construction, the rest of the system can treat range and finiteness as already proven.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Derives encode semantics. Copy says this value has no unique resource identity. Debug makes evidence legible. PartialEq makes transition tests precise. The module may construct STOP directly because it owns the private invariant.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use of macro_rules: generate repetitive, inspectable domain types while preserving nominal type separation. The macro removes boilerplate without erasing the unit distinction.
[Sources]
- https://github.com/specdog/leash/blob/566bc569b24bf5f392291b142469282fcdfac2b3/crates/leash-core/src/units.rs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uses a standard-library niche type rather than a comment saying zero is reserved. new converts Option from NonZeroU64 into a domain Result. next composes checked arithmetic with and_then so zero and overflow stay explicit.
[Sources]
- https://github.com/specdog/leash/blob/566bc569b24bf5f392291b142469282fcdfac2b3/crates/leash-core/src/time.rs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u64 timestamp is easy to misuse. The newtype names the clock domain, and every operation is checked. A caller must handle overflow or reversed time explicitly instead of receiving a wrapped value.
[Sources]
- https://github.com/specdog/leash/blob/566bc569b24bf5f392291b142469282fcdfac2b3/crates/leash-core/src/time.rs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small generic method shows ownership doing useful work. Consuming self allows the envelope fields to move directly. FnOnce is the least restrictive correct callback bound because the transform is invoked exactly once.
[Sources]
- https://github.com/specdog/leash/blob/566bc569b24bf5f392291b142469282fcdfac2b3/crates/leash-core/src/time.rs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is generic over the command payload, but identity and timing are shared. The constructor remains a plain data constructor: possession of Candidate never implies permission to actuate.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Authorized is a typestate boundary. The runtime can require this type at the motor port. Adapters can inspect it, but only the defining module can create it. That changes authorization from a boolean convention into possession of an unforgeable value.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function signature first. It consumes Candidate&lt;C&gt; and either returns Authorized&lt;C&gt; or a typed denial. The body is an audit trail: safety state, temporal direction, deadline, evidence sequence, then construction of the capability.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Compile-fail doctests protect absence: raw floats must not enter the drive command, and downstream code must not forge authorization. Runtime tests cannot prove those APIs are impossible; compiler tests can.
[Sources]
- https://github.com/specdog/leash/blob/566bc569b24bf5f392291b142469282fcdfac2b3/crates/leash-core/src/drive.rs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Odom, Base, and Sensor are uninhabited marker types. PhantomData tells the compiler that Frame logically depends on Tag even though no Tag value exists at runtime. The result is zero-cost coordinate-frame separation.
[Sources]
- https://github.com/specdog/leash/blob/566bc569b24bf5f392291b142469282fcdfac2b3/crates/leash-core/src/frame.rs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code is full of structurally identical coordinates with incompatible meaning. A phantom frame tag makes the missing transform visible at the call site. The explicit conversion becomes a reviewable operation instead of an assumption.
[Sources]
- https://github.com/specdog/leash/blob/566bc569b24bf5f392291b142469282fcdfac2b3/crates/leash-core/src/frame.rs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ControllerIo is a trait alias pattern on stable Rust. The blanket implementation means serial ports, test doubles, and future transports participate automatically if they satisfy Read, Write, and Send.
[Sources]
- https://github.com/specdog/leash/blob/566bc569b24bf5f392291b142469282fcdfac2b3/crates/leash-waveshare/src/lib.rs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factory itself is object-safe and the closure blanket implementation keeps call sites light. FnMut is deliberate: opening a connection may update retry counters or consume mutable configuration.
[Sources]
- https://github.com/specdog/leash/blob/566bc569b24bf5f392291b142469282fcdfac2b3/crates/leash-waveshare/src/lib.rs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Associated types are better than extra generic parameters here because each concrete port has one canonical acknowledgement and error type. The signature also makes the typestate boundary unavoidable: raw DifferentialDrive is not accepted.
[Sources]
- https://github.com/specdog/leash/blob/566bc569b24bf5f392291b142469282fcdfac2b3/crates/leash-runtime/src/supervisor.rs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supervisor stores acknowledgement state, so A belongs on the struct. The concrete port P is only needed to spawn the owner thread. The equality bound proves that whatever P emits is exactly the A the shared state can hold.
[Sources]
- https://github.com/specdog/leash/blob/566bc569b24bf5f392291b142469282fcdfac2b3/crates/leash-runtime/src/supervisor.rs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Leash uses both dispatch models. The supervisor control loop remains generic and monomorphized. The transport is selected at runtime behind Box dyn ControllerIo. The useful question is where substitution happens and who owns the value.
[Sources]
- https://github.com/specdog/leash/blob/566bc569b24bf5f392291b142469282fcdfac2b3/crates/leash-runtime/src/supervisor.rs
- https://github.com/specdog/leash/blob/566bc569b24bf5f392291b142469282fcdfac2b3/crates/leash-waveshare/src/lib.rs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 thread receives port by move, so the caller cannot keep using it. Shared observation crosses the boundary through Arc. The closure is wrapped in catch_unwind so a panic becomes explicit supervisor state rather than silent loss of the actuator owner.
[Sources]
- https://github.com/specdog/leash/blob/566bc569b24bf5f392291b142469282fcdfac2b3/crates/leash-runtime/src/supervisor.rs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RAII matters beyond memory. When the supervisor owner is dropped, it signals shutdown, wakes the worker, takes the JoinHandle out of its Option, and joins exactly once. Lifecycle behavior is co-located with lifecycle ownership.
[Sources]
- https://github.com/specdog/leash/blob/566bc569b24bf5f392291b142469282fcdfac2b3/crates/leash-runtime/src/supervisor.rs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Boundedness is a correctness property for a real-time-ish control loop. Notice the ownership-aware result types: a failed send returns the value, and drop-oldest reports what was replaced. Nothing disappears implicitly.
[Sources]
- https://github.com/specdog/leash/blob/566bc569b24bf5f392291b142469282fcdfac2b3/crates/leash-runtime/src/lane.rs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path chooses an overload policy explicitly. RejectNewest preserves older work. DropOldest preserves freshness. The caller sees which happened through the result type, so overload can enter evidence instead of becoming hidden latency.
[Sources]
- https://github.com/specdog/leash/blob/566bc569b24bf5f392291b142469282fcdfac2b3/crates/leash-runtime/src/lane.rs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E-stop do not compete with normal proposals for bounded-lane space. Each kind has an atomic request count. fetch_update publishes a monotonic sequence and rejects exhaustion instead of wrapping.
[Sources]
- https://github.com/specdog/leash/blob/566bc569b24bf5f392291b142469282fcdfac2b3/crates/leash-runtime/src/safety.rs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is visible in control flow. E-stop is loaded before stop and returns immediately. Each counter is compared with its own seen watermark, preserving request counts without allocating a queue.
[Sources]
- https://github.com/specdog/leash/blob/566bc569b24bf5f392291b142469282fcdfac2b3/crates/leash-runtime/src/safety.rs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data should queue; high-rate observations often should not. The latest slot models that directly. Option replace and take express displacement and consumption without sentinel values or cloning.
[Sources]
- https://github.com/specdog/leash/blob/566bc569b24bf5f392291b142469282fcdfac2b3/crates/leash-runtime/src/latest.rs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does not pass loosely typed JSON inward. A tagged enum defines the allowed command set. Unknown fields fail closed, and serde errors are mapped into a domain error before any command reaches runtime.
[Sources]
- https://github.com/specdog/leash/blob/566bc569b24bf5f392291b142469282fcdfac2b3/crates/leash-gateway/src/lib.rs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idiomatic error plumbing with a safety benefit: failures stay categorized. map_err adapts errors at subsystem boundaries, while the question-mark operator exits immediately and keeps the success path easy to audit.
[Sources]
- https://github.com/specdog/leash/blob/566bc569b24bf5f392291b142469282fcdfac2b3/crates/leash-gateway/src/lib.rs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let-else is ideal when the interesting path requires a value. front borrows the oldest ticket without removing it. Only an available acknowledgement causes pop_front, so a pending ticket retains its exact queue position.
[Sources]
- https://github.com/specdog/leash/blob/566bc569b24bf5f392291b142469282fcdfac2b3/crates/leash-waveshare/src/lib.rs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 is where abstract runtime contracts become controller messages. It chooses CommandAck and PortError, accepts only an Authorized drive, and preserves the typed acknowledgement contract back into runtime.
[Sources]
- https://github.com/specdog/leash/blob/566bc569b24bf5f392291b142469282fcdfac2b3/crates/leash-waveshare/src/lib.rs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ROS2 crate carries the phantom-frame discipline to path proposals and navigation goals. A transform names both endpoints in its type. The adapter can translate Nav2 intent, but it still cannot produce motor authority directly.
[Sources]
- https://github.com/specdog/leash/blob/566bc569b24bf5f392291b142469282fcdfac2b3/crates/leash-ros2/src/lib.rs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unsafe island opened on slide seven. Checked multiplication, integer conversion, capacity checks, and typed device slices precede the cudarc kernel launch. CUDA accelerates compute and shadow evaluation; the CPU control kernel remains final motion authority.
[Sources]
- https://github.com/specdog/leash/blob/566bc569b24bf5f392291b142469282fcdfac2b3/crates/leash-cuda/src/lib.rs
- https://github.com/specdog/leash/blob/566bc569b24bf5f392291b142469282fcdfac2b3/crates/leash-cuda/src/device.rs
- https://github.com/specdog/leash/blob/566bc569b24bf5f392291b142469282fcdfac2b3/crates/leash-cuda/README.md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prevent classes of misuse, but the runtime still needs empirical proof. Replay runs the same scenario twice and checks exact transitions and a stable digest. Recorded Jetson evidence supplies latency, deadline, durability, and physical E-stop measurements.
[Sources]
- https://github.com/specdog/leash/blob/566bc569b24bf5f392291b142469282fcdfac2b3/crates/leash-replay/src/lib.rs
- https://github.com/specdog/leash/blob/566bc569b24bf5f392291b142469282fcdfac2b3/crates/leash-runtime/evidence/jetson-orin-nx-rv2-16-nomotion-20260829.json
- https://github.com/specdog/leash/blob/566bc569b24bf5f392291b142469282fcdfac2b3/crates/leash-runtime/evidence/jetson-orin-nx-evidence-20260829.json
- https://github.com/specdog/leash/blob/566bc569b24bf5f392291b142469282fcdfac2b3/crates/leash-runtime/evidence/jetson-orin-nx-rv2-16-physical-rollout-20260829.json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Qualia is intentionally outside the open-source Leash boundary. It may build missions, ontologies, and semantic evidence asynchronously. It proposes. Leash remains the small, fast, local authority path that decides whether a physical command may proceed.
[Sources]
- https://github.com/specdog/leash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is deliberately bounded. First run the observation-only preflight. Motion requires an active operator token and explicit approval. Perform one low-drive, short-duration pulse, then show the verified-zero acknowledgement. If any gate is red, play the recorded fallback. Do not improvise motion.
[Sources]
- https://github.com/specdog/leash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idea is simple: when software crosses into physical authority, make the rule visible in the type system. The QR opens the editable deck package and the source is at specdog/leash.
[Sources]
- https://github.com/specdog/leash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GEEK ON A LEASH</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01</a:t>
            </a:r>
            <a:endParaRPr lang="en-US" sz="950" dirty="0"/>
          </a:p>
        </p:txBody>
      </p:sp>
      <p:sp>
        <p:nvSpPr>
          <p:cNvPr id="6" name="Shape 4"/>
          <p:cNvSpPr/>
          <p:nvPr/>
        </p:nvSpPr>
        <p:spPr>
          <a:xfrm>
            <a:off x="420624" y="530352"/>
            <a:ext cx="6858000" cy="5413248"/>
          </a:xfrm>
          <a:prstGeom prst="rect">
            <a:avLst/>
          </a:prstGeom>
          <a:solidFill>
            <a:srgbClr val="2855FF"/>
          </a:solidFill>
          <a:ln w="38100">
            <a:solidFill>
              <a:srgbClr val="0B0B0B"/>
            </a:solidFill>
            <a:prstDash val="solid"/>
          </a:ln>
        </p:spPr>
      </p:sp>
      <p:sp>
        <p:nvSpPr>
          <p:cNvPr id="7" name="Text 5"/>
          <p:cNvSpPr/>
          <p:nvPr/>
        </p:nvSpPr>
        <p:spPr>
          <a:xfrm>
            <a:off x="713232" y="804672"/>
            <a:ext cx="6035040" cy="1920240"/>
          </a:xfrm>
          <a:prstGeom prst="rect">
            <a:avLst/>
          </a:prstGeom>
          <a:noFill/>
          <a:ln/>
        </p:spPr>
        <p:txBody>
          <a:bodyPr wrap="square" lIns="0" tIns="0" rIns="0" bIns="0" rtlCol="0" anchor="t">
            <a:normAutofit/>
          </a:bodyPr>
          <a:lstStyle/>
          <a:p>
            <a:pPr algn="l" indent="0" marL="0">
              <a:lnSpc>
                <a:spcPct val="100000"/>
              </a:lnSpc>
              <a:buNone/>
            </a:pPr>
            <a:r>
              <a:rPr lang="en-US" sz="4300" b="1" dirty="0">
                <a:solidFill>
                  <a:srgbClr val="FFFFFF"/>
                </a:solidFill>
                <a:latin typeface="Arial" pitchFamily="34" charset="0"/>
                <a:ea typeface="Arial" pitchFamily="34" charset="-122"/>
                <a:cs typeface="Arial" pitchFamily="34" charset="-120"/>
              </a:rPr>
              <a:t>GEEK ON</a:t>
            </a:r>
            <a:endParaRPr lang="en-US" sz="4300" dirty="0"/>
          </a:p>
          <a:p>
            <a:pPr algn="l" indent="0" marL="0">
              <a:lnSpc>
                <a:spcPct val="100000"/>
              </a:lnSpc>
              <a:buNone/>
            </a:pPr>
            <a:r>
              <a:rPr lang="en-US" sz="4300" b="1" dirty="0">
                <a:solidFill>
                  <a:srgbClr val="FFFFFF"/>
                </a:solidFill>
                <a:latin typeface="Arial" pitchFamily="34" charset="0"/>
                <a:ea typeface="Arial" pitchFamily="34" charset="-122"/>
                <a:cs typeface="Arial" pitchFamily="34" charset="-120"/>
              </a:rPr>
              <a:t>A LEASH</a:t>
            </a:r>
            <a:endParaRPr lang="en-US" sz="4300" dirty="0"/>
          </a:p>
        </p:txBody>
      </p:sp>
      <p:sp>
        <p:nvSpPr>
          <p:cNvPr id="8" name="Text 6"/>
          <p:cNvSpPr/>
          <p:nvPr/>
        </p:nvSpPr>
        <p:spPr>
          <a:xfrm>
            <a:off x="749808" y="3072384"/>
            <a:ext cx="5897880" cy="1051560"/>
          </a:xfrm>
          <a:prstGeom prst="rect">
            <a:avLst/>
          </a:prstGeom>
          <a:noFill/>
          <a:ln/>
        </p:spPr>
        <p:txBody>
          <a:bodyPr wrap="square" lIns="0" tIns="0" rIns="0" bIns="0" rtlCol="0" anchor="t">
            <a:normAutofit/>
          </a:bodyPr>
          <a:lstStyle/>
          <a:p>
            <a:pPr algn="l" indent="0" marL="0">
              <a:lnSpc>
                <a:spcPct val="100000"/>
              </a:lnSpc>
              <a:buNone/>
            </a:pPr>
            <a:r>
              <a:rPr lang="en-US" sz="2400" b="1" dirty="0">
                <a:solidFill>
                  <a:srgbClr val="FFFFFF"/>
                </a:solidFill>
                <a:latin typeface="Arial" pitchFamily="34" charset="0"/>
                <a:ea typeface="Arial" pitchFamily="34" charset="-122"/>
                <a:cs typeface="Arial" pitchFamily="34" charset="-120"/>
              </a:rPr>
              <a:t>A source-level Rust talk about</a:t>
            </a:r>
            <a:endParaRPr lang="en-US" sz="2400" dirty="0"/>
          </a:p>
          <a:p>
            <a:pPr algn="l" indent="0" marL="0">
              <a:lnSpc>
                <a:spcPct val="100000"/>
              </a:lnSpc>
              <a:buNone/>
            </a:pPr>
            <a:r>
              <a:rPr lang="en-US" sz="2400" b="1" dirty="0">
                <a:solidFill>
                  <a:srgbClr val="FFFFFF"/>
                </a:solidFill>
                <a:latin typeface="Arial" pitchFamily="34" charset="0"/>
                <a:ea typeface="Arial" pitchFamily="34" charset="-122"/>
                <a:cs typeface="Arial" pitchFamily="34" charset="-120"/>
              </a:rPr>
              <a:t>physical authority</a:t>
            </a:r>
            <a:endParaRPr lang="en-US" sz="2400" dirty="0"/>
          </a:p>
        </p:txBody>
      </p:sp>
      <p:sp>
        <p:nvSpPr>
          <p:cNvPr id="9" name="Shape 7"/>
          <p:cNvSpPr/>
          <p:nvPr/>
        </p:nvSpPr>
        <p:spPr>
          <a:xfrm>
            <a:off x="749808" y="5029200"/>
            <a:ext cx="2697480" cy="365760"/>
          </a:xfrm>
          <a:prstGeom prst="roundRect">
            <a:avLst>
              <a:gd name="adj" fmla="val 15000"/>
            </a:avLst>
          </a:prstGeom>
          <a:solidFill>
            <a:srgbClr val="B8FF32"/>
          </a:solidFill>
          <a:ln w="17780">
            <a:solidFill>
              <a:srgbClr val="0B0B0B"/>
            </a:solidFill>
            <a:prstDash val="solid"/>
          </a:ln>
        </p:spPr>
      </p:sp>
      <p:sp>
        <p:nvSpPr>
          <p:cNvPr id="10" name="Text 8"/>
          <p:cNvSpPr/>
          <p:nvPr/>
        </p:nvSpPr>
        <p:spPr>
          <a:xfrm>
            <a:off x="822960" y="5093208"/>
            <a:ext cx="2551176" cy="21031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B0B0B"/>
                </a:solidFill>
                <a:latin typeface="Arial" pitchFamily="34" charset="0"/>
                <a:ea typeface="Arial" pitchFamily="34" charset="-122"/>
                <a:cs typeface="Arial" pitchFamily="34" charset="-120"/>
              </a:rPr>
              <a:t>RUST TUESDAYS • 60 MIN</a:t>
            </a:r>
            <a:endParaRPr lang="en-US" sz="1100" dirty="0"/>
          </a:p>
        </p:txBody>
      </p:sp>
      <p:sp>
        <p:nvSpPr>
          <p:cNvPr id="11" name="Shape 9"/>
          <p:cNvSpPr/>
          <p:nvPr/>
        </p:nvSpPr>
        <p:spPr>
          <a:xfrm>
            <a:off x="7726680" y="640080"/>
            <a:ext cx="3895344" cy="3895344"/>
          </a:xfrm>
          <a:prstGeom prst="rect">
            <a:avLst/>
          </a:prstGeom>
          <a:solidFill>
            <a:srgbClr val="FFFDF7"/>
          </a:solidFill>
          <a:ln w="34290">
            <a:solidFill>
              <a:srgbClr val="0B0B0B"/>
            </a:solidFill>
            <a:prstDash val="solid"/>
          </a:ln>
        </p:spPr>
      </p:sp>
      <p:pic>
        <p:nvPicPr>
          <p:cNvPr id="12" name="Image 0" descr="/Users/ericmanganaro/leash-worktrees/geek-on-a-leash-talk/talks/geek-on-a-leash/assets/waveshare-ugv-rover-front.jpg">    </p:cNvPr>
          <p:cNvPicPr>
            <a:picLocks noChangeAspect="1"/>
          </p:cNvPicPr>
          <p:nvPr/>
        </p:nvPicPr>
        <p:blipFill>
          <a:blip r:embed="rId1"/>
          <a:stretch>
            <a:fillRect/>
          </a:stretch>
        </p:blipFill>
        <p:spPr>
          <a:xfrm>
            <a:off x="7790688" y="704088"/>
            <a:ext cx="3767328" cy="3767328"/>
          </a:xfrm>
          <a:prstGeom prst="rect">
            <a:avLst/>
          </a:prstGeom>
        </p:spPr>
      </p:pic>
      <p:sp>
        <p:nvSpPr>
          <p:cNvPr id="13" name="Text 10"/>
          <p:cNvSpPr/>
          <p:nvPr/>
        </p:nvSpPr>
        <p:spPr>
          <a:xfrm>
            <a:off x="7845552" y="4736592"/>
            <a:ext cx="3291840" cy="310896"/>
          </a:xfrm>
          <a:prstGeom prst="rect">
            <a:avLst/>
          </a:prstGeom>
          <a:noFill/>
          <a:ln/>
        </p:spPr>
        <p:txBody>
          <a:bodyPr wrap="square" lIns="0" tIns="0" rIns="0" bIns="0" rtlCol="0" anchor="t">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ERIC MANGANARO</a:t>
            </a:r>
            <a:endParaRPr lang="en-US" sz="1800" dirty="0"/>
          </a:p>
        </p:txBody>
      </p:sp>
      <p:sp>
        <p:nvSpPr>
          <p:cNvPr id="14" name="Text 11"/>
          <p:cNvSpPr/>
          <p:nvPr/>
        </p:nvSpPr>
        <p:spPr>
          <a:xfrm>
            <a:off x="7845552" y="5138928"/>
            <a:ext cx="2560320" cy="256032"/>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6B6B66"/>
                </a:solidFill>
                <a:latin typeface="Arial" pitchFamily="34" charset="0"/>
                <a:ea typeface="Arial" pitchFamily="34" charset="-122"/>
                <a:cs typeface="Arial" pitchFamily="34" charset="-120"/>
              </a:rPr>
              <a:t>Leash + Pinkie</a:t>
            </a:r>
            <a:endParaRPr lang="en-US" sz="1400" dirty="0"/>
          </a:p>
        </p:txBody>
      </p:sp>
      <p:pic>
        <p:nvPicPr>
          <p:cNvPr id="15" name="Image 1" descr="/Users/ericmanganaro/leash-worktrees/geek-on-a-leash-talk/talks/geek-on-a-leash/output/geek-on-a-leash-qr.png">    </p:cNvPr>
          <p:cNvPicPr>
            <a:picLocks noChangeAspect="1"/>
          </p:cNvPicPr>
          <p:nvPr/>
        </p:nvPicPr>
        <p:blipFill>
          <a:blip r:embed="rId2"/>
          <a:stretch>
            <a:fillRect/>
          </a:stretch>
        </p:blipFill>
        <p:spPr>
          <a:xfrm>
            <a:off x="10241280" y="4727448"/>
            <a:ext cx="1115568" cy="1115568"/>
          </a:xfrm>
          <a:prstGeom prst="rect">
            <a:avLst/>
          </a:prstGeom>
        </p:spPr>
      </p:pic>
      <p:sp>
        <p:nvSpPr>
          <p:cNvPr id="16" name="Text 12"/>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github.com/specdog/leash</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D63D"/>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THE BOUNDARY</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02</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400" b="1" dirty="0">
                <a:solidFill>
                  <a:srgbClr val="0B0B0B"/>
                </a:solidFill>
                <a:latin typeface="Arial" pitchFamily="34" charset="0"/>
                <a:ea typeface="Arial" pitchFamily="34" charset="-122"/>
                <a:cs typeface="Arial" pitchFamily="34" charset="-120"/>
              </a:rPr>
              <a:t>Who is allowed to write the motors?</a:t>
            </a:r>
            <a:endParaRPr lang="en-US" sz="3400" dirty="0"/>
          </a:p>
        </p:txBody>
      </p:sp>
      <p:sp>
        <p:nvSpPr>
          <p:cNvPr id="7" name="Shape 5"/>
          <p:cNvSpPr/>
          <p:nvPr/>
        </p:nvSpPr>
        <p:spPr>
          <a:xfrm>
            <a:off x="594360" y="1828800"/>
            <a:ext cx="2148840" cy="1051560"/>
          </a:xfrm>
          <a:prstGeom prst="rect">
            <a:avLst/>
          </a:prstGeom>
          <a:solidFill>
            <a:srgbClr val="FFFDF7"/>
          </a:solidFill>
          <a:ln w="26670">
            <a:solidFill>
              <a:srgbClr val="0B0B0B"/>
            </a:solidFill>
            <a:prstDash val="solid"/>
          </a:ln>
        </p:spPr>
      </p:sp>
      <p:sp>
        <p:nvSpPr>
          <p:cNvPr id="8" name="Text 6"/>
          <p:cNvSpPr/>
          <p:nvPr/>
        </p:nvSpPr>
        <p:spPr>
          <a:xfrm>
            <a:off x="749808" y="1965960"/>
            <a:ext cx="1837944" cy="7772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HUMAN</a:t>
            </a:r>
            <a:endParaRPr lang="en-US" sz="2200" dirty="0"/>
          </a:p>
        </p:txBody>
      </p:sp>
      <p:sp>
        <p:nvSpPr>
          <p:cNvPr id="9" name="Shape 7"/>
          <p:cNvSpPr/>
          <p:nvPr/>
        </p:nvSpPr>
        <p:spPr>
          <a:xfrm>
            <a:off x="594360" y="4023360"/>
            <a:ext cx="2148840" cy="1051560"/>
          </a:xfrm>
          <a:prstGeom prst="rect">
            <a:avLst/>
          </a:prstGeom>
          <a:solidFill>
            <a:srgbClr val="DDE5FF"/>
          </a:solidFill>
          <a:ln w="26670">
            <a:solidFill>
              <a:srgbClr val="0B0B0B"/>
            </a:solidFill>
            <a:prstDash val="solid"/>
          </a:ln>
        </p:spPr>
      </p:sp>
      <p:sp>
        <p:nvSpPr>
          <p:cNvPr id="10" name="Text 8"/>
          <p:cNvSpPr/>
          <p:nvPr/>
        </p:nvSpPr>
        <p:spPr>
          <a:xfrm>
            <a:off x="749808" y="4160520"/>
            <a:ext cx="1837944" cy="7772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AGENT</a:t>
            </a:r>
            <a:endParaRPr lang="en-US" sz="2200" dirty="0"/>
          </a:p>
        </p:txBody>
      </p:sp>
      <p:sp>
        <p:nvSpPr>
          <p:cNvPr id="11" name="Shape 9"/>
          <p:cNvSpPr/>
          <p:nvPr/>
        </p:nvSpPr>
        <p:spPr>
          <a:xfrm>
            <a:off x="2880360" y="2359152"/>
            <a:ext cx="1828800" cy="1298448"/>
          </a:xfrm>
          <a:prstGeom prst="line">
            <a:avLst/>
          </a:prstGeom>
          <a:noFill/>
          <a:ln w="38100">
            <a:solidFill>
              <a:srgbClr val="0B0B0B"/>
            </a:solidFill>
            <a:prstDash val="solid"/>
            <a:tailEnd type="triangle"/>
          </a:ln>
        </p:spPr>
      </p:sp>
      <p:sp>
        <p:nvSpPr>
          <p:cNvPr id="12" name="Shape 10"/>
          <p:cNvSpPr/>
          <p:nvPr/>
        </p:nvSpPr>
        <p:spPr>
          <a:xfrm>
            <a:off x="2880360" y="4544568"/>
            <a:ext cx="1828800" cy="-1298448"/>
          </a:xfrm>
          <a:prstGeom prst="line">
            <a:avLst/>
          </a:prstGeom>
          <a:noFill/>
          <a:ln w="38100">
            <a:solidFill>
              <a:srgbClr val="0B0B0B"/>
            </a:solidFill>
            <a:prstDash val="solid"/>
            <a:tailEnd type="triangle"/>
          </a:ln>
        </p:spPr>
      </p:sp>
      <p:sp>
        <p:nvSpPr>
          <p:cNvPr id="13" name="Shape 11"/>
          <p:cNvSpPr/>
          <p:nvPr/>
        </p:nvSpPr>
        <p:spPr>
          <a:xfrm>
            <a:off x="4800600" y="2304288"/>
            <a:ext cx="2194560" cy="2011680"/>
          </a:xfrm>
          <a:prstGeom prst="rect">
            <a:avLst/>
          </a:prstGeom>
          <a:solidFill>
            <a:srgbClr val="FF5B9D"/>
          </a:solidFill>
          <a:ln w="26670">
            <a:solidFill>
              <a:srgbClr val="0B0B0B"/>
            </a:solidFill>
            <a:prstDash val="solid"/>
          </a:ln>
        </p:spPr>
      </p:sp>
      <p:sp>
        <p:nvSpPr>
          <p:cNvPr id="14" name="Text 12"/>
          <p:cNvSpPr/>
          <p:nvPr/>
        </p:nvSpPr>
        <p:spPr>
          <a:xfrm>
            <a:off x="4956048" y="2441448"/>
            <a:ext cx="1883664" cy="1737360"/>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0B0B0B"/>
                </a:solidFill>
                <a:latin typeface="Arial" pitchFamily="34" charset="0"/>
                <a:ea typeface="Arial" pitchFamily="34" charset="-122"/>
                <a:cs typeface="Arial" pitchFamily="34" charset="-120"/>
              </a:rPr>
              <a:t>TYPE</a:t>
            </a:r>
            <a:endParaRPr lang="en-US" sz="2300" dirty="0"/>
          </a:p>
          <a:p>
            <a:pPr algn="ctr" indent="0" marL="0">
              <a:lnSpc>
                <a:spcPct val="100000"/>
              </a:lnSpc>
              <a:buNone/>
            </a:pPr>
            <a:r>
              <a:rPr lang="en-US" sz="2300" b="1" dirty="0">
                <a:solidFill>
                  <a:srgbClr val="0B0B0B"/>
                </a:solidFill>
                <a:latin typeface="Arial" pitchFamily="34" charset="0"/>
                <a:ea typeface="Arial" pitchFamily="34" charset="-122"/>
                <a:cs typeface="Arial" pitchFamily="34" charset="-120"/>
              </a:rPr>
              <a:t>BOUNDARY</a:t>
            </a:r>
            <a:endParaRPr lang="en-US" sz="2300" dirty="0"/>
          </a:p>
        </p:txBody>
      </p:sp>
      <p:sp>
        <p:nvSpPr>
          <p:cNvPr id="15" name="Shape 13"/>
          <p:cNvSpPr/>
          <p:nvPr/>
        </p:nvSpPr>
        <p:spPr>
          <a:xfrm>
            <a:off x="7150608" y="3310128"/>
            <a:ext cx="1691640" cy="0"/>
          </a:xfrm>
          <a:prstGeom prst="line">
            <a:avLst/>
          </a:prstGeom>
          <a:noFill/>
          <a:ln w="38100">
            <a:solidFill>
              <a:srgbClr val="0B0B0B"/>
            </a:solidFill>
            <a:prstDash val="solid"/>
            <a:tailEnd type="triangle"/>
          </a:ln>
        </p:spPr>
      </p:sp>
      <p:sp>
        <p:nvSpPr>
          <p:cNvPr id="16" name="Shape 14"/>
          <p:cNvSpPr/>
          <p:nvPr/>
        </p:nvSpPr>
        <p:spPr>
          <a:xfrm>
            <a:off x="8979408" y="2304288"/>
            <a:ext cx="2578608" cy="2011680"/>
          </a:xfrm>
          <a:prstGeom prst="rect">
            <a:avLst/>
          </a:prstGeom>
          <a:solidFill>
            <a:srgbClr val="0B0B0B"/>
          </a:solidFill>
          <a:ln w="26670">
            <a:solidFill>
              <a:srgbClr val="0B0B0B"/>
            </a:solidFill>
            <a:prstDash val="solid"/>
          </a:ln>
        </p:spPr>
      </p:sp>
      <p:sp>
        <p:nvSpPr>
          <p:cNvPr id="17" name="Text 15"/>
          <p:cNvSpPr/>
          <p:nvPr/>
        </p:nvSpPr>
        <p:spPr>
          <a:xfrm>
            <a:off x="9134856" y="2441448"/>
            <a:ext cx="2267712" cy="1737360"/>
          </a:xfrm>
          <a:prstGeom prst="rect">
            <a:avLst/>
          </a:prstGeom>
          <a:noFill/>
          <a:ln/>
        </p:spPr>
        <p:txBody>
          <a:bodyPr wrap="square" lIns="0" tIns="0" rIns="0" bIns="0" rtlCol="0" anchor="ctr">
            <a:normAutofit/>
          </a:bodyPr>
          <a:lstStyle/>
          <a:p>
            <a:pPr algn="ctr" indent="0" marL="0">
              <a:lnSpc>
                <a:spcPct val="100000"/>
              </a:lnSpc>
              <a:buNone/>
            </a:pPr>
            <a:r>
              <a:rPr lang="en-US" sz="2400" b="1" dirty="0">
                <a:solidFill>
                  <a:srgbClr val="FFFFFF"/>
                </a:solidFill>
                <a:latin typeface="Arial" pitchFamily="34" charset="0"/>
                <a:ea typeface="Arial" pitchFamily="34" charset="-122"/>
                <a:cs typeface="Arial" pitchFamily="34" charset="-120"/>
              </a:rPr>
              <a:t>MOTOR</a:t>
            </a:r>
            <a:endParaRPr lang="en-US" sz="2400" dirty="0"/>
          </a:p>
          <a:p>
            <a:pPr algn="ctr" indent="0" marL="0">
              <a:lnSpc>
                <a:spcPct val="100000"/>
              </a:lnSpc>
              <a:buNone/>
            </a:pPr>
            <a:r>
              <a:rPr lang="en-US" sz="2400" b="1" dirty="0">
                <a:solidFill>
                  <a:srgbClr val="FFFFFF"/>
                </a:solidFill>
                <a:latin typeface="Arial" pitchFamily="34" charset="0"/>
                <a:ea typeface="Arial" pitchFamily="34" charset="-122"/>
                <a:cs typeface="Arial" pitchFamily="34" charset="-120"/>
              </a:rPr>
              <a:t>DRIVER</a:t>
            </a:r>
            <a:endParaRPr lang="en-US" sz="2400" dirty="0"/>
          </a:p>
        </p:txBody>
      </p:sp>
      <p:sp>
        <p:nvSpPr>
          <p:cNvPr id="18" name="Text 16"/>
          <p:cNvSpPr/>
          <p:nvPr/>
        </p:nvSpPr>
        <p:spPr>
          <a:xfrm>
            <a:off x="3154680" y="5257800"/>
            <a:ext cx="5715000" cy="438912"/>
          </a:xfrm>
          <a:prstGeom prst="rect">
            <a:avLst/>
          </a:prstGeom>
          <a:noFill/>
          <a:ln/>
        </p:spPr>
        <p:txBody>
          <a:bodyPr wrap="square" lIns="0" tIns="0" rIns="0" bIns="0" rtlCol="0" anchor="t">
            <a:normAutofit/>
          </a:bodyPr>
          <a:lstStyle/>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The dangerous bug is ambiguous authority.</a:t>
            </a:r>
            <a:endParaRPr lang="en-US" sz="2200" dirty="0"/>
          </a:p>
        </p:txBody>
      </p:sp>
      <p:sp>
        <p:nvSpPr>
          <p:cNvPr id="19" name="Text 17"/>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THE RULE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03</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0B0B0B"/>
                </a:solidFill>
                <a:latin typeface="Arial" pitchFamily="34" charset="0"/>
                <a:ea typeface="Arial" pitchFamily="34" charset="-122"/>
                <a:cs typeface="Arial" pitchFamily="34" charset="-120"/>
              </a:rPr>
              <a:t>The canonical rule is intentionally boring.</a:t>
            </a:r>
            <a:endParaRPr lang="en-US" sz="3200" dirty="0"/>
          </a:p>
        </p:txBody>
      </p:sp>
      <p:sp>
        <p:nvSpPr>
          <p:cNvPr id="7" name="Shape 5"/>
          <p:cNvSpPr/>
          <p:nvPr/>
        </p:nvSpPr>
        <p:spPr>
          <a:xfrm>
            <a:off x="640080" y="2240280"/>
            <a:ext cx="1828800" cy="1051560"/>
          </a:xfrm>
          <a:prstGeom prst="rect">
            <a:avLst/>
          </a:prstGeom>
          <a:solidFill>
            <a:srgbClr val="DDE5FF"/>
          </a:solidFill>
          <a:ln w="26670">
            <a:solidFill>
              <a:srgbClr val="0B0B0B"/>
            </a:solidFill>
            <a:prstDash val="solid"/>
          </a:ln>
        </p:spPr>
      </p:sp>
      <p:sp>
        <p:nvSpPr>
          <p:cNvPr id="8" name="Text 6"/>
          <p:cNvSpPr/>
          <p:nvPr/>
        </p:nvSpPr>
        <p:spPr>
          <a:xfrm>
            <a:off x="795528" y="2377440"/>
            <a:ext cx="1517904" cy="7772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Courier New" pitchFamily="34" charset="0"/>
                <a:ea typeface="Courier New" pitchFamily="34" charset="-122"/>
                <a:cs typeface="Courier New" pitchFamily="34" charset="-120"/>
              </a:rPr>
              <a:t>request</a:t>
            </a:r>
            <a:endParaRPr lang="en-US" sz="2200" dirty="0"/>
          </a:p>
        </p:txBody>
      </p:sp>
      <p:sp>
        <p:nvSpPr>
          <p:cNvPr id="9" name="Shape 7"/>
          <p:cNvSpPr/>
          <p:nvPr/>
        </p:nvSpPr>
        <p:spPr>
          <a:xfrm>
            <a:off x="2615184" y="2761488"/>
            <a:ext cx="1051560" cy="0"/>
          </a:xfrm>
          <a:prstGeom prst="line">
            <a:avLst/>
          </a:prstGeom>
          <a:noFill/>
          <a:ln w="38100">
            <a:solidFill>
              <a:srgbClr val="0B0B0B"/>
            </a:solidFill>
            <a:prstDash val="solid"/>
            <a:tailEnd type="triangle"/>
          </a:ln>
        </p:spPr>
      </p:sp>
      <p:sp>
        <p:nvSpPr>
          <p:cNvPr id="10" name="Shape 8"/>
          <p:cNvSpPr/>
          <p:nvPr/>
        </p:nvSpPr>
        <p:spPr>
          <a:xfrm>
            <a:off x="3730752" y="2240280"/>
            <a:ext cx="1828800" cy="1051560"/>
          </a:xfrm>
          <a:prstGeom prst="rect">
            <a:avLst/>
          </a:prstGeom>
          <a:solidFill>
            <a:srgbClr val="FFF0AA"/>
          </a:solidFill>
          <a:ln w="26670">
            <a:solidFill>
              <a:srgbClr val="0B0B0B"/>
            </a:solidFill>
            <a:prstDash val="solid"/>
          </a:ln>
        </p:spPr>
      </p:sp>
      <p:sp>
        <p:nvSpPr>
          <p:cNvPr id="11" name="Text 9"/>
          <p:cNvSpPr/>
          <p:nvPr/>
        </p:nvSpPr>
        <p:spPr>
          <a:xfrm>
            <a:off x="3886200" y="2377440"/>
            <a:ext cx="1517904" cy="7772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Courier New" pitchFamily="34" charset="0"/>
                <a:ea typeface="Courier New" pitchFamily="34" charset="-122"/>
                <a:cs typeface="Courier New" pitchFamily="34" charset="-120"/>
              </a:rPr>
              <a:t>propose</a:t>
            </a:r>
            <a:endParaRPr lang="en-US" sz="2200" dirty="0"/>
          </a:p>
        </p:txBody>
      </p:sp>
      <p:sp>
        <p:nvSpPr>
          <p:cNvPr id="12" name="Shape 10"/>
          <p:cNvSpPr/>
          <p:nvPr/>
        </p:nvSpPr>
        <p:spPr>
          <a:xfrm>
            <a:off x="5705856" y="2761488"/>
            <a:ext cx="1051560" cy="0"/>
          </a:xfrm>
          <a:prstGeom prst="line">
            <a:avLst/>
          </a:prstGeom>
          <a:noFill/>
          <a:ln w="38100">
            <a:solidFill>
              <a:srgbClr val="0B0B0B"/>
            </a:solidFill>
            <a:prstDash val="solid"/>
            <a:tailEnd type="triangle"/>
          </a:ln>
        </p:spPr>
      </p:sp>
      <p:sp>
        <p:nvSpPr>
          <p:cNvPr id="13" name="Shape 11"/>
          <p:cNvSpPr/>
          <p:nvPr/>
        </p:nvSpPr>
        <p:spPr>
          <a:xfrm>
            <a:off x="6821424" y="2240280"/>
            <a:ext cx="1965960" cy="1051560"/>
          </a:xfrm>
          <a:prstGeom prst="rect">
            <a:avLst/>
          </a:prstGeom>
          <a:solidFill>
            <a:srgbClr val="FFDCEB"/>
          </a:solidFill>
          <a:ln w="26670">
            <a:solidFill>
              <a:srgbClr val="0B0B0B"/>
            </a:solidFill>
            <a:prstDash val="solid"/>
          </a:ln>
        </p:spPr>
      </p:sp>
      <p:sp>
        <p:nvSpPr>
          <p:cNvPr id="14" name="Text 12"/>
          <p:cNvSpPr/>
          <p:nvPr/>
        </p:nvSpPr>
        <p:spPr>
          <a:xfrm>
            <a:off x="6976872" y="2377440"/>
            <a:ext cx="1655064" cy="7772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Courier New" pitchFamily="34" charset="0"/>
                <a:ea typeface="Courier New" pitchFamily="34" charset="-122"/>
                <a:cs typeface="Courier New" pitchFamily="34" charset="-120"/>
              </a:rPr>
              <a:t>authorize</a:t>
            </a:r>
            <a:endParaRPr lang="en-US" sz="2200" dirty="0"/>
          </a:p>
        </p:txBody>
      </p:sp>
      <p:sp>
        <p:nvSpPr>
          <p:cNvPr id="15" name="Shape 13"/>
          <p:cNvSpPr/>
          <p:nvPr/>
        </p:nvSpPr>
        <p:spPr>
          <a:xfrm>
            <a:off x="8942832" y="2761488"/>
            <a:ext cx="1051560" cy="0"/>
          </a:xfrm>
          <a:prstGeom prst="line">
            <a:avLst/>
          </a:prstGeom>
          <a:noFill/>
          <a:ln w="38100">
            <a:solidFill>
              <a:srgbClr val="0B0B0B"/>
            </a:solidFill>
            <a:prstDash val="solid"/>
            <a:tailEnd type="triangle"/>
          </a:ln>
        </p:spPr>
      </p:sp>
      <p:sp>
        <p:nvSpPr>
          <p:cNvPr id="16" name="Shape 14"/>
          <p:cNvSpPr/>
          <p:nvPr/>
        </p:nvSpPr>
        <p:spPr>
          <a:xfrm>
            <a:off x="10058400" y="2240280"/>
            <a:ext cx="1554480" cy="1051560"/>
          </a:xfrm>
          <a:prstGeom prst="rect">
            <a:avLst/>
          </a:prstGeom>
          <a:solidFill>
            <a:srgbClr val="B8FF32"/>
          </a:solidFill>
          <a:ln w="26670">
            <a:solidFill>
              <a:srgbClr val="0B0B0B"/>
            </a:solidFill>
            <a:prstDash val="solid"/>
          </a:ln>
        </p:spPr>
      </p:sp>
      <p:sp>
        <p:nvSpPr>
          <p:cNvPr id="17" name="Text 15"/>
          <p:cNvSpPr/>
          <p:nvPr/>
        </p:nvSpPr>
        <p:spPr>
          <a:xfrm>
            <a:off x="10213848" y="2377440"/>
            <a:ext cx="1243584" cy="7772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0B0B0B"/>
                </a:solidFill>
                <a:latin typeface="Courier New" pitchFamily="34" charset="0"/>
                <a:ea typeface="Courier New" pitchFamily="34" charset="-122"/>
                <a:cs typeface="Courier New" pitchFamily="34" charset="-120"/>
              </a:rPr>
              <a:t>actuate</a:t>
            </a:r>
            <a:endParaRPr lang="en-US" sz="2000" dirty="0"/>
          </a:p>
        </p:txBody>
      </p:sp>
      <p:sp>
        <p:nvSpPr>
          <p:cNvPr id="18" name="Text 16"/>
          <p:cNvSpPr/>
          <p:nvPr/>
        </p:nvSpPr>
        <p:spPr>
          <a:xfrm>
            <a:off x="1234440" y="4160520"/>
            <a:ext cx="9692640" cy="640080"/>
          </a:xfrm>
          <a:prstGeom prst="rect">
            <a:avLst/>
          </a:prstGeom>
          <a:noFill/>
          <a:ln/>
        </p:spPr>
        <p:txBody>
          <a:bodyPr wrap="square" lIns="0" tIns="0" rIns="0" bIns="0" rtlCol="0" anchor="t">
            <a:normAutofit/>
          </a:bodyPr>
          <a:lstStyle/>
          <a:p>
            <a:pPr algn="ctr" indent="0" marL="0">
              <a:lnSpc>
                <a:spcPct val="100000"/>
              </a:lnSpc>
              <a:buNone/>
            </a:pPr>
            <a:r>
              <a:rPr lang="en-US" sz="2700" b="1" dirty="0">
                <a:solidFill>
                  <a:srgbClr val="2855FF"/>
                </a:solidFill>
                <a:latin typeface="Arial" pitchFamily="34" charset="0"/>
                <a:ea typeface="Arial" pitchFamily="34" charset="-122"/>
                <a:cs typeface="Arial" pitchFamily="34" charset="-120"/>
              </a:rPr>
              <a:t>No adapter, planner, or GPU kernel may skip a verb.</a:t>
            </a:r>
            <a:endParaRPr lang="en-US" sz="2700" dirty="0"/>
          </a:p>
        </p:txBody>
      </p:sp>
      <p:sp>
        <p:nvSpPr>
          <p:cNvPr id="19" name="Text 17"/>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PINKIE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04</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0B0B0B"/>
                </a:solidFill>
                <a:latin typeface="Arial" pitchFamily="34" charset="0"/>
                <a:ea typeface="Arial" pitchFamily="34" charset="-122"/>
                <a:cs typeface="Arial" pitchFamily="34" charset="-120"/>
              </a:rPr>
              <a:t>The types terminate in real hardware.</a:t>
            </a:r>
            <a:endParaRPr lang="en-US" sz="3100" dirty="0"/>
          </a:p>
        </p:txBody>
      </p:sp>
      <p:sp>
        <p:nvSpPr>
          <p:cNvPr id="7" name="Shape 5"/>
          <p:cNvSpPr/>
          <p:nvPr/>
        </p:nvSpPr>
        <p:spPr>
          <a:xfrm>
            <a:off x="594360" y="1325880"/>
            <a:ext cx="4791456" cy="4471416"/>
          </a:xfrm>
          <a:prstGeom prst="rect">
            <a:avLst/>
          </a:prstGeom>
          <a:solidFill>
            <a:srgbClr val="FFFDF7"/>
          </a:solidFill>
          <a:ln w="34290">
            <a:solidFill>
              <a:srgbClr val="2855FF"/>
            </a:solidFill>
            <a:prstDash val="solid"/>
          </a:ln>
        </p:spPr>
      </p:sp>
      <p:pic>
        <p:nvPicPr>
          <p:cNvPr id="8" name="Image 0" descr="/Users/ericmanganaro/leash-worktrees/geek-on-a-leash-talk/talks/geek-on-a-leash/assets/waveshare-ugv-rover-angle.jpg">    </p:cNvPr>
          <p:cNvPicPr>
            <a:picLocks noChangeAspect="1"/>
          </p:cNvPicPr>
          <p:nvPr/>
        </p:nvPicPr>
        <p:blipFill>
          <a:blip r:embed="rId1"/>
          <a:stretch>
            <a:fillRect/>
          </a:stretch>
        </p:blipFill>
        <p:spPr>
          <a:xfrm>
            <a:off x="658368" y="1389888"/>
            <a:ext cx="4663440" cy="4343400"/>
          </a:xfrm>
          <a:prstGeom prst="rect">
            <a:avLst/>
          </a:prstGeom>
        </p:spPr>
      </p:pic>
      <p:sp>
        <p:nvSpPr>
          <p:cNvPr id="9" name="Shape 6"/>
          <p:cNvSpPr/>
          <p:nvPr/>
        </p:nvSpPr>
        <p:spPr>
          <a:xfrm>
            <a:off x="5605272" y="1325880"/>
            <a:ext cx="3191256" cy="2459736"/>
          </a:xfrm>
          <a:prstGeom prst="rect">
            <a:avLst/>
          </a:prstGeom>
          <a:solidFill>
            <a:srgbClr val="FFFDF7"/>
          </a:solidFill>
          <a:ln w="34290">
            <a:solidFill>
              <a:srgbClr val="FF5B9D"/>
            </a:solidFill>
            <a:prstDash val="solid"/>
          </a:ln>
        </p:spPr>
      </p:sp>
      <p:pic>
        <p:nvPicPr>
          <p:cNvPr id="10" name="Image 1" descr="/Users/ericmanganaro/leash-worktrees/geek-on-a-leash-talk/talks/geek-on-a-leash/assets/pinkie-live-camera-2026-09-01.jpg">    </p:cNvPr>
          <p:cNvPicPr>
            <a:picLocks noChangeAspect="1"/>
          </p:cNvPicPr>
          <p:nvPr/>
        </p:nvPicPr>
        <p:blipFill>
          <a:blip r:embed="rId2"/>
          <a:stretch>
            <a:fillRect/>
          </a:stretch>
        </p:blipFill>
        <p:spPr>
          <a:xfrm>
            <a:off x="5669280" y="1389888"/>
            <a:ext cx="3063240" cy="2331720"/>
          </a:xfrm>
          <a:prstGeom prst="rect">
            <a:avLst/>
          </a:prstGeom>
        </p:spPr>
      </p:pic>
      <p:sp>
        <p:nvSpPr>
          <p:cNvPr id="11" name="Shape 7"/>
          <p:cNvSpPr/>
          <p:nvPr/>
        </p:nvSpPr>
        <p:spPr>
          <a:xfrm>
            <a:off x="9052560" y="1389888"/>
            <a:ext cx="2395728" cy="749808"/>
          </a:xfrm>
          <a:prstGeom prst="rect">
            <a:avLst/>
          </a:prstGeom>
          <a:solidFill>
            <a:srgbClr val="B8FF32"/>
          </a:solidFill>
          <a:ln w="26670">
            <a:solidFill>
              <a:srgbClr val="0B0B0B"/>
            </a:solidFill>
            <a:prstDash val="solid"/>
          </a:ln>
        </p:spPr>
      </p:sp>
      <p:sp>
        <p:nvSpPr>
          <p:cNvPr id="12" name="Text 8"/>
          <p:cNvSpPr/>
          <p:nvPr/>
        </p:nvSpPr>
        <p:spPr>
          <a:xfrm>
            <a:off x="9208008" y="1527048"/>
            <a:ext cx="2084832" cy="475488"/>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Jetson Orin NX</a:t>
            </a:r>
            <a:endParaRPr lang="en-US" sz="1800" dirty="0"/>
          </a:p>
        </p:txBody>
      </p:sp>
      <p:sp>
        <p:nvSpPr>
          <p:cNvPr id="13" name="Shape 9"/>
          <p:cNvSpPr/>
          <p:nvPr/>
        </p:nvSpPr>
        <p:spPr>
          <a:xfrm>
            <a:off x="9052560" y="2359152"/>
            <a:ext cx="2395728" cy="749808"/>
          </a:xfrm>
          <a:prstGeom prst="rect">
            <a:avLst/>
          </a:prstGeom>
          <a:solidFill>
            <a:srgbClr val="FFF0AA"/>
          </a:solidFill>
          <a:ln w="26670">
            <a:solidFill>
              <a:srgbClr val="0B0B0B"/>
            </a:solidFill>
            <a:prstDash val="solid"/>
          </a:ln>
        </p:spPr>
      </p:sp>
      <p:sp>
        <p:nvSpPr>
          <p:cNvPr id="14" name="Text 10"/>
          <p:cNvSpPr/>
          <p:nvPr/>
        </p:nvSpPr>
        <p:spPr>
          <a:xfrm>
            <a:off x="9208008" y="2496312"/>
            <a:ext cx="2084832" cy="475488"/>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0B0B0B"/>
                </a:solidFill>
                <a:latin typeface="Courier New" pitchFamily="34" charset="0"/>
                <a:ea typeface="Courier New" pitchFamily="34" charset="-122"/>
                <a:cs typeface="Courier New" pitchFamily="34" charset="-120"/>
              </a:rPr>
              <a:t>serial motor MCU</a:t>
            </a:r>
            <a:endParaRPr lang="en-US" sz="1700" dirty="0"/>
          </a:p>
        </p:txBody>
      </p:sp>
      <p:sp>
        <p:nvSpPr>
          <p:cNvPr id="15" name="Shape 11"/>
          <p:cNvSpPr/>
          <p:nvPr/>
        </p:nvSpPr>
        <p:spPr>
          <a:xfrm>
            <a:off x="9052560" y="3328416"/>
            <a:ext cx="2395728" cy="749808"/>
          </a:xfrm>
          <a:prstGeom prst="rect">
            <a:avLst/>
          </a:prstGeom>
          <a:solidFill>
            <a:srgbClr val="DDE5FF"/>
          </a:solidFill>
          <a:ln w="26670">
            <a:solidFill>
              <a:srgbClr val="0B0B0B"/>
            </a:solidFill>
            <a:prstDash val="solid"/>
          </a:ln>
        </p:spPr>
      </p:sp>
      <p:sp>
        <p:nvSpPr>
          <p:cNvPr id="16" name="Text 12"/>
          <p:cNvSpPr/>
          <p:nvPr/>
        </p:nvSpPr>
        <p:spPr>
          <a:xfrm>
            <a:off x="9208008" y="3465576"/>
            <a:ext cx="2084832" cy="475488"/>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LiDAR + camera</a:t>
            </a:r>
            <a:endParaRPr lang="en-US" sz="1800" dirty="0"/>
          </a:p>
        </p:txBody>
      </p:sp>
      <p:sp>
        <p:nvSpPr>
          <p:cNvPr id="17" name="Text 13"/>
          <p:cNvSpPr/>
          <p:nvPr/>
        </p:nvSpPr>
        <p:spPr>
          <a:xfrm>
            <a:off x="5742432" y="4224528"/>
            <a:ext cx="5394960" cy="1005840"/>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bad abstraction becomes</a:t>
            </a:r>
            <a:endParaRPr lang="en-US" sz="2700" dirty="0"/>
          </a:p>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moving machine.</a:t>
            </a:r>
            <a:endParaRPr lang="en-US" sz="2700" dirty="0"/>
          </a:p>
        </p:txBody>
      </p:sp>
      <p:sp>
        <p:nvSpPr>
          <p:cNvPr id="18" name="Text 14"/>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WORKSPACE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05</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0B0B0B"/>
                </a:solidFill>
                <a:latin typeface="Arial" pitchFamily="34" charset="0"/>
                <a:ea typeface="Arial" pitchFamily="34" charset="-122"/>
                <a:cs typeface="Arial" pitchFamily="34" charset="-120"/>
              </a:rPr>
              <a:t>The crate graph is an authority graph.</a:t>
            </a:r>
            <a:endParaRPr lang="en-US" sz="3100" dirty="0"/>
          </a:p>
        </p:txBody>
      </p:sp>
      <p:sp>
        <p:nvSpPr>
          <p:cNvPr id="7" name="Shape 5"/>
          <p:cNvSpPr/>
          <p:nvPr/>
        </p:nvSpPr>
        <p:spPr>
          <a:xfrm>
            <a:off x="4480560" y="1307592"/>
            <a:ext cx="2788920" cy="914400"/>
          </a:xfrm>
          <a:prstGeom prst="rect">
            <a:avLst/>
          </a:prstGeom>
          <a:solidFill>
            <a:srgbClr val="B8FF32"/>
          </a:solidFill>
          <a:ln w="26670">
            <a:solidFill>
              <a:srgbClr val="0B0B0B"/>
            </a:solidFill>
            <a:prstDash val="solid"/>
          </a:ln>
        </p:spPr>
      </p:sp>
      <p:sp>
        <p:nvSpPr>
          <p:cNvPr id="8" name="Text 6"/>
          <p:cNvSpPr/>
          <p:nvPr/>
        </p:nvSpPr>
        <p:spPr>
          <a:xfrm>
            <a:off x="4636008" y="1444752"/>
            <a:ext cx="2478024" cy="64008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0B0B0B"/>
                </a:solidFill>
                <a:latin typeface="Courier New" pitchFamily="34" charset="0"/>
                <a:ea typeface="Courier New" pitchFamily="34" charset="-122"/>
                <a:cs typeface="Courier New" pitchFamily="34" charset="-120"/>
              </a:rPr>
              <a:t>leash-core</a:t>
            </a:r>
            <a:endParaRPr lang="en-US" sz="2000" dirty="0"/>
          </a:p>
          <a:p>
            <a:pPr algn="ctr" indent="0" marL="0">
              <a:lnSpc>
                <a:spcPct val="100000"/>
              </a:lnSpc>
              <a:buNone/>
            </a:pPr>
            <a:r>
              <a:rPr lang="en-US" sz="2000" b="1" dirty="0">
                <a:solidFill>
                  <a:srgbClr val="0B0B0B"/>
                </a:solidFill>
                <a:latin typeface="Courier New" pitchFamily="34" charset="0"/>
                <a:ea typeface="Courier New" pitchFamily="34" charset="-122"/>
                <a:cs typeface="Courier New" pitchFamily="34" charset="-120"/>
              </a:rPr>
              <a:t>no dependencies</a:t>
            </a:r>
            <a:endParaRPr lang="en-US" sz="2000" dirty="0"/>
          </a:p>
        </p:txBody>
      </p:sp>
      <p:sp>
        <p:nvSpPr>
          <p:cNvPr id="9" name="Shape 7"/>
          <p:cNvSpPr/>
          <p:nvPr/>
        </p:nvSpPr>
        <p:spPr>
          <a:xfrm>
            <a:off x="566928" y="2743200"/>
            <a:ext cx="1993392" cy="841248"/>
          </a:xfrm>
          <a:prstGeom prst="rect">
            <a:avLst/>
          </a:prstGeom>
          <a:solidFill>
            <a:srgbClr val="FFDCEB"/>
          </a:solidFill>
          <a:ln w="26670">
            <a:solidFill>
              <a:srgbClr val="0B0B0B"/>
            </a:solidFill>
            <a:prstDash val="solid"/>
          </a:ln>
        </p:spPr>
      </p:sp>
      <p:sp>
        <p:nvSpPr>
          <p:cNvPr id="10" name="Text 8"/>
          <p:cNvSpPr/>
          <p:nvPr/>
        </p:nvSpPr>
        <p:spPr>
          <a:xfrm>
            <a:off x="722376" y="28803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B0B0B"/>
                </a:solidFill>
                <a:latin typeface="Courier New" pitchFamily="34" charset="0"/>
                <a:ea typeface="Courier New" pitchFamily="34" charset="-122"/>
                <a:cs typeface="Courier New" pitchFamily="34" charset="-120"/>
              </a:rPr>
              <a:t>leash-runtime</a:t>
            </a:r>
            <a:endParaRPr lang="en-US" sz="1650" dirty="0"/>
          </a:p>
        </p:txBody>
      </p:sp>
      <p:sp>
        <p:nvSpPr>
          <p:cNvPr id="11" name="Shape 9"/>
          <p:cNvSpPr/>
          <p:nvPr/>
        </p:nvSpPr>
        <p:spPr>
          <a:xfrm>
            <a:off x="1563624" y="2670048"/>
            <a:ext cx="3401568" cy="-438912"/>
          </a:xfrm>
          <a:prstGeom prst="line">
            <a:avLst/>
          </a:prstGeom>
          <a:noFill/>
          <a:ln w="22860">
            <a:solidFill>
              <a:srgbClr val="0B0B0B"/>
            </a:solidFill>
            <a:prstDash val="solid"/>
            <a:tailEnd type="triangle"/>
          </a:ln>
        </p:spPr>
      </p:sp>
      <p:sp>
        <p:nvSpPr>
          <p:cNvPr id="12" name="Shape 10"/>
          <p:cNvSpPr/>
          <p:nvPr/>
        </p:nvSpPr>
        <p:spPr>
          <a:xfrm>
            <a:off x="2816352" y="2743200"/>
            <a:ext cx="1993392" cy="841248"/>
          </a:xfrm>
          <a:prstGeom prst="rect">
            <a:avLst/>
          </a:prstGeom>
          <a:solidFill>
            <a:srgbClr val="DDE5FF"/>
          </a:solidFill>
          <a:ln w="26670">
            <a:solidFill>
              <a:srgbClr val="0B0B0B"/>
            </a:solidFill>
            <a:prstDash val="solid"/>
          </a:ln>
        </p:spPr>
      </p:sp>
      <p:sp>
        <p:nvSpPr>
          <p:cNvPr id="13" name="Text 11"/>
          <p:cNvSpPr/>
          <p:nvPr/>
        </p:nvSpPr>
        <p:spPr>
          <a:xfrm>
            <a:off x="2971800" y="28803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B0B0B"/>
                </a:solidFill>
                <a:latin typeface="Courier New" pitchFamily="34" charset="0"/>
                <a:ea typeface="Courier New" pitchFamily="34" charset="-122"/>
                <a:cs typeface="Courier New" pitchFamily="34" charset="-120"/>
              </a:rPr>
              <a:t>leash-gateway</a:t>
            </a:r>
            <a:endParaRPr lang="en-US" sz="1650" dirty="0"/>
          </a:p>
        </p:txBody>
      </p:sp>
      <p:sp>
        <p:nvSpPr>
          <p:cNvPr id="14" name="Shape 12"/>
          <p:cNvSpPr/>
          <p:nvPr/>
        </p:nvSpPr>
        <p:spPr>
          <a:xfrm>
            <a:off x="3813048" y="2670048"/>
            <a:ext cx="1152144" cy="-438912"/>
          </a:xfrm>
          <a:prstGeom prst="line">
            <a:avLst/>
          </a:prstGeom>
          <a:noFill/>
          <a:ln w="22860">
            <a:solidFill>
              <a:srgbClr val="0B0B0B"/>
            </a:solidFill>
            <a:prstDash val="solid"/>
            <a:tailEnd type="triangle"/>
          </a:ln>
        </p:spPr>
      </p:sp>
      <p:sp>
        <p:nvSpPr>
          <p:cNvPr id="15" name="Shape 13"/>
          <p:cNvSpPr/>
          <p:nvPr/>
        </p:nvSpPr>
        <p:spPr>
          <a:xfrm>
            <a:off x="5065776" y="2743200"/>
            <a:ext cx="1993392" cy="841248"/>
          </a:xfrm>
          <a:prstGeom prst="rect">
            <a:avLst/>
          </a:prstGeom>
          <a:solidFill>
            <a:srgbClr val="FFF0AA"/>
          </a:solidFill>
          <a:ln w="26670">
            <a:solidFill>
              <a:srgbClr val="0B0B0B"/>
            </a:solidFill>
            <a:prstDash val="solid"/>
          </a:ln>
        </p:spPr>
      </p:sp>
      <p:sp>
        <p:nvSpPr>
          <p:cNvPr id="16" name="Text 14"/>
          <p:cNvSpPr/>
          <p:nvPr/>
        </p:nvSpPr>
        <p:spPr>
          <a:xfrm>
            <a:off x="5221224" y="28803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B0B0B"/>
                </a:solidFill>
                <a:latin typeface="Courier New" pitchFamily="34" charset="0"/>
                <a:ea typeface="Courier New" pitchFamily="34" charset="-122"/>
                <a:cs typeface="Courier New" pitchFamily="34" charset="-120"/>
              </a:rPr>
              <a:t>leash-ros2</a:t>
            </a:r>
            <a:endParaRPr lang="en-US" sz="1650" dirty="0"/>
          </a:p>
        </p:txBody>
      </p:sp>
      <p:sp>
        <p:nvSpPr>
          <p:cNvPr id="17" name="Shape 15"/>
          <p:cNvSpPr/>
          <p:nvPr/>
        </p:nvSpPr>
        <p:spPr>
          <a:xfrm>
            <a:off x="6062472" y="2670048"/>
            <a:ext cx="-1097280" cy="-438912"/>
          </a:xfrm>
          <a:prstGeom prst="line">
            <a:avLst/>
          </a:prstGeom>
          <a:noFill/>
          <a:ln w="22860">
            <a:solidFill>
              <a:srgbClr val="0B0B0B"/>
            </a:solidFill>
            <a:prstDash val="solid"/>
            <a:tailEnd type="triangle"/>
          </a:ln>
        </p:spPr>
      </p:sp>
      <p:sp>
        <p:nvSpPr>
          <p:cNvPr id="18" name="Shape 16"/>
          <p:cNvSpPr/>
          <p:nvPr/>
        </p:nvSpPr>
        <p:spPr>
          <a:xfrm>
            <a:off x="7315200" y="2743200"/>
            <a:ext cx="1993392" cy="841248"/>
          </a:xfrm>
          <a:prstGeom prst="rect">
            <a:avLst/>
          </a:prstGeom>
          <a:solidFill>
            <a:srgbClr val="E4FFAE"/>
          </a:solidFill>
          <a:ln w="26670">
            <a:solidFill>
              <a:srgbClr val="0B0B0B"/>
            </a:solidFill>
            <a:prstDash val="solid"/>
          </a:ln>
        </p:spPr>
      </p:sp>
      <p:sp>
        <p:nvSpPr>
          <p:cNvPr id="19" name="Text 17"/>
          <p:cNvSpPr/>
          <p:nvPr/>
        </p:nvSpPr>
        <p:spPr>
          <a:xfrm>
            <a:off x="7470648" y="28803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B0B0B"/>
                </a:solidFill>
                <a:latin typeface="Courier New" pitchFamily="34" charset="0"/>
                <a:ea typeface="Courier New" pitchFamily="34" charset="-122"/>
                <a:cs typeface="Courier New" pitchFamily="34" charset="-120"/>
              </a:rPr>
              <a:t>leash-waveshare</a:t>
            </a:r>
            <a:endParaRPr lang="en-US" sz="1650" dirty="0"/>
          </a:p>
        </p:txBody>
      </p:sp>
      <p:sp>
        <p:nvSpPr>
          <p:cNvPr id="20" name="Shape 18"/>
          <p:cNvSpPr/>
          <p:nvPr/>
        </p:nvSpPr>
        <p:spPr>
          <a:xfrm>
            <a:off x="8311896" y="2670048"/>
            <a:ext cx="-3346704" cy="-438912"/>
          </a:xfrm>
          <a:prstGeom prst="line">
            <a:avLst/>
          </a:prstGeom>
          <a:noFill/>
          <a:ln w="22860">
            <a:solidFill>
              <a:srgbClr val="0B0B0B"/>
            </a:solidFill>
            <a:prstDash val="solid"/>
            <a:tailEnd type="triangle"/>
          </a:ln>
        </p:spPr>
      </p:sp>
      <p:sp>
        <p:nvSpPr>
          <p:cNvPr id="21" name="Shape 19"/>
          <p:cNvSpPr/>
          <p:nvPr/>
        </p:nvSpPr>
        <p:spPr>
          <a:xfrm>
            <a:off x="9564624" y="2743200"/>
            <a:ext cx="1993392" cy="841248"/>
          </a:xfrm>
          <a:prstGeom prst="rect">
            <a:avLst/>
          </a:prstGeom>
          <a:solidFill>
            <a:srgbClr val="FFDCEB"/>
          </a:solidFill>
          <a:ln w="26670">
            <a:solidFill>
              <a:srgbClr val="0B0B0B"/>
            </a:solidFill>
            <a:prstDash val="solid"/>
          </a:ln>
        </p:spPr>
      </p:sp>
      <p:sp>
        <p:nvSpPr>
          <p:cNvPr id="22" name="Text 20"/>
          <p:cNvSpPr/>
          <p:nvPr/>
        </p:nvSpPr>
        <p:spPr>
          <a:xfrm>
            <a:off x="9720072" y="28803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B0B0B"/>
                </a:solidFill>
                <a:latin typeface="Courier New" pitchFamily="34" charset="0"/>
                <a:ea typeface="Courier New" pitchFamily="34" charset="-122"/>
                <a:cs typeface="Courier New" pitchFamily="34" charset="-120"/>
              </a:rPr>
              <a:t>leash-cuda</a:t>
            </a:r>
            <a:endParaRPr lang="en-US" sz="1650" dirty="0"/>
          </a:p>
        </p:txBody>
      </p:sp>
      <p:sp>
        <p:nvSpPr>
          <p:cNvPr id="23" name="Shape 21"/>
          <p:cNvSpPr/>
          <p:nvPr/>
        </p:nvSpPr>
        <p:spPr>
          <a:xfrm>
            <a:off x="10561320" y="2670048"/>
            <a:ext cx="-5596128" cy="-438912"/>
          </a:xfrm>
          <a:prstGeom prst="line">
            <a:avLst/>
          </a:prstGeom>
          <a:noFill/>
          <a:ln w="22860">
            <a:solidFill>
              <a:srgbClr val="0B0B0B"/>
            </a:solidFill>
            <a:prstDash val="solid"/>
            <a:tailEnd type="triangle"/>
          </a:ln>
        </p:spPr>
      </p:sp>
      <p:sp>
        <p:nvSpPr>
          <p:cNvPr id="24" name="Shape 22"/>
          <p:cNvSpPr/>
          <p:nvPr/>
        </p:nvSpPr>
        <p:spPr>
          <a:xfrm>
            <a:off x="5065776" y="4343400"/>
            <a:ext cx="1993392" cy="841248"/>
          </a:xfrm>
          <a:prstGeom prst="rect">
            <a:avLst/>
          </a:prstGeom>
          <a:solidFill>
            <a:srgbClr val="FFFDF7"/>
          </a:solidFill>
          <a:ln w="26670">
            <a:solidFill>
              <a:srgbClr val="0B0B0B"/>
            </a:solidFill>
            <a:prstDash val="solid"/>
          </a:ln>
        </p:spPr>
      </p:sp>
      <p:sp>
        <p:nvSpPr>
          <p:cNvPr id="25" name="Text 23"/>
          <p:cNvSpPr/>
          <p:nvPr/>
        </p:nvSpPr>
        <p:spPr>
          <a:xfrm>
            <a:off x="5221224" y="4480560"/>
            <a:ext cx="1682496" cy="566928"/>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0B0B0B"/>
                </a:solidFill>
                <a:latin typeface="Courier New" pitchFamily="34" charset="0"/>
                <a:ea typeface="Courier New" pitchFamily="34" charset="-122"/>
                <a:cs typeface="Courier New" pitchFamily="34" charset="-120"/>
              </a:rPr>
              <a:t>replay</a:t>
            </a:r>
            <a:endParaRPr lang="en-US" sz="1700" dirty="0"/>
          </a:p>
        </p:txBody>
      </p:sp>
      <p:sp>
        <p:nvSpPr>
          <p:cNvPr id="26" name="Shape 24"/>
          <p:cNvSpPr/>
          <p:nvPr/>
        </p:nvSpPr>
        <p:spPr>
          <a:xfrm>
            <a:off x="6062472" y="4261104"/>
            <a:ext cx="0" cy="-548640"/>
          </a:xfrm>
          <a:prstGeom prst="line">
            <a:avLst/>
          </a:prstGeom>
          <a:noFill/>
          <a:ln w="22860">
            <a:solidFill>
              <a:srgbClr val="0B0B0B"/>
            </a:solidFill>
            <a:prstDash val="solid"/>
            <a:tailEnd type="triangle"/>
          </a:ln>
        </p:spPr>
      </p:sp>
      <p:sp>
        <p:nvSpPr>
          <p:cNvPr id="27" name="Text 25"/>
          <p:cNvSpPr/>
          <p:nvPr/>
        </p:nvSpPr>
        <p:spPr>
          <a:xfrm>
            <a:off x="1417320" y="5504688"/>
            <a:ext cx="9326880" cy="457200"/>
          </a:xfrm>
          <a:prstGeom prst="rect">
            <a:avLst/>
          </a:prstGeom>
          <a:noFill/>
          <a:ln/>
        </p:spPr>
        <p:txBody>
          <a:bodyPr wrap="square" lIns="0" tIns="0" rIns="0" bIns="0" rtlCol="0" anchor="t">
            <a:normAutofit/>
          </a:bodyPr>
          <a:lstStyle/>
          <a:p>
            <a:pPr algn="ctr" indent="0" marL="0">
              <a:lnSpc>
                <a:spcPct val="100000"/>
              </a:lnSpc>
              <a:buNone/>
            </a:pPr>
            <a:r>
              <a:rPr lang="en-US" sz="2300" b="1" dirty="0">
                <a:solidFill>
                  <a:srgbClr val="0B0B0B"/>
                </a:solidFill>
                <a:latin typeface="Arial" pitchFamily="34" charset="0"/>
                <a:ea typeface="Arial" pitchFamily="34" charset="-122"/>
                <a:cs typeface="Arial" pitchFamily="34" charset="-120"/>
              </a:rPr>
              <a:t>Dependencies point inward. Physical authority stays narrow.</a:t>
            </a:r>
            <a:endParaRPr lang="en-US" sz="2300" dirty="0"/>
          </a:p>
        </p:txBody>
      </p:sp>
      <p:sp>
        <p:nvSpPr>
          <p:cNvPr id="28" name="Text 26"/>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55FF"/>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WHY RUST</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06</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FFFFFF"/>
                </a:solidFill>
                <a:latin typeface="Arial" pitchFamily="34" charset="0"/>
                <a:ea typeface="Arial" pitchFamily="34" charset="-122"/>
                <a:cs typeface="Arial" pitchFamily="34" charset="-120"/>
              </a:rPr>
              <a:t>Use the compiler to make illegal motion awkward.</a:t>
            </a:r>
            <a:endParaRPr lang="en-US" sz="3200" dirty="0"/>
          </a:p>
        </p:txBody>
      </p:sp>
      <p:sp>
        <p:nvSpPr>
          <p:cNvPr id="7" name="Shape 5"/>
          <p:cNvSpPr/>
          <p:nvPr/>
        </p:nvSpPr>
        <p:spPr>
          <a:xfrm>
            <a:off x="640080" y="1353312"/>
            <a:ext cx="2148840" cy="658368"/>
          </a:xfrm>
          <a:prstGeom prst="rect">
            <a:avLst/>
          </a:prstGeom>
          <a:solidFill>
            <a:srgbClr val="B8FF32"/>
          </a:solidFill>
          <a:ln w="26670">
            <a:solidFill>
              <a:srgbClr val="0B0B0B"/>
            </a:solidFill>
            <a:prstDash val="solid"/>
          </a:ln>
        </p:spPr>
      </p:sp>
      <p:sp>
        <p:nvSpPr>
          <p:cNvPr id="8" name="Text 6"/>
          <p:cNvSpPr/>
          <p:nvPr/>
        </p:nvSpPr>
        <p:spPr>
          <a:xfrm>
            <a:off x="795528" y="1490472"/>
            <a:ext cx="1837944"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0B0B"/>
                </a:solidFill>
                <a:latin typeface="Courier New" pitchFamily="34" charset="0"/>
                <a:ea typeface="Courier New" pitchFamily="34" charset="-122"/>
                <a:cs typeface="Courier New" pitchFamily="34" charset="-120"/>
              </a:rPr>
              <a:t>NEWTYPE</a:t>
            </a:r>
            <a:endParaRPr lang="en-US" sz="1600" dirty="0"/>
          </a:p>
        </p:txBody>
      </p:sp>
      <p:sp>
        <p:nvSpPr>
          <p:cNvPr id="9" name="Text 7"/>
          <p:cNvSpPr/>
          <p:nvPr/>
        </p:nvSpPr>
        <p:spPr>
          <a:xfrm>
            <a:off x="3090672" y="1472184"/>
            <a:ext cx="7955280" cy="36576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validate once; keep raw floats out</a:t>
            </a:r>
            <a:endParaRPr lang="en-US" sz="2200" dirty="0"/>
          </a:p>
        </p:txBody>
      </p:sp>
      <p:sp>
        <p:nvSpPr>
          <p:cNvPr id="10" name="Shape 8"/>
          <p:cNvSpPr/>
          <p:nvPr/>
        </p:nvSpPr>
        <p:spPr>
          <a:xfrm>
            <a:off x="640080" y="2231136"/>
            <a:ext cx="2148840" cy="658368"/>
          </a:xfrm>
          <a:prstGeom prst="rect">
            <a:avLst/>
          </a:prstGeom>
          <a:solidFill>
            <a:srgbClr val="FF5B9D"/>
          </a:solidFill>
          <a:ln w="26670">
            <a:solidFill>
              <a:srgbClr val="0B0B0B"/>
            </a:solidFill>
            <a:prstDash val="solid"/>
          </a:ln>
        </p:spPr>
      </p:sp>
      <p:sp>
        <p:nvSpPr>
          <p:cNvPr id="11" name="Text 9"/>
          <p:cNvSpPr/>
          <p:nvPr/>
        </p:nvSpPr>
        <p:spPr>
          <a:xfrm>
            <a:off x="795528" y="2368296"/>
            <a:ext cx="1837944"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0B0B"/>
                </a:solidFill>
                <a:latin typeface="Courier New" pitchFamily="34" charset="0"/>
                <a:ea typeface="Courier New" pitchFamily="34" charset="-122"/>
                <a:cs typeface="Courier New" pitchFamily="34" charset="-120"/>
              </a:rPr>
              <a:t>TYPESTATE</a:t>
            </a:r>
            <a:endParaRPr lang="en-US" sz="1600" dirty="0"/>
          </a:p>
        </p:txBody>
      </p:sp>
      <p:sp>
        <p:nvSpPr>
          <p:cNvPr id="12" name="Text 10"/>
          <p:cNvSpPr/>
          <p:nvPr/>
        </p:nvSpPr>
        <p:spPr>
          <a:xfrm>
            <a:off x="3090672" y="2350008"/>
            <a:ext cx="7955280" cy="36576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authorization cannot be forged</a:t>
            </a:r>
            <a:endParaRPr lang="en-US" sz="2200" dirty="0"/>
          </a:p>
        </p:txBody>
      </p:sp>
      <p:sp>
        <p:nvSpPr>
          <p:cNvPr id="13" name="Shape 11"/>
          <p:cNvSpPr/>
          <p:nvPr/>
        </p:nvSpPr>
        <p:spPr>
          <a:xfrm>
            <a:off x="640080" y="3108960"/>
            <a:ext cx="2148840" cy="658368"/>
          </a:xfrm>
          <a:prstGeom prst="rect">
            <a:avLst/>
          </a:prstGeom>
          <a:solidFill>
            <a:srgbClr val="B8FF32"/>
          </a:solidFill>
          <a:ln w="26670">
            <a:solidFill>
              <a:srgbClr val="0B0B0B"/>
            </a:solidFill>
            <a:prstDash val="solid"/>
          </a:ln>
        </p:spPr>
      </p:sp>
      <p:sp>
        <p:nvSpPr>
          <p:cNvPr id="14" name="Text 12"/>
          <p:cNvSpPr/>
          <p:nvPr/>
        </p:nvSpPr>
        <p:spPr>
          <a:xfrm>
            <a:off x="795528" y="3246120"/>
            <a:ext cx="1837944"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0B0B"/>
                </a:solidFill>
                <a:latin typeface="Courier New" pitchFamily="34" charset="0"/>
                <a:ea typeface="Courier New" pitchFamily="34" charset="-122"/>
                <a:cs typeface="Courier New" pitchFamily="34" charset="-120"/>
              </a:rPr>
              <a:t>TRAITS</a:t>
            </a:r>
            <a:endParaRPr lang="en-US" sz="1600" dirty="0"/>
          </a:p>
        </p:txBody>
      </p:sp>
      <p:sp>
        <p:nvSpPr>
          <p:cNvPr id="15" name="Text 13"/>
          <p:cNvSpPr/>
          <p:nvPr/>
        </p:nvSpPr>
        <p:spPr>
          <a:xfrm>
            <a:off x="3090672" y="3227832"/>
            <a:ext cx="7955280" cy="36576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hardware varies; contract does not</a:t>
            </a:r>
            <a:endParaRPr lang="en-US" sz="2200" dirty="0"/>
          </a:p>
        </p:txBody>
      </p:sp>
      <p:sp>
        <p:nvSpPr>
          <p:cNvPr id="16" name="Shape 14"/>
          <p:cNvSpPr/>
          <p:nvPr/>
        </p:nvSpPr>
        <p:spPr>
          <a:xfrm>
            <a:off x="640080" y="3986784"/>
            <a:ext cx="2148840" cy="658368"/>
          </a:xfrm>
          <a:prstGeom prst="rect">
            <a:avLst/>
          </a:prstGeom>
          <a:solidFill>
            <a:srgbClr val="FF5B9D"/>
          </a:solidFill>
          <a:ln w="26670">
            <a:solidFill>
              <a:srgbClr val="0B0B0B"/>
            </a:solidFill>
            <a:prstDash val="solid"/>
          </a:ln>
        </p:spPr>
      </p:sp>
      <p:sp>
        <p:nvSpPr>
          <p:cNvPr id="17" name="Text 15"/>
          <p:cNvSpPr/>
          <p:nvPr/>
        </p:nvSpPr>
        <p:spPr>
          <a:xfrm>
            <a:off x="795528" y="4123944"/>
            <a:ext cx="1837944"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0B0B"/>
                </a:solidFill>
                <a:latin typeface="Courier New" pitchFamily="34" charset="0"/>
                <a:ea typeface="Courier New" pitchFamily="34" charset="-122"/>
                <a:cs typeface="Courier New" pitchFamily="34" charset="-120"/>
              </a:rPr>
              <a:t>OWNERSHIP</a:t>
            </a:r>
            <a:endParaRPr lang="en-US" sz="1600" dirty="0"/>
          </a:p>
        </p:txBody>
      </p:sp>
      <p:sp>
        <p:nvSpPr>
          <p:cNvPr id="18" name="Text 16"/>
          <p:cNvSpPr/>
          <p:nvPr/>
        </p:nvSpPr>
        <p:spPr>
          <a:xfrm>
            <a:off x="3090672" y="4105656"/>
            <a:ext cx="7955280" cy="36576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one thread owns physical I/O</a:t>
            </a:r>
            <a:endParaRPr lang="en-US" sz="2200" dirty="0"/>
          </a:p>
        </p:txBody>
      </p:sp>
      <p:sp>
        <p:nvSpPr>
          <p:cNvPr id="19" name="Shape 17"/>
          <p:cNvSpPr/>
          <p:nvPr/>
        </p:nvSpPr>
        <p:spPr>
          <a:xfrm>
            <a:off x="640080" y="4864608"/>
            <a:ext cx="2148840" cy="658368"/>
          </a:xfrm>
          <a:prstGeom prst="rect">
            <a:avLst/>
          </a:prstGeom>
          <a:solidFill>
            <a:srgbClr val="B8FF32"/>
          </a:solidFill>
          <a:ln w="26670">
            <a:solidFill>
              <a:srgbClr val="0B0B0B"/>
            </a:solidFill>
            <a:prstDash val="solid"/>
          </a:ln>
        </p:spPr>
      </p:sp>
      <p:sp>
        <p:nvSpPr>
          <p:cNvPr id="20" name="Text 18"/>
          <p:cNvSpPr/>
          <p:nvPr/>
        </p:nvSpPr>
        <p:spPr>
          <a:xfrm>
            <a:off x="795528" y="5001768"/>
            <a:ext cx="1837944"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0B0B"/>
                </a:solidFill>
                <a:latin typeface="Courier New" pitchFamily="34" charset="0"/>
                <a:ea typeface="Courier New" pitchFamily="34" charset="-122"/>
                <a:cs typeface="Courier New" pitchFamily="34" charset="-120"/>
              </a:rPr>
              <a:t>DROP</a:t>
            </a:r>
            <a:endParaRPr lang="en-US" sz="1600" dirty="0"/>
          </a:p>
        </p:txBody>
      </p:sp>
      <p:sp>
        <p:nvSpPr>
          <p:cNvPr id="21" name="Text 19"/>
          <p:cNvSpPr/>
          <p:nvPr/>
        </p:nvSpPr>
        <p:spPr>
          <a:xfrm>
            <a:off x="3090672" y="4983480"/>
            <a:ext cx="7955280" cy="36576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shutdown is part of the type lifecycle</a:t>
            </a:r>
            <a:endParaRPr lang="en-US" sz="2200" dirty="0"/>
          </a:p>
        </p:txBody>
      </p:sp>
      <p:sp>
        <p:nvSpPr>
          <p:cNvPr id="22" name="Text 20"/>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Rust Tuesdays • types are part of the control plane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UNSAFE POLICY</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07</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Unsafe is denied by default, then isolated.</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crate roots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 leash-runtime/src/lib.rs</a:t>
            </a: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#![forbid(unsafe_code)]</a:t>
            </a:r>
            <a:endParaRPr lang="en-US" sz="1700" dirty="0"/>
          </a:p>
          <a:p>
            <a:pPr algn="l" indent="0" marL="0">
              <a:lnSpc>
                <a:spcPct val="100000"/>
              </a:lnSpc>
              <a:buNone/>
            </a:pP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 leash-waveshare/src/lib.rs</a:t>
            </a: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#![forbid(unsafe_code)]</a:t>
            </a:r>
            <a:endParaRPr lang="en-US" sz="1700" dirty="0"/>
          </a:p>
          <a:p>
            <a:pPr algn="l" indent="0" marL="0">
              <a:lnSpc>
                <a:spcPct val="100000"/>
              </a:lnSpc>
              <a:buNone/>
            </a:pP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 leash-cuda/src/lib.rs</a:t>
            </a: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#![deny(unsafe_code)]</a:t>
            </a:r>
            <a:endParaRPr lang="en-US" sz="1700" dirty="0"/>
          </a:p>
          <a:p>
            <a:pPr algn="l" indent="0" marL="0">
              <a:lnSpc>
                <a:spcPct val="100000"/>
              </a:lnSpc>
              <a:buNone/>
            </a:pP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#[cfg(feature = "cuda")]</a:t>
            </a: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#[allow(unsafe_code)]</a:t>
            </a:r>
            <a:endParaRPr lang="en-US" sz="1700" dirty="0"/>
          </a:p>
          <a:p>
            <a:pPr algn="l" indent="0" marL="0">
              <a:lnSpc>
                <a:spcPct val="100000"/>
              </a:lnSpc>
              <a:buNone/>
            </a:pPr>
            <a:r>
              <a:rPr lang="en-US" sz="1700" dirty="0">
                <a:solidFill>
                  <a:srgbClr val="FFFFFF"/>
                </a:solidFill>
                <a:latin typeface="Courier New" pitchFamily="34" charset="0"/>
                <a:ea typeface="Courier New" pitchFamily="34" charset="-122"/>
                <a:cs typeface="Courier New" pitchFamily="34" charset="-120"/>
              </a:rPr>
              <a:t>mod device;</a:t>
            </a:r>
            <a:endParaRPr lang="en-US" sz="170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The default is a compiler error.</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exception is named and feature-gated.</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Review the island, not the ocean.</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NEWTYPES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08</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private field turns validation into a constructor.</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#[derive(Debug, Clone, Copy, Default, PartialEq, PartialOrd)]</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pub struct NormalizedDrive(f64);</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impl NormalizedDrive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pub const ZERO: Self = Self(0.0);</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pub fn new(value: f64) -&gt; Result&lt;Self, DomainError&gt;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if !value.is_finite()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return Err(DomainError::NonFinite("normalized drive"));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if !(-1.0..=1.0).contains(&amp;value)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return Err(DomainError::OutOfRange("normalized drive"));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Ok(Self(value))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Tuple field is private.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All construction crosses one gate.</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Downstream code receives a proof.</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DATA SEMANTICS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09</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Derives are an API decision, not decoration.</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#[derive(Debug, Clone, Copy, Default, PartialEq, PartialOrd)]</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pub struct NormalizedDrive(f64);</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#[derive(Debug, Clone, Copy, Default, PartialEq)]</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pub struct DifferentialDrive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pub left: NormalizedDrive,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pub right: NormalizedDrive,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impl DifferentialDrive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pub const STOP: Self = Self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left: NormalizedDrive::ZERO,</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right: NormalizedDrive::ZERO,</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Copy is safe because the value is tiny and immutable.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PartialEq supports exact protocol tests.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STOP is a canonical, allocation-free value.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MACROS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10</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One macro stamps the same invariant onto every unit.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D63D"/>
            </a:solidFill>
            <a:prstDash val="solid"/>
          </a:ln>
        </p:spPr>
      </p:sp>
      <p:sp>
        <p:nvSpPr>
          <p:cNvPr id="8" name="Shape 6"/>
          <p:cNvSpPr/>
          <p:nvPr/>
        </p:nvSpPr>
        <p:spPr>
          <a:xfrm>
            <a:off x="502920" y="1389888"/>
            <a:ext cx="7543800" cy="356616"/>
          </a:xfrm>
          <a:prstGeom prst="rect">
            <a:avLst/>
          </a:prstGeom>
          <a:solidFill>
            <a:srgbClr val="FFD63D"/>
          </a:solidFill>
          <a:ln w="12700">
            <a:solidFill>
              <a:srgbClr val="FFD63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leash-core/src/units.rs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macro_rules! finite_unit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($name:ident, $label:literal) =&gt;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#[derive(Clone, Copy, Debug, PartialEq)]</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struct $name(f64);</a:t>
            </a:r>
            <a:endParaRPr lang="en-US" sz="1570" dirty="0"/>
          </a:p>
          <a:p>
            <a:pPr algn="l" indent="0" marL="0">
              <a:lnSpc>
                <a:spcPct val="100000"/>
              </a:lnSpc>
              <a:buNone/>
            </a:pP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impl $name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fn new(value: f64) -&gt; Result&lt;Self, DomainError&gt;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if !value.is_finite()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return Err(DomainError::NonFinite($label));</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Ok(Self(value))</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a:t>
            </a:r>
            <a:endParaRPr lang="en-US" sz="1570" dirty="0"/>
          </a:p>
        </p:txBody>
      </p:sp>
      <p:sp>
        <p:nvSpPr>
          <p:cNvPr id="11" name="Shape 9"/>
          <p:cNvSpPr/>
          <p:nvPr/>
        </p:nvSpPr>
        <p:spPr>
          <a:xfrm>
            <a:off x="8275320" y="1389888"/>
            <a:ext cx="3410712" cy="1551432"/>
          </a:xfrm>
          <a:prstGeom prst="rect">
            <a:avLst/>
          </a:prstGeom>
          <a:solidFill>
            <a:srgbClr val="FFD63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macro_rules! removes invariant drift.</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Each expansion is still a distinct type.</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Meters cannot silently become radians.</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VALID STATES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11</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NonZeroU64 removes an invalid state from memory.</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leash-core/src/time.rs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#[derive(Debug, Clone, Copy, PartialEq, Eq, PartialOrd, Ord, Hash)]</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pub struct Sequence(NonZeroU64);</a:t>
            </a:r>
            <a:endParaRPr lang="en-US" sz="1590" dirty="0"/>
          </a:p>
          <a:p>
            <a:pPr algn="l" indent="0" marL="0">
              <a:lnSpc>
                <a:spcPct val="100000"/>
              </a:lnSpc>
              <a:buNone/>
            </a:pP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impl Sequence {</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pub fn new(value: u64) -&gt; Result&lt;Self, DomainError&gt; {</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NonZeroU64::new(value)</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.map(Self)</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.ok_or(DomainError::Zero("sequence"))</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a:t>
            </a:r>
            <a:endParaRPr lang="en-US" sz="1590" dirty="0"/>
          </a:p>
          <a:p>
            <a:pPr algn="l" indent="0" marL="0">
              <a:lnSpc>
                <a:spcPct val="100000"/>
              </a:lnSpc>
              <a:buNone/>
            </a:pP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pub fn next(self) -&gt; Result&lt;Self, DomainError&gt; {</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self.get()</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.checked_add(1)</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.ok_or(DomainError::Overflow("sequence"))</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.and_then(Self::new)</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    }</a:t>
            </a:r>
            <a:endParaRPr lang="en-US" sz="1590" dirty="0"/>
          </a:p>
          <a:p>
            <a:pPr algn="l" indent="0" marL="0">
              <a:lnSpc>
                <a:spcPct val="100000"/>
              </a:lnSpc>
              <a:buNone/>
            </a:pPr>
            <a:r>
              <a:rPr lang="en-US" sz="1590" dirty="0">
                <a:solidFill>
                  <a:srgbClr val="FFFFFF"/>
                </a:solidFill>
                <a:latin typeface="Courier New" pitchFamily="34" charset="0"/>
                <a:ea typeface="Courier New" pitchFamily="34" charset="-122"/>
                <a:cs typeface="Courier New" pitchFamily="34" charset="-120"/>
              </a:rPr>
              <a:t>}</a:t>
            </a:r>
            <a:endParaRPr lang="en-US" sz="159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Zero cannot be represented.</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checked_add makes overflow explicit.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Option says absence is ordinary, not exceptional.</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TIME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12</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Time arithmetic is checked and domain-specific.</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leash-core/src/time.rs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#[derive(Debug, Clone, Copy, Default, PartialEq, Eq, PartialOrd, Ord, Hash)]</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struct MonotonicNanos(u64);</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impl MonotonicNanos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fn checked_add(self, duration: DurationNanos)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-&gt; Result&lt;Self, DomainError&gt;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self.0</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.checked_add(duration.0)</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.map(Self)</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.ok_or(DomainError::Overflow("monotonic timestamp"))</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fn duration_since(self, earlier: Self)</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-&gt; Result&lt;DurationNanos, DomainError&gt;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self.0</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.checked_sub(earlier.0)</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.map(DurationNanos)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.ok_or(DomainError::TimeReversed)</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Monotonic is not wall-clock time.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Subtraction cannot go negative unnoticed.</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Overflow is visible in the return type.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GENERICS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13</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Stamped&lt;T&gt;::map moves metadata without cloning it.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leash-core/src/time.rs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#[derive(Debug, Clone, PartialEq, Eq)]</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pub struct Stamped&lt;T&gt;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pub at: MonotonicNanos,</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pub sequence: Sequence,</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pub value: T,</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a:t>
            </a:r>
            <a:endParaRPr lang="en-US" sz="1520" dirty="0"/>
          </a:p>
          <a:p>
            <a:pPr algn="l" indent="0" marL="0">
              <a:lnSpc>
                <a:spcPct val="100000"/>
              </a:lnSpc>
              <a:buNone/>
            </a:pP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impl&lt;T&gt; Stamped&lt;T&gt;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pub fn map&lt;U&gt;(self, transform: impl FnOnce(T) -&gt; U) -&gt; Stamped&lt;U&gt;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Stamped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at: self.at,</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sequence: self.sequence,</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value: transform(self.value),</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a:t>
            </a:r>
            <a:endParaRPr lang="en-US" sz="152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self is consumed: no partial alias survives.</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FnOnce permits transforms that consume captures.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Only the payload type changes.</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PROPOSALS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14</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Candidate&lt;C&gt; carries intent, identity, and a deadline.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DDE5FF"/>
            </a:solidFill>
            <a:prstDash val="solid"/>
          </a:ln>
        </p:spPr>
      </p:sp>
      <p:sp>
        <p:nvSpPr>
          <p:cNvPr id="8" name="Shape 6"/>
          <p:cNvSpPr/>
          <p:nvPr/>
        </p:nvSpPr>
        <p:spPr>
          <a:xfrm>
            <a:off x="502920" y="1389888"/>
            <a:ext cx="7543800" cy="356616"/>
          </a:xfrm>
          <a:prstGeom prst="rect">
            <a:avLst/>
          </a:prstGeom>
          <a:solidFill>
            <a:srgbClr val="DDE5FF"/>
          </a:solidFill>
          <a:ln w="12700">
            <a:solidFill>
              <a:srgbClr val="DDE5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#[derive(Debug, Clone, PartialEq)]</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pub struct Candidate&lt;C&gt;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id: CommandId,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issued_at: MonotonicNanos,</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deadline: MonotonicNanos,</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command: C,</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a:t>
            </a:r>
            <a:endParaRPr lang="en-US" sz="1570" dirty="0"/>
          </a:p>
          <a:p>
            <a:pPr algn="l" indent="0" marL="0">
              <a:lnSpc>
                <a:spcPct val="100000"/>
              </a:lnSpc>
              <a:buNone/>
            </a:pP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impl&lt;C&gt; Candidate&lt;C&gt;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const fn new(</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id: CommandId,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issued_at: MonotonicNanos,</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deadline: MonotonicNanos,</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command: C,</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 -&gt; Self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Self { id, issued_at, deadline, command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a:t>
            </a:r>
            <a:endParaRPr lang="en-US" sz="1570" dirty="0"/>
          </a:p>
        </p:txBody>
      </p:sp>
      <p:sp>
        <p:nvSpPr>
          <p:cNvPr id="11" name="Shape 9"/>
          <p:cNvSpPr/>
          <p:nvPr/>
        </p:nvSpPr>
        <p:spPr>
          <a:xfrm>
            <a:off x="8275320" y="1389888"/>
            <a:ext cx="3410712" cy="1551432"/>
          </a:xfrm>
          <a:prstGeom prst="rect">
            <a:avLst/>
          </a:prstGeom>
          <a:solidFill>
            <a:srgbClr val="DDE5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C keeps the envelope command-agnostic.</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CommandId binds producer epoch and sequence.</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 proposal is data, never authority.</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TYPESTATE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15</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Authorization is a value you cannot construct outside core.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#[derive(Debug, Clone, PartialEq)]</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pub struct Authorized&lt;C&gt;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command_id: CommandId,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evidence_id: EvidenceId,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authorized_at: MonotonicNanos,</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command: C,</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a:t>
            </a:r>
            <a:endParaRPr lang="en-US" sz="1570" dirty="0"/>
          </a:p>
          <a:p>
            <a:pPr algn="l" indent="0" marL="0">
              <a:lnSpc>
                <a:spcPct val="100000"/>
              </a:lnSpc>
              <a:buNone/>
            </a:pP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impl&lt;C&gt; Authorized&lt;C&gt;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const fn command_id(&amp;self) -&gt; CommandId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self.command_id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const fn evidence_id(&amp;self) -&gt; EvidenceId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self.evidence_id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pub fn command(&amp;self) -&gt; &amp;C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&amp;self.command</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    }</a:t>
            </a:r>
            <a:endParaRPr lang="en-US" sz="1570" dirty="0"/>
          </a:p>
          <a:p>
            <a:pPr algn="l" indent="0" marL="0">
              <a:lnSpc>
                <a:spcPct val="100000"/>
              </a:lnSpc>
              <a:buNone/>
            </a:pPr>
            <a:r>
              <a:rPr lang="en-US" sz="1570" dirty="0">
                <a:solidFill>
                  <a:srgbClr val="FFFFFF"/>
                </a:solidFill>
                <a:latin typeface="Courier New" pitchFamily="34" charset="0"/>
                <a:ea typeface="Courier New" pitchFamily="34" charset="-122"/>
                <a:cs typeface="Courier New" pitchFamily="34" charset="-120"/>
              </a:rPr>
              <a:t>}</a:t>
            </a:r>
            <a:endParaRPr lang="en-US" sz="157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Private fields block struct literals downstream.</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Accessors expose facts, not construction power.</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type is a capability token.</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CONTROL FLOW</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16</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gate consumes a proposal and returns a capability.</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pub fn authorize&lt;C&gt;(</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&amp;mut self,</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candidate: Candidate&lt;C&gt;,</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now: MonotonicNanos,</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-&gt; Result&lt;Authorized&lt;C&gt;, SafetyDenial&gt;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match self.state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SafetyState::Disarmed =&gt; return Err(SafetyDenial::Disarmed),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SafetyState::EStopped =&gt; return Err(SafetyDenial::EStopped),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SafetyState::Faulted =&gt; return Err(SafetyDenial::Faulted),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SafetyState::Ready | SafetyState::Moving =&gt;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if candidate.issued_at &gt; now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return Err(SafetyDenial::IssuedInFuture);</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if candidate.deadline &lt; now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return Err(SafetyDenial::Expired);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let evidence_id = self.next_evidence_id()?;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Ok(Authorized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command_id: candidate.id,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evidence_id,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authorized_at: now,</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command: candidate.command,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a:t>
            </a:r>
            <a:endParaRPr lang="en-US" sz="139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candidate is moved: it cannot be reused accidentally.</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match is exhaustive over safety state.</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 exits on the first failed proof.</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COMPILE-FAIL TESTS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17</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public API is tested by code that must not compile.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EF3340"/>
            </a:solidFill>
            <a:prstDash val="solid"/>
          </a:ln>
        </p:spPr>
      </p:sp>
      <p:sp>
        <p:nvSpPr>
          <p:cNvPr id="8" name="Shape 6"/>
          <p:cNvSpPr/>
          <p:nvPr/>
        </p:nvSpPr>
        <p:spPr>
          <a:xfrm>
            <a:off x="502920" y="1389888"/>
            <a:ext cx="7543800" cy="356616"/>
          </a:xfrm>
          <a:prstGeom prst="rect">
            <a:avLst/>
          </a:prstGeom>
          <a:solidFill>
            <a:srgbClr val="EF3340"/>
          </a:solidFill>
          <a:ln w="12700">
            <a:solidFill>
              <a:srgbClr val="EF3340"/>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leash-core/src/drive.rs doctest</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\`\`\`compile_fail</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use leash_core::DifferentialDrive;</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let _command = DifferentialDrive::new(0.5, 0.5);</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a:t>
            </a:r>
            <a:endParaRPr lang="en-US" sz="1560" dirty="0"/>
          </a:p>
          <a:p>
            <a:pPr algn="l" indent="0" marL="0">
              <a:lnSpc>
                <a:spcPct val="100000"/>
              </a:lnSpc>
              <a:buNone/>
            </a:pP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\`\`\`compile_fail</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use leash_core::{Authorized, DifferentialDrive};</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let _forged = Authorized::&lt;DifferentialDrive&gt; {</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command: DifferentialDrive::STOP,</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a:t>
            </a:r>
            <a:endParaRPr lang="en-US" sz="1560" dirty="0"/>
          </a:p>
          <a:p>
            <a:pPr algn="l" indent="0" marL="0">
              <a:lnSpc>
                <a:spcPct val="100000"/>
              </a:lnSpc>
              <a:buNone/>
            </a:pPr>
            <a:r>
              <a:rPr lang="en-US" sz="1560" dirty="0">
                <a:solidFill>
                  <a:srgbClr val="FFFFFF"/>
                </a:solidFill>
                <a:latin typeface="Courier New" pitchFamily="34" charset="0"/>
                <a:ea typeface="Courier New" pitchFamily="34" charset="-122"/>
                <a:cs typeface="Courier New" pitchFamily="34" charset="-120"/>
              </a:rPr>
              <a:t>/// \`\`\`</a:t>
            </a:r>
            <a:endParaRPr lang="en-US" sz="1560" dirty="0"/>
          </a:p>
        </p:txBody>
      </p:sp>
      <p:sp>
        <p:nvSpPr>
          <p:cNvPr id="11" name="Shape 9"/>
          <p:cNvSpPr/>
          <p:nvPr/>
        </p:nvSpPr>
        <p:spPr>
          <a:xfrm>
            <a:off x="8275320" y="1389888"/>
            <a:ext cx="3410712" cy="1551432"/>
          </a:xfrm>
          <a:prstGeom prst="rect">
            <a:avLst/>
          </a:prstGeom>
          <a:solidFill>
            <a:srgbClr val="EF3340"/>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Documentation becomes a negative contract.</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Refactors fail if the forbidden path opens.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compiler is part of the test harness.</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PHANTOM TYPES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18</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Frame&lt;Tag&gt; stores no tag at runtime—and still separates frames.</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leash-core/src/frame.rs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enum Map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enum Odom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enum Base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enum Sensor {}</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#[derive(Debug, Clone, PartialEq, Eq)]</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struct Frame&lt;Tag&gt;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name: FrameName,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marker: PhantomData&lt;fn() -&gt; Tag&gt;,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#[derive(Debug, Clone, PartialEq)]</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struct Pose2&lt;Tag&gt;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pub frame: Frame&lt;Tag&gt;,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pub x: Meters,</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pub y: Meters,</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pub yaw: Radians,</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Empty enums are type-level labels.</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PhantomData ties Tag to ownership/type rules.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No tag bytes are stored in Pose2.</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PHANTOM TYPES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19</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pose in Odom is not a pose in Map.</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D63D"/>
            </a:solidFill>
            <a:prstDash val="solid"/>
          </a:ln>
        </p:spPr>
      </p:sp>
      <p:sp>
        <p:nvSpPr>
          <p:cNvPr id="8" name="Shape 6"/>
          <p:cNvSpPr/>
          <p:nvPr/>
        </p:nvSpPr>
        <p:spPr>
          <a:xfrm>
            <a:off x="502920" y="1389888"/>
            <a:ext cx="7543800" cy="356616"/>
          </a:xfrm>
          <a:prstGeom prst="rect">
            <a:avLst/>
          </a:prstGeom>
          <a:solidFill>
            <a:srgbClr val="FFD63D"/>
          </a:solidFill>
          <a:ln w="12700">
            <a:solidFill>
              <a:srgbClr val="FFD63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leash-core/src/frame.rs doctest</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\`\`\`compile_fail</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use leash_core::{Frame, FrameName, Map, Meters, Odom, Pose2, Radians};</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fn consume_map(_: Pose2&lt;Map&gt;) {}</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let odom = Frame::&lt;Odom&gt;::new(FrameName::new("odom").unwrap());</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let pose = Pose2::new(</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odom,</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Meters::new(0.0).unwrap(),</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Meters::new(0.0).unwrap(),</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Radians::new(0.0).unwrap(),</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consume_map(pose);</a:t>
            </a:r>
            <a:endParaRPr lang="en-US" sz="1530" dirty="0"/>
          </a:p>
          <a:p>
            <a:pPr algn="l" indent="0" marL="0">
              <a:lnSpc>
                <a:spcPct val="100000"/>
              </a:lnSpc>
              <a:buNone/>
            </a:pPr>
            <a:r>
              <a:rPr lang="en-US" sz="1530" dirty="0">
                <a:solidFill>
                  <a:srgbClr val="FFFFFF"/>
                </a:solidFill>
                <a:latin typeface="Courier New" pitchFamily="34" charset="0"/>
                <a:ea typeface="Courier New" pitchFamily="34" charset="-122"/>
                <a:cs typeface="Courier New" pitchFamily="34" charset="-120"/>
              </a:rPr>
              <a:t>/// \`\`\`</a:t>
            </a:r>
            <a:endParaRPr lang="en-US" sz="1530" dirty="0"/>
          </a:p>
        </p:txBody>
      </p:sp>
      <p:sp>
        <p:nvSpPr>
          <p:cNvPr id="11" name="Shape 9"/>
          <p:cNvSpPr/>
          <p:nvPr/>
        </p:nvSpPr>
        <p:spPr>
          <a:xfrm>
            <a:off x="8275320" y="1389888"/>
            <a:ext cx="3410712" cy="1551432"/>
          </a:xfrm>
          <a:prstGeom prst="rect">
            <a:avLst/>
          </a:prstGeom>
          <a:solidFill>
            <a:srgbClr val="FFD63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Same fields do not mean same semantics.</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missing transform becomes a compiler error.</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Zero runtime checks; strong compile-time separation.</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TRAITS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20</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Supertraits define the minimum hardware capability.</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leash-waveshare/src/lib.rs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pub trait ControllerIo: Read + Write + Send {}</a:t>
            </a:r>
            <a:endParaRPr lang="en-US" sz="1550" dirty="0"/>
          </a:p>
          <a:p>
            <a:pPr algn="l" indent="0" marL="0">
              <a:lnSpc>
                <a:spcPct val="100000"/>
              </a:lnSpc>
              <a:buNone/>
            </a:pP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impl&lt;T&gt; ControllerIo for T</a:t>
            </a: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where</a:t>
            </a: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    T: Read + Write + Send,</a:t>
            </a: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a:t>
            </a:r>
            <a:endParaRPr lang="en-US" sz="1550" dirty="0"/>
          </a:p>
          <a:p>
            <a:pPr algn="l" indent="0" marL="0">
              <a:lnSpc>
                <a:spcPct val="100000"/>
              </a:lnSpc>
              <a:buNone/>
            </a:pP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pub trait ControllerIoFactory: Send {</a:t>
            </a: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    fn open(&amp;mut self) -&gt; io::Result&lt;Box&lt;dyn ControllerIo&gt;&gt;;</a:t>
            </a:r>
            <a:endParaRPr lang="en-US" sz="1550" dirty="0"/>
          </a:p>
          <a:p>
            <a:pPr algn="l" indent="0" marL="0">
              <a:lnSpc>
                <a:spcPct val="100000"/>
              </a:lnSpc>
              <a:buNone/>
            </a:pPr>
            <a:r>
              <a:rPr lang="en-US" sz="1550" dirty="0">
                <a:solidFill>
                  <a:srgbClr val="FFFFFF"/>
                </a:solidFill>
                <a:latin typeface="Courier New" pitchFamily="34" charset="0"/>
                <a:ea typeface="Courier New" pitchFamily="34" charset="-122"/>
                <a:cs typeface="Courier New" pitchFamily="34" charset="-120"/>
              </a:rPr>
              <a:t>}</a:t>
            </a:r>
            <a:endParaRPr lang="en-US" sz="155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Read + Write + Send is the complete capability set.</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blanket impl admits every compatible transport.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Box&lt;dyn Trait&gt; erases the concrete serial type.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TRAIT OBJECTS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21</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closure can be the reconnection factory.</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leash-waveshare/src/lib.rs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trait ControllerIoFactory: Send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fn open(&amp;mut self) -&gt; io::Result&lt;Box&lt;dyn ControllerIo&gt;&gt;;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impl&lt;F&gt; ControllerIoFactory for F</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where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F: FnMut() -&gt; io::Result&lt;Box&lt;dyn ControllerIo&gt;&gt; + Send,</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fn open(&amp;mut self) -&gt; io::Result&lt;Box&lt;dyn ControllerIo&gt;&gt;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self()</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FnMut permits reconnect state to evolve.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Send permits ownership transfer to the I/O thread.</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trait object keeps Supervisor non-generic at runtime.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ASSOCIATED TYPES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22</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actuation port chooses its acknowledgement protocol.</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leash-runtime/src/supervisor.rs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pub trait ActuationAcknowledgement: Send + 'static {</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applied(&amp;self) -&gt; bool;</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verified_zero(&amp;self) -&gt; bool;</a:t>
            </a:r>
            <a:endParaRPr lang="en-US" sz="1450" dirty="0"/>
          </a:p>
          <a:p>
            <a:pPr algn="l" indent="0" marL="0">
              <a:lnSpc>
                <a:spcPct val="100000"/>
              </a:lnSpc>
              <a:buNone/>
            </a:pP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command_id(&amp;self) -&gt; Option&lt;CommandId&gt; { None }</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evidence_id(&amp;self) -&gt; Option&lt;EvidenceId&gt; { None }</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applied_sequence(&amp;self) -&gt; Option&lt;u64&gt; { None }</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a:t>
            </a:r>
            <a:endParaRPr lang="en-US" sz="1450" dirty="0"/>
          </a:p>
          <a:p>
            <a:pPr algn="l" indent="0" marL="0">
              <a:lnSpc>
                <a:spcPct val="100000"/>
              </a:lnSpc>
              <a:buNone/>
            </a:pP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pub trait ActuationPort: Send + 'static {</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type Acknowledgement: ActuationAcknowledgement;</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type Error: fmt::Display + Send + 'static;</a:t>
            </a:r>
            <a:endParaRPr lang="en-US" sz="1450" dirty="0"/>
          </a:p>
          <a:p>
            <a:pPr algn="l" indent="0" marL="0">
              <a:lnSpc>
                <a:spcPct val="100000"/>
              </a:lnSpc>
              <a:buNone/>
            </a:pP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submit_drive(</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&amp;mut self,</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command: Authorized&lt;DifferentialDrive&gt;,</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 -&gt; Result&lt;(), Self::Error&gt;;</a:t>
            </a:r>
            <a:endParaRPr lang="en-US" sz="1450" dirty="0"/>
          </a:p>
          <a:p>
            <a:pPr algn="l" indent="0" marL="0">
              <a:lnSpc>
                <a:spcPct val="100000"/>
              </a:lnSpc>
              <a:buNone/>
            </a:pP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fn try_acknowledgement(</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&amp;mut self,</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    ) -&gt; Result&lt;Option&lt;Self::Acknowledgement&gt;, Self::Error&gt;;</a:t>
            </a:r>
            <a:endParaRPr lang="en-US" sz="1450" dirty="0"/>
          </a:p>
          <a:p>
            <a:pPr algn="l" indent="0" marL="0">
              <a:lnSpc>
                <a:spcPct val="100000"/>
              </a:lnSpc>
              <a:buNone/>
            </a:pPr>
            <a:r>
              <a:rPr lang="en-US" sz="1450" dirty="0">
                <a:solidFill>
                  <a:srgbClr val="FFFFFF"/>
                </a:solidFill>
                <a:latin typeface="Courier New" pitchFamily="34" charset="0"/>
                <a:ea typeface="Courier New" pitchFamily="34" charset="-122"/>
                <a:cs typeface="Courier New" pitchFamily="34" charset="-120"/>
              </a:rPr>
              <a:t>}</a:t>
            </a:r>
            <a:endParaRPr lang="en-US" sz="145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Associated types bind one Ack and Error to each port.</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port accepts only Authorized&lt;Drive&gt;.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'static permits the whole port to live on a thread.</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GENERIC BOUNDS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23</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An equality bound connects the supervisor to the port.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leash-runtime/src/supervisor.rs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pub struct CpuSafetySupervisor&lt;A&gt;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handle: SupervisorHandle,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events: Option&lt;LatestReader&lt;SupervisorEvent&lt;A&gt;&gt;&gt;,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worker: Option&lt;JoinHandle&lt;()&gt;&gt;,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impl&lt;A&gt; CpuSafetySupervisor&lt;A&gt;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where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 ActuationAcknowledgement,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pub fn spawn&lt;P&gt;(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kernel: ControlKernel,</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port: P,</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clock: Box&lt;dyn Clock + Send&gt;,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config: SupervisorConfig,</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 -&gt; Result&lt;Self, SupervisorStartError&gt;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where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P: ActuationPort&lt;Acknowledgement = A&gt;,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Self::spawn_inner(kernel, port, clock, config, None)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A is named once on the supervisor state.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P stays generic only at construction.</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Acknowledgement = A is an associated-type equality.</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DISPATCH</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24</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0B0B0B"/>
                </a:solidFill>
                <a:latin typeface="Arial" pitchFamily="34" charset="0"/>
                <a:ea typeface="Arial" pitchFamily="34" charset="-122"/>
                <a:cs typeface="Arial" pitchFamily="34" charset="-120"/>
              </a:rPr>
              <a:t>Static dispatch inside; dynamic dispatch at hardware seams.</a:t>
            </a:r>
            <a:endParaRPr lang="en-US" sz="3000" dirty="0"/>
          </a:p>
        </p:txBody>
      </p:sp>
      <p:sp>
        <p:nvSpPr>
          <p:cNvPr id="7" name="Shape 5"/>
          <p:cNvSpPr/>
          <p:nvPr/>
        </p:nvSpPr>
        <p:spPr>
          <a:xfrm>
            <a:off x="566928" y="1417320"/>
            <a:ext cx="5303520" cy="3383280"/>
          </a:xfrm>
          <a:prstGeom prst="rect">
            <a:avLst/>
          </a:prstGeom>
          <a:solidFill>
            <a:srgbClr val="101419"/>
          </a:solidFill>
          <a:ln w="26670">
            <a:solidFill>
              <a:srgbClr val="B8FF32"/>
            </a:solidFill>
            <a:prstDash val="solid"/>
          </a:ln>
        </p:spPr>
      </p:sp>
      <p:sp>
        <p:nvSpPr>
          <p:cNvPr id="8" name="Shape 6"/>
          <p:cNvSpPr/>
          <p:nvPr/>
        </p:nvSpPr>
        <p:spPr>
          <a:xfrm>
            <a:off x="566928" y="1417320"/>
            <a:ext cx="5303520" cy="356616"/>
          </a:xfrm>
          <a:prstGeom prst="rect">
            <a:avLst/>
          </a:prstGeom>
          <a:solidFill>
            <a:srgbClr val="B8FF32"/>
          </a:solidFill>
          <a:ln w="12700">
            <a:solidFill>
              <a:srgbClr val="B8FF32"/>
            </a:solidFill>
            <a:prstDash val="solid"/>
          </a:ln>
        </p:spPr>
      </p:sp>
      <p:sp>
        <p:nvSpPr>
          <p:cNvPr id="9" name="Text 7"/>
          <p:cNvSpPr/>
          <p:nvPr/>
        </p:nvSpPr>
        <p:spPr>
          <a:xfrm>
            <a:off x="685800" y="1499616"/>
            <a:ext cx="506577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MONOMORPHIZED</a:t>
            </a:r>
            <a:endParaRPr lang="en-US" sz="1050" dirty="0"/>
          </a:p>
        </p:txBody>
      </p:sp>
      <p:sp>
        <p:nvSpPr>
          <p:cNvPr id="10" name="Text 8"/>
          <p:cNvSpPr/>
          <p:nvPr/>
        </p:nvSpPr>
        <p:spPr>
          <a:xfrm>
            <a:off x="731520" y="1929384"/>
            <a:ext cx="4974336" cy="2724912"/>
          </a:xfrm>
          <a:prstGeom prst="rect">
            <a:avLst/>
          </a:prstGeom>
          <a:noFill/>
          <a:ln/>
        </p:spPr>
        <p:txBody>
          <a:bodyPr wrap="square" lIns="0" tIns="0" rIns="0" bIns="0" rtlCol="0" anchor="t">
            <a:normAutofit/>
          </a:bodyPr>
          <a:lstStyle/>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fn run_supervisor&lt;P&gt;(</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mut port: P,</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 ...</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where</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P: ActuationPort,</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 specialized for P</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a:t>
            </a:r>
            <a:endParaRPr lang="en-US" sz="1750" dirty="0"/>
          </a:p>
        </p:txBody>
      </p:sp>
      <p:sp>
        <p:nvSpPr>
          <p:cNvPr id="11" name="Shape 9"/>
          <p:cNvSpPr/>
          <p:nvPr/>
        </p:nvSpPr>
        <p:spPr>
          <a:xfrm>
            <a:off x="6309360" y="1417320"/>
            <a:ext cx="5303520" cy="3383280"/>
          </a:xfrm>
          <a:prstGeom prst="rect">
            <a:avLst/>
          </a:prstGeom>
          <a:solidFill>
            <a:srgbClr val="101419"/>
          </a:solidFill>
          <a:ln w="26670">
            <a:solidFill>
              <a:srgbClr val="FF5B9D"/>
            </a:solidFill>
            <a:prstDash val="solid"/>
          </a:ln>
        </p:spPr>
      </p:sp>
      <p:sp>
        <p:nvSpPr>
          <p:cNvPr id="12" name="Shape 10"/>
          <p:cNvSpPr/>
          <p:nvPr/>
        </p:nvSpPr>
        <p:spPr>
          <a:xfrm>
            <a:off x="6309360" y="1417320"/>
            <a:ext cx="5303520" cy="356616"/>
          </a:xfrm>
          <a:prstGeom prst="rect">
            <a:avLst/>
          </a:prstGeom>
          <a:solidFill>
            <a:srgbClr val="FF5B9D"/>
          </a:solidFill>
          <a:ln w="12700">
            <a:solidFill>
              <a:srgbClr val="FF5B9D"/>
            </a:solidFill>
            <a:prstDash val="solid"/>
          </a:ln>
        </p:spPr>
      </p:sp>
      <p:sp>
        <p:nvSpPr>
          <p:cNvPr id="13" name="Text 11"/>
          <p:cNvSpPr/>
          <p:nvPr/>
        </p:nvSpPr>
        <p:spPr>
          <a:xfrm>
            <a:off x="6428232" y="1499616"/>
            <a:ext cx="506577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ERASED</a:t>
            </a:r>
            <a:endParaRPr lang="en-US" sz="1050" dirty="0"/>
          </a:p>
        </p:txBody>
      </p:sp>
      <p:sp>
        <p:nvSpPr>
          <p:cNvPr id="14" name="Text 12"/>
          <p:cNvSpPr/>
          <p:nvPr/>
        </p:nvSpPr>
        <p:spPr>
          <a:xfrm>
            <a:off x="6473952" y="1929384"/>
            <a:ext cx="4974336" cy="2724912"/>
          </a:xfrm>
          <a:prstGeom prst="rect">
            <a:avLst/>
          </a:prstGeom>
          <a:noFill/>
          <a:ln/>
        </p:spPr>
        <p:txBody>
          <a:bodyPr wrap="square" lIns="0" tIns="0" rIns="0" bIns="0" rtlCol="0" anchor="t">
            <a:normAutofit/>
          </a:bodyPr>
          <a:lstStyle/>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fn controller_loop(</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io: Box&lt;dyn ControllerIo&gt;,</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    // one runtime-selected I/O object</a:t>
            </a:r>
            <a:endParaRPr lang="en-US" sz="1750" dirty="0"/>
          </a:p>
          <a:p>
            <a:pPr algn="l" indent="0" marL="0">
              <a:lnSpc>
                <a:spcPct val="100000"/>
              </a:lnSpc>
              <a:buNone/>
            </a:pPr>
            <a:r>
              <a:rPr lang="en-US" sz="1750" dirty="0">
                <a:solidFill>
                  <a:srgbClr val="FFFFFF"/>
                </a:solidFill>
                <a:latin typeface="Courier New" pitchFamily="34" charset="0"/>
                <a:ea typeface="Courier New" pitchFamily="34" charset="-122"/>
                <a:cs typeface="Courier New" pitchFamily="34" charset="-120"/>
              </a:rPr>
              <a:t>}</a:t>
            </a:r>
            <a:endParaRPr lang="en-US" sz="1750" dirty="0"/>
          </a:p>
        </p:txBody>
      </p:sp>
      <p:sp>
        <p:nvSpPr>
          <p:cNvPr id="15" name="Shape 13"/>
          <p:cNvSpPr/>
          <p:nvPr/>
        </p:nvSpPr>
        <p:spPr>
          <a:xfrm>
            <a:off x="1508760" y="5138928"/>
            <a:ext cx="3337560" cy="365760"/>
          </a:xfrm>
          <a:prstGeom prst="roundRect">
            <a:avLst>
              <a:gd name="adj" fmla="val 15000"/>
            </a:avLst>
          </a:prstGeom>
          <a:solidFill>
            <a:srgbClr val="B8FF32"/>
          </a:solidFill>
          <a:ln w="17780">
            <a:solidFill>
              <a:srgbClr val="0B0B0B"/>
            </a:solidFill>
            <a:prstDash val="solid"/>
          </a:ln>
        </p:spPr>
      </p:sp>
      <p:sp>
        <p:nvSpPr>
          <p:cNvPr id="16" name="Text 14"/>
          <p:cNvSpPr/>
          <p:nvPr/>
        </p:nvSpPr>
        <p:spPr>
          <a:xfrm>
            <a:off x="1581912" y="5202936"/>
            <a:ext cx="3191256"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0B0B0B"/>
                </a:solidFill>
                <a:latin typeface="Arial" pitchFamily="34" charset="0"/>
                <a:ea typeface="Arial" pitchFamily="34" charset="-122"/>
                <a:cs typeface="Arial" pitchFamily="34" charset="-120"/>
              </a:rPr>
              <a:t>FAST CONTROL PATH</a:t>
            </a:r>
            <a:endParaRPr lang="en-US" sz="1200" dirty="0"/>
          </a:p>
        </p:txBody>
      </p:sp>
      <p:sp>
        <p:nvSpPr>
          <p:cNvPr id="17" name="Shape 15"/>
          <p:cNvSpPr/>
          <p:nvPr/>
        </p:nvSpPr>
        <p:spPr>
          <a:xfrm>
            <a:off x="7269480" y="5138928"/>
            <a:ext cx="3337560" cy="365760"/>
          </a:xfrm>
          <a:prstGeom prst="roundRect">
            <a:avLst>
              <a:gd name="adj" fmla="val 15000"/>
            </a:avLst>
          </a:prstGeom>
          <a:solidFill>
            <a:srgbClr val="FF5B9D"/>
          </a:solidFill>
          <a:ln w="17780">
            <a:solidFill>
              <a:srgbClr val="0B0B0B"/>
            </a:solidFill>
            <a:prstDash val="solid"/>
          </a:ln>
        </p:spPr>
      </p:sp>
      <p:sp>
        <p:nvSpPr>
          <p:cNvPr id="18" name="Text 16"/>
          <p:cNvSpPr/>
          <p:nvPr/>
        </p:nvSpPr>
        <p:spPr>
          <a:xfrm>
            <a:off x="7342632" y="5202936"/>
            <a:ext cx="3191256"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0B0B0B"/>
                </a:solidFill>
                <a:latin typeface="Arial" pitchFamily="34" charset="0"/>
                <a:ea typeface="Arial" pitchFamily="34" charset="-122"/>
                <a:cs typeface="Arial" pitchFamily="34" charset="-120"/>
              </a:rPr>
              <a:t>REPLACEABLE ADAPTER</a:t>
            </a:r>
            <a:endParaRPr lang="en-US" sz="1200" dirty="0"/>
          </a:p>
        </p:txBody>
      </p:sp>
      <p:sp>
        <p:nvSpPr>
          <p:cNvPr id="19" name="Text 17"/>
          <p:cNvSpPr/>
          <p:nvPr/>
        </p:nvSpPr>
        <p:spPr>
          <a:xfrm>
            <a:off x="1005840" y="5779008"/>
            <a:ext cx="10149840" cy="365760"/>
          </a:xfrm>
          <a:prstGeom prst="rect">
            <a:avLst/>
          </a:prstGeom>
          <a:noFill/>
          <a:ln/>
        </p:spPr>
        <p:txBody>
          <a:bodyPr wrap="square" lIns="0" tIns="0" rIns="0" bIns="0" rtlCol="0" anchor="t">
            <a:normAutofit/>
          </a:bodyPr>
          <a:lstStyle/>
          <a:p>
            <a:pPr algn="ctr" indent="0" marL="0">
              <a:lnSpc>
                <a:spcPct val="100000"/>
              </a:lnSpc>
              <a:buNone/>
            </a:pPr>
            <a:r>
              <a:rPr lang="en-US" sz="2100" b="1" dirty="0">
                <a:solidFill>
                  <a:srgbClr val="0B0B0B"/>
                </a:solidFill>
                <a:latin typeface="Arial" pitchFamily="34" charset="0"/>
                <a:ea typeface="Arial" pitchFamily="34" charset="-122"/>
                <a:cs typeface="Arial" pitchFamily="34" charset="-120"/>
              </a:rPr>
              <a:t>Choose dispatch based on ownership and change boundaries—not dogma.</a:t>
            </a:r>
            <a:endParaRPr lang="en-US" sz="2100" dirty="0"/>
          </a:p>
        </p:txBody>
      </p:sp>
      <p:sp>
        <p:nvSpPr>
          <p:cNvPr id="20" name="Text 18"/>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THREAD OWNERSHIP</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25</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move transfers the physical port into one owner thread.</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leash-runtime/src/supervisor.rs [abridged]</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let panic_shared = Arc::clone(&amp;shared);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let thread_shared = Arc::clone(&amp;shared);</a:t>
            </a:r>
            <a:endParaRPr lang="en-US" sz="1390" dirty="0"/>
          </a:p>
          <a:p>
            <a:pPr algn="l" indent="0" marL="0">
              <a:lnSpc>
                <a:spcPct val="100000"/>
              </a:lnSpc>
              <a:buNone/>
            </a:pP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let worker = thread::Builder::new()</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.name("leash-cpu-safety".to_string())</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.spawn(move ||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let _ = thread_shared.worker_thread.set(thread::current());</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let result = std::panic::catch_unwind(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std::panic::AssertUnwindSafe(||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run_supervisor(</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kernel, port, clock, config,</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proposal_receiver, safety_receiver,</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event_publisher, evidence, shared,</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if result.is_err()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panic_shared.faulted.store(true, Ordering::Release);</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panic_shared.closed.store(true, Ordering::Release);</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a:t>
            </a:r>
            <a:endParaRPr lang="en-US" sz="1390" dirty="0"/>
          </a:p>
          <a:p>
            <a:pPr algn="l" indent="0" marL="0">
              <a:lnSpc>
                <a:spcPct val="100000"/>
              </a:lnSpc>
              <a:buNone/>
            </a:pPr>
            <a:r>
              <a:rPr lang="en-US" sz="1390" dirty="0">
                <a:solidFill>
                  <a:srgbClr val="FFFFFF"/>
                </a:solidFill>
                <a:latin typeface="Courier New" pitchFamily="34" charset="0"/>
                <a:ea typeface="Courier New" pitchFamily="34" charset="-122"/>
                <a:cs typeface="Courier New" pitchFamily="34" charset="-120"/>
              </a:rPr>
              <a:t>    .map_err(|error| SupervisorStartError::Thread(error.to_string()))?;</a:t>
            </a:r>
            <a:endParaRPr lang="en-US" sz="139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move gives the thread exclusive port ownership.</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Arc shares state, not mutable hardware access.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catch_unwind converts panic into a fail-closed outcome.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RAII</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26</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Drop makes thread shutdown part of ownership.</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leash-runtime/src/supervisor.rs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impl&lt;A&gt; Drop for CpuSafetySupervisor&lt;A&gt;</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fn drop(&amp;mut self)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self.handle.shared.shutdown.store(true, Ordering::Release);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self.handle.shared.wake();</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if let Some(worker) = self.worker.take()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let _ = worker.join();</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Dropping sets the shutdown flag.</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Wake prevents a sleeping loop from hanging.</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Option::take guarantees one join attempt.</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BOUNDED CONCURRENCY</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27</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Backpressure errors return ownership to the sender.</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leash-runtime/src/lane.rs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pub enum OverflowPolicy {</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RejectNewest,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DropOldest,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pub enum SendOutcome&lt;T&gt; {</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Enqueued,</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ReplacedOldest(T),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pub enum SendError&lt;T&gt; {</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Closed(T),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Full(T),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struct LaneState&lt;T&gt; {</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queue: VecDeque&lt;T&gt;,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high_watermark: usize,</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sent: u64,</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received: u64,</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rejected: u64,</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dropped: u64,</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struct LaneShared&lt;T&gt; {</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capacity: usize,</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policy: OverflowPolicy,</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closed: AtomicBool,</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    state: Mutex&lt;LaneState&lt;T&gt;&gt;,</a:t>
            </a:r>
            <a:endParaRPr lang="en-US" sz="1600" dirty="0"/>
          </a:p>
          <a:p>
            <a:pPr algn="l" indent="0" marL="0">
              <a:lnSpc>
                <a:spcPct val="100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The queue has a hard capacity.</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Errors preserve the rejected 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Replacement reports the evicted T.</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BOUNDED CONCURRENCY</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28</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Overflow policy is an exhaustive match, not a comment.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D63D"/>
            </a:solidFill>
            <a:prstDash val="solid"/>
          </a:ln>
        </p:spPr>
      </p:sp>
      <p:sp>
        <p:nvSpPr>
          <p:cNvPr id="8" name="Shape 6"/>
          <p:cNvSpPr/>
          <p:nvPr/>
        </p:nvSpPr>
        <p:spPr>
          <a:xfrm>
            <a:off x="502920" y="1389888"/>
            <a:ext cx="7543800" cy="356616"/>
          </a:xfrm>
          <a:prstGeom prst="rect">
            <a:avLst/>
          </a:prstGeom>
          <a:solidFill>
            <a:srgbClr val="FFD63D"/>
          </a:solidFill>
          <a:ln w="12700">
            <a:solidFill>
              <a:srgbClr val="FFD63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leash-runtime/src/lane.rs [abridged]</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pub fn try_send(&amp;self, value: T)</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-&gt; Result&lt;SendOutcome&lt;T&gt;, SendError&lt;T&gt;&gt;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if self.shared.closed.load(Ordering::Acquire)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return Err(SendError::Closed(value));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let mut state = lock(&amp;self.shared.state);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if self.shared.closed.load(Ordering::Acquire)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return Err(SendError::Closed(value));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let outcome = if state.queue.len() == self.shared.capacity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match self.shared.policy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OverflowPolicy::RejectNewest =&gt;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state.rejected = state.rejected.saturating_add(1);</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return Err(SendError::Full(value));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OverflowPolicy::DropOldest =&gt;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let replaced = state.queue.pop_front()</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.expect("a full bounded queue contains an item");</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state.dropped = state.dropped.saturating_add(1);</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state.queue.push_back(value);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SendOutcome::ReplacedOldest(replaced)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 else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state.queue.push_back(value);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SendOutcome::Enqueued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Ok(outcome)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p:txBody>
      </p:sp>
      <p:sp>
        <p:nvSpPr>
          <p:cNvPr id="11" name="Shape 9"/>
          <p:cNvSpPr/>
          <p:nvPr/>
        </p:nvSpPr>
        <p:spPr>
          <a:xfrm>
            <a:off x="8275320" y="1389888"/>
            <a:ext cx="3410712" cy="1551432"/>
          </a:xfrm>
          <a:prstGeom prst="rect">
            <a:avLst/>
          </a:prstGeom>
          <a:solidFill>
            <a:srgbClr val="FFD63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Check closed before taking the mutex.</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The match documents both overload semantics.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No unbounded queue can consume the device.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ATOMICS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29</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Safety requests bypass the ordinary proposal lane.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EF3340"/>
            </a:solidFill>
            <a:prstDash val="solid"/>
          </a:ln>
        </p:spPr>
      </p:sp>
      <p:sp>
        <p:nvSpPr>
          <p:cNvPr id="8" name="Shape 6"/>
          <p:cNvSpPr/>
          <p:nvPr/>
        </p:nvSpPr>
        <p:spPr>
          <a:xfrm>
            <a:off x="502920" y="1389888"/>
            <a:ext cx="7543800" cy="356616"/>
          </a:xfrm>
          <a:prstGeom prst="rect">
            <a:avLst/>
          </a:prstGeom>
          <a:solidFill>
            <a:srgbClr val="EF3340"/>
          </a:solidFill>
          <a:ln w="12700">
            <a:solidFill>
              <a:srgbClr val="EF3340"/>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leash-runtime/src/safety.rs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struct SafetyShared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stop: AtomicU64,</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estop: AtomicU64,</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closed: AtomicBool,</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impl SafetySender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pub fn request(&amp;self, kind: SafetyKind)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-&gt; Result&lt;u64, SafetyRequestError&gt;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if self.shared.closed.load(Ordering::Acquire)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return Err(SafetyRequestError::Closed);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let sequence = match kind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SafetyKind::Stop =&gt; increment(&amp;self.shared.stop),</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SafetyKind::EStop =&gt; increment(&amp;self.shared.estop),</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if self.shared.closed.load(Ordering::Acquire)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return Err(SafetyRequestError::Closed);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Ok(sequence)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fn increment(counter: &amp;AtomicU64) -&gt; Result&lt;u64, SafetyRequestError&gt;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counter.fetch_update(Ordering::AcqRel, Ordering::Acquire,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|current| current.checked_add(1))</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.map(|previous| previous + 1)</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.map_err(|_| SafetyRequestError::SequenceExhausted)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p:txBody>
      </p:sp>
      <p:sp>
        <p:nvSpPr>
          <p:cNvPr id="11" name="Shape 9"/>
          <p:cNvSpPr/>
          <p:nvPr/>
        </p:nvSpPr>
        <p:spPr>
          <a:xfrm>
            <a:off x="8275320" y="1389888"/>
            <a:ext cx="3410712" cy="1551432"/>
          </a:xfrm>
          <a:prstGeom prst="rect">
            <a:avLst/>
          </a:prstGeom>
          <a:solidFill>
            <a:srgbClr val="EF3340"/>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Safety has a dedicated mailbox.</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AcqRel makes increment a read-modify-write boundary.</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fetch_update prevents sequence wraparound.</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PRIORITY</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30</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receiver checks E-stop before stop.</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EF3340"/>
            </a:solidFill>
            <a:prstDash val="solid"/>
          </a:ln>
        </p:spPr>
      </p:sp>
      <p:sp>
        <p:nvSpPr>
          <p:cNvPr id="8" name="Shape 6"/>
          <p:cNvSpPr/>
          <p:nvPr/>
        </p:nvSpPr>
        <p:spPr>
          <a:xfrm>
            <a:off x="502920" y="1389888"/>
            <a:ext cx="7543800" cy="356616"/>
          </a:xfrm>
          <a:prstGeom prst="rect">
            <a:avLst/>
          </a:prstGeom>
          <a:solidFill>
            <a:srgbClr val="EF3340"/>
          </a:solidFill>
          <a:ln w="12700">
            <a:solidFill>
              <a:srgbClr val="EF3340"/>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leash-runtime/src/safety.rs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pub fn try_recv(&amp;mut self)</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-&gt; Result&lt;Option&lt;SafetySignal&gt;, SafetyReceiveError&gt; {</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let estop = self.shared.estop.load(Ordering::Acquire);</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if estop &gt; self.seen_estop {</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let signal = signal(SafetyKind::EStop, self.seen_estop, estop);</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self.seen_estop = estop;</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return Ok(Some(signal));</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a:t>
            </a:r>
            <a:endParaRPr lang="en-US" sz="1420" dirty="0"/>
          </a:p>
          <a:p>
            <a:pPr algn="l" indent="0" marL="0">
              <a:lnSpc>
                <a:spcPct val="100000"/>
              </a:lnSpc>
              <a:buNone/>
            </a:pP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let stop = self.shared.stop.load(Ordering::Acquire);</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if stop &gt; self.seen_stop {</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let signal = signal(SafetyKind::Stop, self.seen_stop, stop);</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self.seen_stop = stop;</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return Ok(Some(signal));</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a:t>
            </a:r>
            <a:endParaRPr lang="en-US" sz="1420" dirty="0"/>
          </a:p>
          <a:p>
            <a:pPr algn="l" indent="0" marL="0">
              <a:lnSpc>
                <a:spcPct val="100000"/>
              </a:lnSpc>
              <a:buNone/>
            </a:pP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if self.shared.closed.load(Ordering::Acquire) {</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return Err(SafetyReceiveError::Closed);</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    Ok(None)</a:t>
            </a:r>
            <a:endParaRPr lang="en-US" sz="1420" dirty="0"/>
          </a:p>
          <a:p>
            <a:pPr algn="l" indent="0" marL="0">
              <a:lnSpc>
                <a:spcPct val="100000"/>
              </a:lnSpc>
              <a:buNone/>
            </a:pPr>
            <a:r>
              <a:rPr lang="en-US" sz="1420" dirty="0">
                <a:solidFill>
                  <a:srgbClr val="FFFFFF"/>
                </a:solidFill>
                <a:latin typeface="Courier New" pitchFamily="34" charset="0"/>
                <a:ea typeface="Courier New" pitchFamily="34" charset="-122"/>
                <a:cs typeface="Courier New" pitchFamily="34" charset="-120"/>
              </a:rPr>
              <a:t>}</a:t>
            </a:r>
            <a:endParaRPr lang="en-US" sz="1420" dirty="0"/>
          </a:p>
        </p:txBody>
      </p:sp>
      <p:sp>
        <p:nvSpPr>
          <p:cNvPr id="11" name="Shape 9"/>
          <p:cNvSpPr/>
          <p:nvPr/>
        </p:nvSpPr>
        <p:spPr>
          <a:xfrm>
            <a:off x="8275320" y="1389888"/>
            <a:ext cx="3410712" cy="1551432"/>
          </a:xfrm>
          <a:prstGeom prst="rect">
            <a:avLst/>
          </a:prstGeom>
          <a:solidFill>
            <a:srgbClr val="EF3340"/>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E-stop wins if both flags are present.</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Per-kind counters preserve coalesced requests.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Closed is distinct from no pending signal.</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FRESHNESS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31</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Option::replace makes latest-only semantics explicit.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leash-runtime/src/latest.rs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fn publish(&amp;self, value: Stamped&lt;T&gt;)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-&gt; Result&lt;Option&lt;Stamped&lt;T&gt;&gt;, PublishError&lt;T&gt;&gt;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mut state = lock(&amp;self.state);</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if state.last_sequence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.is_some_and(|sequence| value.sequence &lt;= sequence)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state.rejected_out_of_order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state.rejected_out_of_order.saturating_add(1);</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return Err(PublishError::SequenceNotIncreasing(value));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state.last_sequence = Some(value.sequence);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state.published = state.published.saturating_add(1);</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replaced = state.value.replace(value);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if replaced.is_some()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state.replaced = state.replaced.saturating_add(1);</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Ok(replaced)</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fn take(&amp;mut self) -&gt; Option&lt;Stamped&lt;T&gt;&gt;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mut state = lock(&amp;self.state);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value = state.value.take();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if value.is_some()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state.taken = state.taken.saturating_add(1);</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value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Stale sequence numbers are rejected.</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replace returns the displaced observation.</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take moves the newest value out exactly once.</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WIRE CONTRACTS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32</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Serde turns the network shape into an enum.</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leash-gateway/src/lib.rs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#[derive(Debug, Clone, PartialEq, Deserialize, Serialize)]</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#[serde(</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tag = "command",</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rename_all = "snake_case",</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deny_unknown_fields</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pub enum CommandRequest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Authorize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operator: String,</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expires_at_ns: u64,</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Drive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left: f64,</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right: f64,</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deadline_ns: u64,</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Stop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EStop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ResetEStop { approved: bool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SetPlannerActive { active: bool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    CancelPlanner {},</a:t>
            </a:r>
            <a:endParaRPr lang="en-US" sz="1490" dirty="0"/>
          </a:p>
          <a:p>
            <a:pPr algn="l" indent="0" marL="0">
              <a:lnSpc>
                <a:spcPct val="100000"/>
              </a:lnSpc>
              <a:buNone/>
            </a:pPr>
            <a:r>
              <a:rPr lang="en-US" sz="1490" dirty="0">
                <a:solidFill>
                  <a:srgbClr val="FFFFFF"/>
                </a:solidFill>
                <a:latin typeface="Courier New" pitchFamily="34" charset="0"/>
                <a:ea typeface="Courier New" pitchFamily="34" charset="-122"/>
                <a:cs typeface="Courier New" pitchFamily="34" charset="-120"/>
              </a:rPr>
              <a:t>}</a:t>
            </a:r>
            <a:endParaRPr lang="en-US" sz="149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Tagged enum gives one explicit command discriminator.</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deny_unknown_fields rejects schema drift.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Decode errors enter the typed error path.</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ERRORS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33</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map_err and ? preserve context without nesting.</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D63D"/>
            </a:solidFill>
            <a:prstDash val="solid"/>
          </a:ln>
        </p:spPr>
      </p:sp>
      <p:sp>
        <p:nvSpPr>
          <p:cNvPr id="8" name="Shape 6"/>
          <p:cNvSpPr/>
          <p:nvPr/>
        </p:nvSpPr>
        <p:spPr>
          <a:xfrm>
            <a:off x="502920" y="1389888"/>
            <a:ext cx="7543800" cy="356616"/>
          </a:xfrm>
          <a:prstGeom prst="rect">
            <a:avLst/>
          </a:prstGeom>
          <a:solidFill>
            <a:srgbClr val="FFD63D"/>
          </a:solidFill>
          <a:ln w="12700">
            <a:solidFill>
              <a:srgbClr val="FFD63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leash-gateway/src/lib.rs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enum GatewayError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InvalidJson(Box&lt;str&gt;),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InvalidDomain(Box&lt;str&gt;),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Proposal(SupervisorSubmitError),</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Safety(Box&lt;str&gt;),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Timeout,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Supervisor(Box&lt;str&gt;),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Encode(Box&lt;str&gt;),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fn decode_and_execute(&amp;self, json: &amp;[u8])</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-&gt; Result&lt;Vec&lt;u8&gt;, GatewayError&gt;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request = serde_json::from_slice(json)</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.map_err(|error| GatewayError::InvalidJson(</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error.to_string().into_boxed_str()</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let response = self.execute(request)?;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serde_json::to_vec(&amp;response)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.map_err(|error| GatewayError::Encode(</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error.to_string().into_boxed_str()</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p:txBody>
      </p:sp>
      <p:sp>
        <p:nvSpPr>
          <p:cNvPr id="11" name="Shape 9"/>
          <p:cNvSpPr/>
          <p:nvPr/>
        </p:nvSpPr>
        <p:spPr>
          <a:xfrm>
            <a:off x="8275320" y="1389888"/>
            <a:ext cx="3410712" cy="1551432"/>
          </a:xfrm>
          <a:prstGeom prst="rect">
            <a:avLst/>
          </a:prstGeom>
          <a:solidFill>
            <a:srgbClr val="FFD63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The enum retains the failure category.</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 keeps the happy path visually flat.</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Boundary details become owned Box&lt;str&gt; values.</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LET-ELSE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34</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A missing acknowledgement ticket exits immediately.</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5FD7FF"/>
            </a:solidFill>
            <a:prstDash val="solid"/>
          </a:ln>
        </p:spPr>
      </p:sp>
      <p:sp>
        <p:nvSpPr>
          <p:cNvPr id="8" name="Shape 6"/>
          <p:cNvSpPr/>
          <p:nvPr/>
        </p:nvSpPr>
        <p:spPr>
          <a:xfrm>
            <a:off x="502920" y="1389888"/>
            <a:ext cx="7543800" cy="356616"/>
          </a:xfrm>
          <a:prstGeom prst="rect">
            <a:avLst/>
          </a:prstGeom>
          <a:solidFill>
            <a:srgbClr val="5FD7FF"/>
          </a:solidFill>
          <a:ln w="12700">
            <a:solidFill>
              <a:srgbClr val="5FD7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leash-waveshare/src/lib.rs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fn try_acknowledgement(&amp;mut self)</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-&gt; Result&lt;Option&lt;Self::Acknowledgement&gt;, Self::Error&gt;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let Some(ticket) = self.pending.front() else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return Ok(None);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match ticket.try_take().map_err(PortError::Submit)?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Some(ack) =&gt;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self.pending.pop_front();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Ok(Some(ack))</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None =&gt; Ok(None),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8275320" y="1389888"/>
            <a:ext cx="3410712" cy="1551432"/>
          </a:xfrm>
          <a:prstGeom prst="rect">
            <a:avLst/>
          </a:prstGeom>
          <a:solidFill>
            <a:srgbClr val="5FD7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let-else handles the precondition at the top.</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Empty is normal; disconnected is an error.</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front borrows; pop_front happens only after an acknowledgement.</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ADAPTERS</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35</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hardware adapter maps concrete protocol into the trait.</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B8FF32"/>
            </a:solidFill>
            <a:prstDash val="solid"/>
          </a:ln>
        </p:spPr>
      </p:sp>
      <p:sp>
        <p:nvSpPr>
          <p:cNvPr id="8" name="Shape 6"/>
          <p:cNvSpPr/>
          <p:nvPr/>
        </p:nvSpPr>
        <p:spPr>
          <a:xfrm>
            <a:off x="502920" y="1389888"/>
            <a:ext cx="7543800" cy="356616"/>
          </a:xfrm>
          <a:prstGeom prst="rect">
            <a:avLst/>
          </a:prstGeom>
          <a:solidFill>
            <a:srgbClr val="B8FF32"/>
          </a:solidFill>
          <a:ln w="12700">
            <a:solidFill>
              <a:srgbClr val="B8FF32"/>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leash-waveshare/src/lib.rs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impl ActuationAcknowledgement for CommandAck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fn applied(&amp;self) -&gt; bool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self.outcome == AckOutcome::Applied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fn verified_zero(&amp;self) -&gt; bool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self.verified_zero</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fn command_id(&amp;self) -&gt; Option&lt;CommandId&gt;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Some(self.command_id)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impl ActuationPort for WaveshareActuationPort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type Acknowledgement = CommandAck;</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type Error = PortError;</a:t>
            </a:r>
            <a:endParaRPr lang="en-US" sz="1380" dirty="0"/>
          </a:p>
          <a:p>
            <a:pPr algn="l" indent="0" marL="0">
              <a:lnSpc>
                <a:spcPct val="100000"/>
              </a:lnSpc>
              <a:buNone/>
            </a:pP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fn submit_drive(</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&amp;mut self,</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command: Authorized&lt;DifferentialDrive&gt;,</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 -&gt; Result&lt;(), Self::Error&gt;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let ticket = self.handle.submit_drive(command)</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.map_err(PortError::Submit)?;</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self.pending.push_back(ticket);</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Ok(())</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    }</a:t>
            </a:r>
            <a:endParaRPr lang="en-US" sz="1380" dirty="0"/>
          </a:p>
          <a:p>
            <a:pPr algn="l" indent="0" marL="0">
              <a:lnSpc>
                <a:spcPct val="100000"/>
              </a:lnSpc>
              <a:buNone/>
            </a:pPr>
            <a:r>
              <a:rPr lang="en-US" sz="1380" dirty="0">
                <a:solidFill>
                  <a:srgbClr val="FFFFFF"/>
                </a:solidFill>
                <a:latin typeface="Courier New" pitchFamily="34" charset="0"/>
                <a:ea typeface="Courier New" pitchFamily="34" charset="-122"/>
                <a:cs typeface="Courier New" pitchFamily="34" charset="-120"/>
              </a:rPr>
              <a:t>}</a:t>
            </a:r>
            <a:endParaRPr lang="en-US" sz="1380" dirty="0"/>
          </a:p>
        </p:txBody>
      </p:sp>
      <p:sp>
        <p:nvSpPr>
          <p:cNvPr id="11" name="Shape 9"/>
          <p:cNvSpPr/>
          <p:nvPr/>
        </p:nvSpPr>
        <p:spPr>
          <a:xfrm>
            <a:off x="8275320" y="1389888"/>
            <a:ext cx="3410712" cy="1551432"/>
          </a:xfrm>
          <a:prstGeom prst="rect">
            <a:avLst/>
          </a:prstGeom>
          <a:solidFill>
            <a:srgbClr val="B8FF32"/>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Associated types become concrete here.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Authorization remains present at the last adapter.</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Hardware errors are not erased prematurely.</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ROS2 / NAV2</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36</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Navigation proposals carry their frame in the type.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DDE5FF"/>
            </a:solidFill>
            <a:prstDash val="solid"/>
          </a:ln>
        </p:spPr>
      </p:sp>
      <p:sp>
        <p:nvSpPr>
          <p:cNvPr id="8" name="Shape 6"/>
          <p:cNvSpPr/>
          <p:nvPr/>
        </p:nvSpPr>
        <p:spPr>
          <a:xfrm>
            <a:off x="502920" y="1389888"/>
            <a:ext cx="7543800" cy="356616"/>
          </a:xfrm>
          <a:prstGeom prst="rect">
            <a:avLst/>
          </a:prstGeom>
          <a:solidFill>
            <a:srgbClr val="DDE5FF"/>
          </a:solidFill>
          <a:ln w="12700">
            <a:solidFill>
              <a:srgbClr val="DDE5FF"/>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leash-ros2/src/lib.rs</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#[derive(Debug, Clone, PartialEq)]</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struct PathProposal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frame: Frame&lt;Map&gt;,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at: MonotonicNanos,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poses: Box&lt;[Pose2&lt;Map&gt;]&gt;,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#[derive(Debug, Clone, PartialEq)]</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struct PlanarTransform&lt;Parent, Child&gt;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parent: Frame&lt;Parent&gt;,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child: Frame&lt;Child&gt;,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at: MonotonicNanos,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x: Meters,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y: Meters,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yaw: Radians,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a:p>
            <a:pPr algn="l" indent="0" marL="0">
              <a:lnSpc>
                <a:spcPct val="100000"/>
              </a:lnSpc>
              <a:buNone/>
            </a:pP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#[derive(Debug, Clone, PartialEq)]</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pub struct NavigationGoal {</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activity_id: ActivityId,</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pose: Pose2&lt;Map&gt;,</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    pub received_at: MonotonicNanos,</a:t>
            </a:r>
            <a:endParaRPr lang="en-US" sz="1470" dirty="0"/>
          </a:p>
          <a:p>
            <a:pPr algn="l" indent="0" marL="0">
              <a:lnSpc>
                <a:spcPct val="100000"/>
              </a:lnSpc>
              <a:buNone/>
            </a:pPr>
            <a:r>
              <a:rPr lang="en-US" sz="1470" dirty="0">
                <a:solidFill>
                  <a:srgbClr val="FFFFFF"/>
                </a:solidFill>
                <a:latin typeface="Courier New" pitchFamily="34" charset="0"/>
                <a:ea typeface="Courier New" pitchFamily="34" charset="-122"/>
                <a:cs typeface="Courier New" pitchFamily="34" charset="-120"/>
              </a:rPr>
              <a:t>}</a:t>
            </a:r>
            <a:endParaRPr lang="en-US" sz="1470" dirty="0"/>
          </a:p>
        </p:txBody>
      </p:sp>
      <p:sp>
        <p:nvSpPr>
          <p:cNvPr id="11" name="Shape 9"/>
          <p:cNvSpPr/>
          <p:nvPr/>
        </p:nvSpPr>
        <p:spPr>
          <a:xfrm>
            <a:off x="8275320" y="1389888"/>
            <a:ext cx="3410712" cy="1551432"/>
          </a:xfrm>
          <a:prstGeom prst="rect">
            <a:avLst/>
          </a:prstGeom>
          <a:solidFill>
            <a:srgbClr val="DDE5FF"/>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Map is encoded in every navigation pose.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Transforms name both parent and child types.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ROS2 is an adapter—not an authority bypass.</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CUDA</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37</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0B0B0B"/>
                </a:solidFill>
                <a:latin typeface="Arial" pitchFamily="34" charset="0"/>
                <a:ea typeface="Arial" pitchFamily="34" charset="-122"/>
                <a:cs typeface="Arial" pitchFamily="34" charset="-120"/>
              </a:rPr>
              <a:t>The unsafe launch is narrow, validated, and non-authoritative.</a:t>
            </a:r>
            <a:endParaRPr lang="en-US" sz="2700" dirty="0"/>
          </a:p>
        </p:txBody>
      </p:sp>
      <p:sp>
        <p:nvSpPr>
          <p:cNvPr id="7" name="Shape 5"/>
          <p:cNvSpPr/>
          <p:nvPr/>
        </p:nvSpPr>
        <p:spPr>
          <a:xfrm>
            <a:off x="502920" y="1389888"/>
            <a:ext cx="7543800" cy="4892040"/>
          </a:xfrm>
          <a:prstGeom prst="rect">
            <a:avLst/>
          </a:prstGeom>
          <a:solidFill>
            <a:srgbClr val="101419"/>
          </a:solidFill>
          <a:ln w="26670">
            <a:solidFill>
              <a:srgbClr val="FF5B9D"/>
            </a:solidFill>
            <a:prstDash val="solid"/>
          </a:ln>
        </p:spPr>
      </p:sp>
      <p:sp>
        <p:nvSpPr>
          <p:cNvPr id="8" name="Shape 6"/>
          <p:cNvSpPr/>
          <p:nvPr/>
        </p:nvSpPr>
        <p:spPr>
          <a:xfrm>
            <a:off x="502920" y="1389888"/>
            <a:ext cx="7543800" cy="356616"/>
          </a:xfrm>
          <a:prstGeom prst="rect">
            <a:avLst/>
          </a:prstGeom>
          <a:solidFill>
            <a:srgbClr val="FF5B9D"/>
          </a:solidFill>
          <a:ln w="12700">
            <a:solidFill>
              <a:srgbClr val="FF5B9D"/>
            </a:solidFill>
            <a:prstDash val="solid"/>
          </a:ln>
        </p:spPr>
      </p:sp>
      <p:sp>
        <p:nvSpPr>
          <p:cNvPr id="9" name="Text 7"/>
          <p:cNvSpPr/>
          <p:nvPr/>
        </p:nvSpPr>
        <p:spPr>
          <a:xfrm>
            <a:off x="621792" y="1472184"/>
            <a:ext cx="730605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leash-cuda/src/device.rs [abridged]</a:t>
            </a:r>
            <a:endParaRPr lang="en-US" sz="1050" dirty="0"/>
          </a:p>
        </p:txBody>
      </p:sp>
      <p:sp>
        <p:nvSpPr>
          <p:cNvPr id="10" name="Text 8"/>
          <p:cNvSpPr/>
          <p:nvPr/>
        </p:nvSpPr>
        <p:spPr>
          <a:xfrm>
            <a:off x="667512" y="1901952"/>
            <a:ext cx="7214616" cy="423367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output_count = cells.len()</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.checked_mul(depth as usize)</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.ok_or(ComputeInputError::LengthOverflow)?;</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cell_count = u32::try_from(cells.len())</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.map_err(|_| WorkError::InvalidInput(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ComputeInputError::LengthOverflow))?;</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launch_count = u32::try_from(output_count)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.map_err(|_| WorkError::InvalidInput(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ComputeInputError::LengthOverflow))?;</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ensure_capacity(&amp;self.stream,</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&amp;mut self.occupancy_output, output_count)?;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cells_view = self.occupancy_cells.slice(..cells.len());</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mut output_view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self.occupancy_output.slice_mut(..output_count);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unsafe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self.stream.launch_builder(&amp;self.project_occupancy)</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.arg(&amp;cells_view)</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.arg(&amp;mut output_view)</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.arg(&amp;cell_count)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.arg(&amp;depth)</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.launch(LaunchConfig::for_num_elems(launch_count))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.map_err(|error| backend_error("launch project_occupancy", error))?;</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algn="l" indent="0" marL="0">
              <a:lnSpc>
                <a:spcPct val="100000"/>
              </a:lnSpc>
              <a:buNone/>
            </a:pP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let output_view = self.occupancy_output.slice(..output_count);</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self.stream.clone_dtoh(&amp;output_view)</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    .map_err(|error| backend_error("download output", error))</a:t>
            </a:r>
            <a:endParaRPr lang="en-US" sz="1500" dirty="0"/>
          </a:p>
          <a:p>
            <a:pPr algn="l" indent="0" marL="0">
              <a:lnSpc>
                <a:spcPct val="100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8275320" y="1389888"/>
            <a:ext cx="3410712" cy="1551432"/>
          </a:xfrm>
          <a:prstGeom prst="rect">
            <a:avLst/>
          </a:prstGeom>
          <a:solidFill>
            <a:srgbClr val="FF5B9D"/>
          </a:solidFill>
          <a:ln w="22860">
            <a:solidFill>
              <a:srgbClr val="0B0B0B"/>
            </a:solidFill>
            <a:prstDash val="solid"/>
          </a:ln>
        </p:spPr>
      </p:sp>
      <p:sp>
        <p:nvSpPr>
          <p:cNvPr id="12" name="Text 10"/>
          <p:cNvSpPr/>
          <p:nvPr/>
        </p:nvSpPr>
        <p:spPr>
          <a:xfrm>
            <a:off x="8439912" y="1508760"/>
            <a:ext cx="3081528" cy="1313688"/>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0B0B0B"/>
                </a:solidFill>
                <a:latin typeface="Arial" pitchFamily="34" charset="0"/>
                <a:ea typeface="Arial" pitchFamily="34" charset="-122"/>
                <a:cs typeface="Arial" pitchFamily="34" charset="-120"/>
              </a:rPr>
              <a:t>Validation sits immediately before unsafe.</a:t>
            </a:r>
            <a:endParaRPr lang="en-US" sz="1800" dirty="0"/>
          </a:p>
        </p:txBody>
      </p:sp>
      <p:sp>
        <p:nvSpPr>
          <p:cNvPr id="13" name="Shape 11"/>
          <p:cNvSpPr/>
          <p:nvPr/>
        </p:nvSpPr>
        <p:spPr>
          <a:xfrm>
            <a:off x="8275320" y="3060192"/>
            <a:ext cx="3410712" cy="1551432"/>
          </a:xfrm>
          <a:prstGeom prst="rect">
            <a:avLst/>
          </a:prstGeom>
          <a:solidFill>
            <a:srgbClr val="FFFDF7"/>
          </a:solidFill>
          <a:ln w="22860">
            <a:solidFill>
              <a:srgbClr val="0B0B0B"/>
            </a:solidFill>
            <a:prstDash val="solid"/>
          </a:ln>
        </p:spPr>
      </p:sp>
      <p:sp>
        <p:nvSpPr>
          <p:cNvPr id="14" name="Text 12"/>
          <p:cNvSpPr/>
          <p:nvPr/>
        </p:nvSpPr>
        <p:spPr>
          <a:xfrm>
            <a:off x="8439912" y="3179064"/>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Typed CudaSlice views bound the launch arguments.</a:t>
            </a:r>
            <a:endParaRPr lang="en-US" sz="1600" dirty="0"/>
          </a:p>
        </p:txBody>
      </p:sp>
      <p:sp>
        <p:nvSpPr>
          <p:cNvPr id="15" name="Shape 13"/>
          <p:cNvSpPr/>
          <p:nvPr/>
        </p:nvSpPr>
        <p:spPr>
          <a:xfrm>
            <a:off x="8275320" y="4730496"/>
            <a:ext cx="3410712" cy="1551432"/>
          </a:xfrm>
          <a:prstGeom prst="rect">
            <a:avLst/>
          </a:prstGeom>
          <a:solidFill>
            <a:srgbClr val="FFFDF7"/>
          </a:solidFill>
          <a:ln w="22860">
            <a:solidFill>
              <a:srgbClr val="0B0B0B"/>
            </a:solidFill>
            <a:prstDash val="solid"/>
          </a:ln>
        </p:spPr>
      </p:sp>
      <p:sp>
        <p:nvSpPr>
          <p:cNvPr id="16" name="Text 14"/>
          <p:cNvSpPr/>
          <p:nvPr/>
        </p:nvSpPr>
        <p:spPr>
          <a:xfrm>
            <a:off x="8439912" y="4849368"/>
            <a:ext cx="3081528" cy="1313688"/>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0B0B"/>
                </a:solidFill>
                <a:latin typeface="Arial" pitchFamily="34" charset="0"/>
                <a:ea typeface="Arial" pitchFamily="34" charset="-122"/>
                <a:cs typeface="Arial" pitchFamily="34" charset="-120"/>
              </a:rPr>
              <a:t>CUDA computes shadow evidence; CPU authorizes motion.</a:t>
            </a:r>
            <a:endParaRPr lang="en-US" sz="1600" dirty="0"/>
          </a:p>
        </p:txBody>
      </p:sp>
      <p:sp>
        <p:nvSpPr>
          <p:cNvPr id="17" name="Text 15"/>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PROOF</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38</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0B0B0B"/>
                </a:solidFill>
                <a:latin typeface="Arial" pitchFamily="34" charset="0"/>
                <a:ea typeface="Arial" pitchFamily="34" charset="-122"/>
                <a:cs typeface="Arial" pitchFamily="34" charset="-120"/>
              </a:rPr>
              <a:t>Determinism and measurements close the loop.</a:t>
            </a:r>
            <a:endParaRPr lang="en-US" sz="3000" dirty="0"/>
          </a:p>
        </p:txBody>
      </p:sp>
      <p:sp>
        <p:nvSpPr>
          <p:cNvPr id="7" name="Shape 5"/>
          <p:cNvSpPr/>
          <p:nvPr/>
        </p:nvSpPr>
        <p:spPr>
          <a:xfrm>
            <a:off x="502920" y="1371600"/>
            <a:ext cx="6583680" cy="4462272"/>
          </a:xfrm>
          <a:prstGeom prst="rect">
            <a:avLst/>
          </a:prstGeom>
          <a:solidFill>
            <a:srgbClr val="101419"/>
          </a:solidFill>
          <a:ln w="26670">
            <a:solidFill>
              <a:srgbClr val="B8FF32"/>
            </a:solidFill>
            <a:prstDash val="solid"/>
          </a:ln>
        </p:spPr>
      </p:sp>
      <p:sp>
        <p:nvSpPr>
          <p:cNvPr id="8" name="Shape 6"/>
          <p:cNvSpPr/>
          <p:nvPr/>
        </p:nvSpPr>
        <p:spPr>
          <a:xfrm>
            <a:off x="502920" y="1371600"/>
            <a:ext cx="6583680" cy="356616"/>
          </a:xfrm>
          <a:prstGeom prst="rect">
            <a:avLst/>
          </a:prstGeom>
          <a:solidFill>
            <a:srgbClr val="B8FF32"/>
          </a:solidFill>
          <a:ln w="12700">
            <a:solidFill>
              <a:srgbClr val="B8FF32"/>
            </a:solidFill>
            <a:prstDash val="solid"/>
          </a:ln>
        </p:spPr>
      </p:sp>
      <p:sp>
        <p:nvSpPr>
          <p:cNvPr id="9" name="Text 7"/>
          <p:cNvSpPr/>
          <p:nvPr/>
        </p:nvSpPr>
        <p:spPr>
          <a:xfrm>
            <a:off x="621792" y="1453896"/>
            <a:ext cx="634593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leash-replay/src/lib.rs</a:t>
            </a:r>
            <a:endParaRPr lang="en-US" sz="1050" dirty="0"/>
          </a:p>
        </p:txBody>
      </p:sp>
      <p:sp>
        <p:nvSpPr>
          <p:cNvPr id="10" name="Text 8"/>
          <p:cNvSpPr/>
          <p:nvPr/>
        </p:nvSpPr>
        <p:spPr>
          <a:xfrm>
            <a:off x="667512" y="1883664"/>
            <a:ext cx="6254496" cy="3803904"/>
          </a:xfrm>
          <a:prstGeom prst="rect">
            <a:avLst/>
          </a:prstGeom>
          <a:noFill/>
          <a:ln/>
        </p:spPr>
        <p:txBody>
          <a:bodyPr wrap="square" lIns="0" tIns="0" rIns="0" bIns="0" rtlCol="0" anchor="t">
            <a:normAutofit/>
          </a:bodyPr>
          <a:lstStyle/>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#[derive(Debug, Clone, Copy)]</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struct StableDigest(u64);</a:t>
            </a:r>
            <a:endParaRPr lang="en-US" sz="1520" dirty="0"/>
          </a:p>
          <a:p>
            <a:pPr algn="l" indent="0" marL="0">
              <a:lnSpc>
                <a:spcPct val="100000"/>
              </a:lnSpc>
              <a:buNone/>
            </a:pP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impl StableDigest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const OFFSET: u64 = 0xcbf29ce484222325;</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const PRIME: u64 = 0x00000100000001b3;</a:t>
            </a:r>
            <a:endParaRPr lang="en-US" sz="1520" dirty="0"/>
          </a:p>
          <a:p>
            <a:pPr algn="l" indent="0" marL="0">
              <a:lnSpc>
                <a:spcPct val="100000"/>
              </a:lnSpc>
              <a:buNone/>
            </a:pP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fn u64(&amp;mut self, value: u64)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for byte in value.to_le_bytes()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self.0 ^= u64::from(byte);</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self.0 = self.0.wrapping_mul(Self::PRIME);</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    }</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a:t>
            </a:r>
            <a:endParaRPr lang="en-US" sz="1520" dirty="0"/>
          </a:p>
          <a:p>
            <a:pPr algn="l" indent="0" marL="0">
              <a:lnSpc>
                <a:spcPct val="100000"/>
              </a:lnSpc>
              <a:buNone/>
            </a:pP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let first = scenario.verify().unwrap();</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let second = scenario.verify().unwrap();</a:t>
            </a:r>
            <a:endParaRPr lang="en-US" sz="1520" dirty="0"/>
          </a:p>
          <a:p>
            <a:pPr algn="l" indent="0" marL="0">
              <a:lnSpc>
                <a:spcPct val="100000"/>
              </a:lnSpc>
              <a:buNone/>
            </a:pPr>
            <a:r>
              <a:rPr lang="en-US" sz="1520" dirty="0">
                <a:solidFill>
                  <a:srgbClr val="FFFFFF"/>
                </a:solidFill>
                <a:latin typeface="Courier New" pitchFamily="34" charset="0"/>
                <a:ea typeface="Courier New" pitchFamily="34" charset="-122"/>
                <a:cs typeface="Courier New" pitchFamily="34" charset="-120"/>
              </a:rPr>
              <a:t>assert_eq!(first, second);</a:t>
            </a:r>
            <a:endParaRPr lang="en-US" sz="1520" dirty="0"/>
          </a:p>
        </p:txBody>
      </p:sp>
      <p:sp>
        <p:nvSpPr>
          <p:cNvPr id="11" name="Shape 9"/>
          <p:cNvSpPr/>
          <p:nvPr/>
        </p:nvSpPr>
        <p:spPr>
          <a:xfrm>
            <a:off x="7388352" y="1371600"/>
            <a:ext cx="1993392" cy="1170432"/>
          </a:xfrm>
          <a:prstGeom prst="rect">
            <a:avLst/>
          </a:prstGeom>
          <a:solidFill>
            <a:srgbClr val="B8FF32"/>
          </a:solidFill>
          <a:ln w="26670">
            <a:solidFill>
              <a:srgbClr val="0B0B0B"/>
            </a:solidFill>
            <a:prstDash val="solid"/>
          </a:ln>
        </p:spPr>
      </p:sp>
      <p:sp>
        <p:nvSpPr>
          <p:cNvPr id="12" name="Text 10"/>
          <p:cNvSpPr/>
          <p:nvPr/>
        </p:nvSpPr>
        <p:spPr>
          <a:xfrm>
            <a:off x="7543800" y="1508760"/>
            <a:ext cx="1682496" cy="896112"/>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58.306 µs</a:t>
            </a:r>
            <a:endParaRPr lang="en-US" sz="1800" dirty="0"/>
          </a:p>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p99 transition</a:t>
            </a:r>
            <a:endParaRPr lang="en-US" sz="1800" dirty="0"/>
          </a:p>
        </p:txBody>
      </p:sp>
      <p:sp>
        <p:nvSpPr>
          <p:cNvPr id="13" name="Shape 11"/>
          <p:cNvSpPr/>
          <p:nvPr/>
        </p:nvSpPr>
        <p:spPr>
          <a:xfrm>
            <a:off x="9646920" y="1371600"/>
            <a:ext cx="1993392" cy="1170432"/>
          </a:xfrm>
          <a:prstGeom prst="rect">
            <a:avLst/>
          </a:prstGeom>
          <a:solidFill>
            <a:srgbClr val="DDE5FF"/>
          </a:solidFill>
          <a:ln w="26670">
            <a:solidFill>
              <a:srgbClr val="0B0B0B"/>
            </a:solidFill>
            <a:prstDash val="solid"/>
          </a:ln>
        </p:spPr>
      </p:sp>
      <p:sp>
        <p:nvSpPr>
          <p:cNvPr id="14" name="Text 12"/>
          <p:cNvSpPr/>
          <p:nvPr/>
        </p:nvSpPr>
        <p:spPr>
          <a:xfrm>
            <a:off x="9802368" y="1508760"/>
            <a:ext cx="1682496" cy="896112"/>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0</a:t>
            </a:r>
            <a:endParaRPr lang="en-US" sz="1800" dirty="0"/>
          </a:p>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deadline misses</a:t>
            </a:r>
            <a:endParaRPr lang="en-US" sz="1800" dirty="0"/>
          </a:p>
        </p:txBody>
      </p:sp>
      <p:sp>
        <p:nvSpPr>
          <p:cNvPr id="15" name="Shape 13"/>
          <p:cNvSpPr/>
          <p:nvPr/>
        </p:nvSpPr>
        <p:spPr>
          <a:xfrm>
            <a:off x="7388352" y="2816352"/>
            <a:ext cx="1993392" cy="1170432"/>
          </a:xfrm>
          <a:prstGeom prst="rect">
            <a:avLst/>
          </a:prstGeom>
          <a:solidFill>
            <a:srgbClr val="FFF0AA"/>
          </a:solidFill>
          <a:ln w="26670">
            <a:solidFill>
              <a:srgbClr val="0B0B0B"/>
            </a:solidFill>
            <a:prstDash val="solid"/>
          </a:ln>
        </p:spPr>
      </p:sp>
      <p:sp>
        <p:nvSpPr>
          <p:cNvPr id="16" name="Text 14"/>
          <p:cNvSpPr/>
          <p:nvPr/>
        </p:nvSpPr>
        <p:spPr>
          <a:xfrm>
            <a:off x="7543800" y="2953512"/>
            <a:ext cx="1682496" cy="896112"/>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110,293</a:t>
            </a:r>
            <a:endParaRPr lang="en-US" sz="1800" dirty="0"/>
          </a:p>
          <a:p>
            <a:pPr algn="ctr" indent="0" marL="0">
              <a:lnSpc>
                <a:spcPct val="100000"/>
              </a:lnSpc>
              <a:buNone/>
            </a:pPr>
            <a:r>
              <a:rPr lang="en-US" sz="1800" b="1" dirty="0">
                <a:solidFill>
                  <a:srgbClr val="0B0B0B"/>
                </a:solidFill>
                <a:latin typeface="Arial" pitchFamily="34" charset="0"/>
                <a:ea typeface="Arial" pitchFamily="34" charset="-122"/>
                <a:cs typeface="Arial" pitchFamily="34" charset="-120"/>
              </a:rPr>
              <a:t>durable records/s</a:t>
            </a:r>
            <a:endParaRPr lang="en-US" sz="1800" dirty="0"/>
          </a:p>
        </p:txBody>
      </p:sp>
      <p:sp>
        <p:nvSpPr>
          <p:cNvPr id="17" name="Shape 15"/>
          <p:cNvSpPr/>
          <p:nvPr/>
        </p:nvSpPr>
        <p:spPr>
          <a:xfrm>
            <a:off x="9646920" y="2816352"/>
            <a:ext cx="1993392" cy="1170432"/>
          </a:xfrm>
          <a:prstGeom prst="rect">
            <a:avLst/>
          </a:prstGeom>
          <a:solidFill>
            <a:srgbClr val="FFDCEB"/>
          </a:solidFill>
          <a:ln w="26670">
            <a:solidFill>
              <a:srgbClr val="0B0B0B"/>
            </a:solidFill>
            <a:prstDash val="solid"/>
          </a:ln>
        </p:spPr>
      </p:sp>
      <p:sp>
        <p:nvSpPr>
          <p:cNvPr id="18" name="Text 16"/>
          <p:cNvSpPr/>
          <p:nvPr/>
        </p:nvSpPr>
        <p:spPr>
          <a:xfrm>
            <a:off x="9802368" y="2953512"/>
            <a:ext cx="1682496" cy="896112"/>
          </a:xfrm>
          <a:prstGeom prst="rect">
            <a:avLst/>
          </a:prstGeom>
          <a:noFill/>
          <a:ln/>
        </p:spPr>
        <p:txBody>
          <a:bodyPr wrap="square" lIns="0" tIns="0" rIns="0" bIns="0" rtlCol="0" anchor="ctr">
            <a:normAutofit/>
          </a:bodyPr>
          <a:lstStyle/>
          <a:p>
            <a:pPr algn="ctr" indent="0" marL="0">
              <a:lnSpc>
                <a:spcPct val="100000"/>
              </a:lnSpc>
              <a:buNone/>
            </a:pPr>
            <a:r>
              <a:rPr lang="en-US" sz="1700" b="1" dirty="0">
                <a:solidFill>
                  <a:srgbClr val="0B0B0B"/>
                </a:solidFill>
                <a:latin typeface="Arial" pitchFamily="34" charset="0"/>
                <a:ea typeface="Arial" pitchFamily="34" charset="-122"/>
                <a:cs typeface="Arial" pitchFamily="34" charset="-120"/>
              </a:rPr>
              <a:t>37.622 ms</a:t>
            </a:r>
            <a:endParaRPr lang="en-US" sz="1700" dirty="0"/>
          </a:p>
          <a:p>
            <a:pPr algn="ctr" indent="0" marL="0">
              <a:lnSpc>
                <a:spcPct val="100000"/>
              </a:lnSpc>
              <a:buNone/>
            </a:pPr>
            <a:r>
              <a:rPr lang="en-US" sz="1700" b="1" dirty="0">
                <a:solidFill>
                  <a:srgbClr val="0B0B0B"/>
                </a:solidFill>
                <a:latin typeface="Arial" pitchFamily="34" charset="0"/>
                <a:ea typeface="Arial" pitchFamily="34" charset="-122"/>
                <a:cs typeface="Arial" pitchFamily="34" charset="-120"/>
              </a:rPr>
              <a:t>physical E-stop ack</a:t>
            </a:r>
            <a:endParaRPr lang="en-US" sz="1700" dirty="0"/>
          </a:p>
        </p:txBody>
      </p:sp>
      <p:sp>
        <p:nvSpPr>
          <p:cNvPr id="19" name="Text 17"/>
          <p:cNvSpPr/>
          <p:nvPr/>
        </p:nvSpPr>
        <p:spPr>
          <a:xfrm>
            <a:off x="7452360" y="4599432"/>
            <a:ext cx="4114800" cy="685800"/>
          </a:xfrm>
          <a:prstGeom prst="rect">
            <a:avLst/>
          </a:prstGeom>
          <a:noFill/>
          <a:ln/>
        </p:spPr>
        <p:txBody>
          <a:bodyPr wrap="square" lIns="0" tIns="0" rIns="0" bIns="0" rtlCol="0" anchor="t">
            <a:normAutofit/>
          </a:bodyPr>
          <a:lstStyle/>
          <a:p>
            <a:pPr algn="ctr" indent="0" marL="0">
              <a:lnSpc>
                <a:spcPct val="100000"/>
              </a:lnSpc>
              <a:buNone/>
            </a:pPr>
            <a:r>
              <a:rPr lang="en-US" sz="2100" b="1" dirty="0">
                <a:solidFill>
                  <a:srgbClr val="0B0B0B"/>
                </a:solidFill>
                <a:latin typeface="Arial" pitchFamily="34" charset="0"/>
                <a:ea typeface="Arial" pitchFamily="34" charset="-122"/>
                <a:cs typeface="Arial" pitchFamily="34" charset="-120"/>
              </a:rPr>
              <a:t>Same input → same transitions → same digest</a:t>
            </a:r>
            <a:endParaRPr lang="en-US" sz="2100" dirty="0"/>
          </a:p>
        </p:txBody>
      </p:sp>
      <p:sp>
        <p:nvSpPr>
          <p:cNvPr id="20" name="Text 18"/>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THE SLOWER CLOCK</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39</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0B0B0B"/>
                </a:solidFill>
                <a:latin typeface="Arial" pitchFamily="34" charset="0"/>
                <a:ea typeface="Arial" pitchFamily="34" charset="-122"/>
                <a:cs typeface="Arial" pitchFamily="34" charset="-120"/>
              </a:rPr>
              <a:t>Qualia reasons. Leash retains physical authority.</a:t>
            </a:r>
            <a:endParaRPr lang="en-US" sz="3000" dirty="0"/>
          </a:p>
        </p:txBody>
      </p:sp>
      <p:sp>
        <p:nvSpPr>
          <p:cNvPr id="7" name="Shape 5"/>
          <p:cNvSpPr/>
          <p:nvPr/>
        </p:nvSpPr>
        <p:spPr>
          <a:xfrm>
            <a:off x="521208" y="1289304"/>
            <a:ext cx="7031736" cy="4389120"/>
          </a:xfrm>
          <a:prstGeom prst="rect">
            <a:avLst/>
          </a:prstGeom>
          <a:solidFill>
            <a:srgbClr val="FFFDF7"/>
          </a:solidFill>
          <a:ln w="34290">
            <a:solidFill>
              <a:srgbClr val="2855FF"/>
            </a:solidFill>
            <a:prstDash val="solid"/>
          </a:ln>
        </p:spPr>
      </p:sp>
      <p:pic>
        <p:nvPicPr>
          <p:cNvPr id="8" name="Image 0" descr="/Users/ericmanganaro/leash-worktrees/geek-on-a-leash-talk/talks/geek-on-a-leash/assets/qualia-world-current.png">    </p:cNvPr>
          <p:cNvPicPr>
            <a:picLocks noChangeAspect="1"/>
          </p:cNvPicPr>
          <p:nvPr/>
        </p:nvPicPr>
        <p:blipFill>
          <a:blip r:embed="rId1"/>
          <a:stretch>
            <a:fillRect/>
          </a:stretch>
        </p:blipFill>
        <p:spPr>
          <a:xfrm>
            <a:off x="585216" y="1353312"/>
            <a:ext cx="6903720" cy="4261104"/>
          </a:xfrm>
          <a:prstGeom prst="rect">
            <a:avLst/>
          </a:prstGeom>
        </p:spPr>
      </p:pic>
      <p:sp>
        <p:nvSpPr>
          <p:cNvPr id="9" name="Shape 6"/>
          <p:cNvSpPr/>
          <p:nvPr/>
        </p:nvSpPr>
        <p:spPr>
          <a:xfrm>
            <a:off x="7909560" y="1371600"/>
            <a:ext cx="3337560" cy="1280160"/>
          </a:xfrm>
          <a:prstGeom prst="rect">
            <a:avLst/>
          </a:prstGeom>
          <a:solidFill>
            <a:srgbClr val="DDE5FF"/>
          </a:solidFill>
          <a:ln w="26670">
            <a:solidFill>
              <a:srgbClr val="0B0B0B"/>
            </a:solidFill>
            <a:prstDash val="solid"/>
          </a:ln>
        </p:spPr>
      </p:sp>
      <p:sp>
        <p:nvSpPr>
          <p:cNvPr id="10" name="Text 7"/>
          <p:cNvSpPr/>
          <p:nvPr/>
        </p:nvSpPr>
        <p:spPr>
          <a:xfrm>
            <a:off x="8065008" y="1508760"/>
            <a:ext cx="3026664" cy="1005840"/>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MISSION</a:t>
            </a:r>
            <a:endParaRPr lang="en-US" sz="2200" dirty="0"/>
          </a:p>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ONTOLOGY</a:t>
            </a:r>
            <a:endParaRPr lang="en-US" sz="2200" dirty="0"/>
          </a:p>
          <a:p>
            <a:pPr algn="ctr" indent="0" marL="0">
              <a:lnSpc>
                <a:spcPct val="100000"/>
              </a:lnSpc>
              <a:buNone/>
            </a:pPr>
            <a:r>
              <a:rPr lang="en-US" sz="2200" b="1" dirty="0">
                <a:solidFill>
                  <a:srgbClr val="0B0B0B"/>
                </a:solidFill>
                <a:latin typeface="Arial" pitchFamily="34" charset="0"/>
                <a:ea typeface="Arial" pitchFamily="34" charset="-122"/>
                <a:cs typeface="Arial" pitchFamily="34" charset="-120"/>
              </a:rPr>
              <a:t>SEMANTICS</a:t>
            </a:r>
            <a:endParaRPr lang="en-US" sz="2200" dirty="0"/>
          </a:p>
        </p:txBody>
      </p:sp>
      <p:sp>
        <p:nvSpPr>
          <p:cNvPr id="11" name="Shape 8"/>
          <p:cNvSpPr/>
          <p:nvPr/>
        </p:nvSpPr>
        <p:spPr>
          <a:xfrm>
            <a:off x="9573768" y="2889504"/>
            <a:ext cx="0" cy="658368"/>
          </a:xfrm>
          <a:prstGeom prst="line">
            <a:avLst/>
          </a:prstGeom>
          <a:noFill/>
          <a:ln w="38100">
            <a:solidFill>
              <a:srgbClr val="0B0B0B"/>
            </a:solidFill>
            <a:prstDash val="solid"/>
            <a:tailEnd type="triangle"/>
          </a:ln>
        </p:spPr>
      </p:sp>
      <p:sp>
        <p:nvSpPr>
          <p:cNvPr id="12" name="Shape 9"/>
          <p:cNvSpPr/>
          <p:nvPr/>
        </p:nvSpPr>
        <p:spPr>
          <a:xfrm>
            <a:off x="7909560" y="3675888"/>
            <a:ext cx="3337560" cy="960120"/>
          </a:xfrm>
          <a:prstGeom prst="rect">
            <a:avLst/>
          </a:prstGeom>
          <a:solidFill>
            <a:srgbClr val="FFF0AA"/>
          </a:solidFill>
          <a:ln w="26670">
            <a:solidFill>
              <a:srgbClr val="0B0B0B"/>
            </a:solidFill>
            <a:prstDash val="solid"/>
          </a:ln>
        </p:spPr>
      </p:sp>
      <p:sp>
        <p:nvSpPr>
          <p:cNvPr id="13" name="Text 10"/>
          <p:cNvSpPr/>
          <p:nvPr/>
        </p:nvSpPr>
        <p:spPr>
          <a:xfrm>
            <a:off x="8065008" y="3813048"/>
            <a:ext cx="3026664" cy="685800"/>
          </a:xfrm>
          <a:prstGeom prst="rect">
            <a:avLst/>
          </a:prstGeom>
          <a:noFill/>
          <a:ln/>
        </p:spPr>
        <p:txBody>
          <a:bodyPr wrap="square" lIns="0" tIns="0" rIns="0" bIns="0" rtlCol="0" anchor="ctr">
            <a:normAutofit/>
          </a:bodyPr>
          <a:lstStyle/>
          <a:p>
            <a:pPr algn="ctr" indent="0" marL="0">
              <a:lnSpc>
                <a:spcPct val="100000"/>
              </a:lnSpc>
              <a:buNone/>
            </a:pPr>
            <a:r>
              <a:rPr lang="en-US" sz="2100" b="1" dirty="0">
                <a:solidFill>
                  <a:srgbClr val="0B0B0B"/>
                </a:solidFill>
                <a:latin typeface="Arial" pitchFamily="34" charset="0"/>
                <a:ea typeface="Arial" pitchFamily="34" charset="-122"/>
                <a:cs typeface="Arial" pitchFamily="34" charset="-120"/>
              </a:rPr>
              <a:t>PROPOSALS +</a:t>
            </a:r>
            <a:endParaRPr lang="en-US" sz="2100" dirty="0"/>
          </a:p>
          <a:p>
            <a:pPr algn="ctr" indent="0" marL="0">
              <a:lnSpc>
                <a:spcPct val="100000"/>
              </a:lnSpc>
              <a:buNone/>
            </a:pPr>
            <a:r>
              <a:rPr lang="en-US" sz="2100" b="1" dirty="0">
                <a:solidFill>
                  <a:srgbClr val="0B0B0B"/>
                </a:solidFill>
                <a:latin typeface="Arial" pitchFamily="34" charset="0"/>
                <a:ea typeface="Arial" pitchFamily="34" charset="-122"/>
                <a:cs typeface="Arial" pitchFamily="34" charset="-120"/>
              </a:rPr>
              <a:t>EVIDENCE</a:t>
            </a:r>
            <a:endParaRPr lang="en-US" sz="2100" dirty="0"/>
          </a:p>
        </p:txBody>
      </p:sp>
      <p:sp>
        <p:nvSpPr>
          <p:cNvPr id="14" name="Shape 11"/>
          <p:cNvSpPr/>
          <p:nvPr/>
        </p:nvSpPr>
        <p:spPr>
          <a:xfrm>
            <a:off x="9573768" y="4846320"/>
            <a:ext cx="0" cy="512064"/>
          </a:xfrm>
          <a:prstGeom prst="line">
            <a:avLst/>
          </a:prstGeom>
          <a:noFill/>
          <a:ln w="38100">
            <a:solidFill>
              <a:srgbClr val="0B0B0B"/>
            </a:solidFill>
            <a:prstDash val="solid"/>
            <a:tailEnd type="triangle"/>
          </a:ln>
        </p:spPr>
      </p:sp>
      <p:sp>
        <p:nvSpPr>
          <p:cNvPr id="15" name="Shape 12"/>
          <p:cNvSpPr/>
          <p:nvPr/>
        </p:nvSpPr>
        <p:spPr>
          <a:xfrm>
            <a:off x="8065008" y="5504688"/>
            <a:ext cx="3017520" cy="365760"/>
          </a:xfrm>
          <a:prstGeom prst="roundRect">
            <a:avLst>
              <a:gd name="adj" fmla="val 15000"/>
            </a:avLst>
          </a:prstGeom>
          <a:solidFill>
            <a:srgbClr val="B8FF32"/>
          </a:solidFill>
          <a:ln w="17780">
            <a:solidFill>
              <a:srgbClr val="0B0B0B"/>
            </a:solidFill>
            <a:prstDash val="solid"/>
          </a:ln>
        </p:spPr>
      </p:sp>
      <p:sp>
        <p:nvSpPr>
          <p:cNvPr id="16" name="Text 13"/>
          <p:cNvSpPr/>
          <p:nvPr/>
        </p:nvSpPr>
        <p:spPr>
          <a:xfrm>
            <a:off x="8138160" y="5568696"/>
            <a:ext cx="2871216"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0B0B0B"/>
                </a:solidFill>
                <a:latin typeface="Arial" pitchFamily="34" charset="0"/>
                <a:ea typeface="Arial" pitchFamily="34" charset="-122"/>
                <a:cs typeface="Arial" pitchFamily="34" charset="-120"/>
              </a:rPr>
              <a:t>LEASH AUTHORIZES</a:t>
            </a:r>
            <a:endParaRPr lang="en-US" sz="1200" dirty="0"/>
          </a:p>
        </p:txBody>
      </p:sp>
      <p:sp>
        <p:nvSpPr>
          <p:cNvPr id="17" name="Text 14"/>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D63D"/>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LIVE PROOF</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40</a:t>
            </a:r>
            <a:endParaRPr lang="en-US" sz="950" dirty="0"/>
          </a:p>
        </p:txBody>
      </p:sp>
      <p:sp>
        <p:nvSpPr>
          <p:cNvPr id="6" name="Text 4"/>
          <p:cNvSpPr/>
          <p:nvPr/>
        </p:nvSpPr>
        <p:spPr>
          <a:xfrm>
            <a:off x="502920" y="530352"/>
            <a:ext cx="11155680" cy="68580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0B0B0B"/>
                </a:solidFill>
                <a:latin typeface="Arial" pitchFamily="34" charset="0"/>
                <a:ea typeface="Arial" pitchFamily="34" charset="-122"/>
                <a:cs typeface="Arial" pitchFamily="34" charset="-120"/>
              </a:rPr>
              <a:t>Demo the boundary, not a heroic autonomy claim.</a:t>
            </a:r>
            <a:endParaRPr lang="en-US" sz="3000" dirty="0"/>
          </a:p>
        </p:txBody>
      </p:sp>
      <p:sp>
        <p:nvSpPr>
          <p:cNvPr id="7" name="Shape 5"/>
          <p:cNvSpPr/>
          <p:nvPr/>
        </p:nvSpPr>
        <p:spPr>
          <a:xfrm>
            <a:off x="658368" y="1353312"/>
            <a:ext cx="658368" cy="658368"/>
          </a:xfrm>
          <a:prstGeom prst="rect">
            <a:avLst/>
          </a:prstGeom>
          <a:solidFill>
            <a:srgbClr val="0B0B0B"/>
          </a:solidFill>
          <a:ln w="26670">
            <a:solidFill>
              <a:srgbClr val="0B0B0B"/>
            </a:solidFill>
            <a:prstDash val="solid"/>
          </a:ln>
        </p:spPr>
      </p:sp>
      <p:sp>
        <p:nvSpPr>
          <p:cNvPr id="8" name="Text 6"/>
          <p:cNvSpPr/>
          <p:nvPr/>
        </p:nvSpPr>
        <p:spPr>
          <a:xfrm>
            <a:off x="813816" y="1490472"/>
            <a:ext cx="347472"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FFFFFF"/>
                </a:solidFill>
                <a:latin typeface="Courier New" pitchFamily="34" charset="0"/>
                <a:ea typeface="Courier New" pitchFamily="34" charset="-122"/>
                <a:cs typeface="Courier New" pitchFamily="34" charset="-120"/>
              </a:rPr>
              <a:t>1</a:t>
            </a:r>
            <a:endParaRPr lang="en-US" sz="2200" dirty="0"/>
          </a:p>
        </p:txBody>
      </p:sp>
      <p:sp>
        <p:nvSpPr>
          <p:cNvPr id="9" name="Shape 7"/>
          <p:cNvSpPr/>
          <p:nvPr/>
        </p:nvSpPr>
        <p:spPr>
          <a:xfrm>
            <a:off x="1536192" y="1353312"/>
            <a:ext cx="4709160" cy="658368"/>
          </a:xfrm>
          <a:prstGeom prst="rect">
            <a:avLst/>
          </a:prstGeom>
          <a:solidFill>
            <a:srgbClr val="DDE5FF"/>
          </a:solidFill>
          <a:ln w="26670">
            <a:solidFill>
              <a:srgbClr val="0B0B0B"/>
            </a:solidFill>
            <a:prstDash val="solid"/>
          </a:ln>
        </p:spPr>
      </p:sp>
      <p:sp>
        <p:nvSpPr>
          <p:cNvPr id="10" name="Text 8"/>
          <p:cNvSpPr/>
          <p:nvPr/>
        </p:nvSpPr>
        <p:spPr>
          <a:xfrm>
            <a:off x="1719072" y="1536192"/>
            <a:ext cx="4343400" cy="292608"/>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B0B0B"/>
                </a:solidFill>
                <a:latin typeface="Arial" pitchFamily="34" charset="0"/>
                <a:ea typeface="Arial" pitchFamily="34" charset="-122"/>
                <a:cs typeface="Arial" pitchFamily="34" charset="-120"/>
              </a:rPr>
              <a:t>read-only preflight</a:t>
            </a:r>
            <a:endParaRPr lang="en-US" sz="1900" dirty="0"/>
          </a:p>
        </p:txBody>
      </p:sp>
      <p:sp>
        <p:nvSpPr>
          <p:cNvPr id="11" name="Shape 9"/>
          <p:cNvSpPr/>
          <p:nvPr/>
        </p:nvSpPr>
        <p:spPr>
          <a:xfrm>
            <a:off x="658368" y="2404872"/>
            <a:ext cx="658368" cy="658368"/>
          </a:xfrm>
          <a:prstGeom prst="rect">
            <a:avLst/>
          </a:prstGeom>
          <a:solidFill>
            <a:srgbClr val="0B0B0B"/>
          </a:solidFill>
          <a:ln w="26670">
            <a:solidFill>
              <a:srgbClr val="0B0B0B"/>
            </a:solidFill>
            <a:prstDash val="solid"/>
          </a:ln>
        </p:spPr>
      </p:sp>
      <p:sp>
        <p:nvSpPr>
          <p:cNvPr id="12" name="Text 10"/>
          <p:cNvSpPr/>
          <p:nvPr/>
        </p:nvSpPr>
        <p:spPr>
          <a:xfrm>
            <a:off x="813816" y="2542032"/>
            <a:ext cx="347472"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FFFFFF"/>
                </a:solidFill>
                <a:latin typeface="Courier New" pitchFamily="34" charset="0"/>
                <a:ea typeface="Courier New" pitchFamily="34" charset="-122"/>
                <a:cs typeface="Courier New" pitchFamily="34" charset="-120"/>
              </a:rPr>
              <a:t>2</a:t>
            </a:r>
            <a:endParaRPr lang="en-US" sz="2200" dirty="0"/>
          </a:p>
        </p:txBody>
      </p:sp>
      <p:sp>
        <p:nvSpPr>
          <p:cNvPr id="13" name="Shape 11"/>
          <p:cNvSpPr/>
          <p:nvPr/>
        </p:nvSpPr>
        <p:spPr>
          <a:xfrm>
            <a:off x="1536192" y="2404872"/>
            <a:ext cx="4709160" cy="658368"/>
          </a:xfrm>
          <a:prstGeom prst="rect">
            <a:avLst/>
          </a:prstGeom>
          <a:solidFill>
            <a:srgbClr val="FFF0AA"/>
          </a:solidFill>
          <a:ln w="26670">
            <a:solidFill>
              <a:srgbClr val="0B0B0B"/>
            </a:solidFill>
            <a:prstDash val="solid"/>
          </a:ln>
        </p:spPr>
      </p:sp>
      <p:sp>
        <p:nvSpPr>
          <p:cNvPr id="14" name="Text 12"/>
          <p:cNvSpPr/>
          <p:nvPr/>
        </p:nvSpPr>
        <p:spPr>
          <a:xfrm>
            <a:off x="1719072" y="2587752"/>
            <a:ext cx="4343400" cy="292608"/>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B0B0B"/>
                </a:solidFill>
                <a:latin typeface="Arial" pitchFamily="34" charset="0"/>
                <a:ea typeface="Arial" pitchFamily="34" charset="-122"/>
                <a:cs typeface="Arial" pitchFamily="34" charset="-120"/>
              </a:rPr>
              <a:t>show proposal + evidence</a:t>
            </a:r>
            <a:endParaRPr lang="en-US" sz="1900" dirty="0"/>
          </a:p>
        </p:txBody>
      </p:sp>
      <p:sp>
        <p:nvSpPr>
          <p:cNvPr id="15" name="Shape 13"/>
          <p:cNvSpPr/>
          <p:nvPr/>
        </p:nvSpPr>
        <p:spPr>
          <a:xfrm>
            <a:off x="658368" y="3456432"/>
            <a:ext cx="658368" cy="658368"/>
          </a:xfrm>
          <a:prstGeom prst="rect">
            <a:avLst/>
          </a:prstGeom>
          <a:solidFill>
            <a:srgbClr val="0B0B0B"/>
          </a:solidFill>
          <a:ln w="26670">
            <a:solidFill>
              <a:srgbClr val="0B0B0B"/>
            </a:solidFill>
            <a:prstDash val="solid"/>
          </a:ln>
        </p:spPr>
      </p:sp>
      <p:sp>
        <p:nvSpPr>
          <p:cNvPr id="16" name="Text 14"/>
          <p:cNvSpPr/>
          <p:nvPr/>
        </p:nvSpPr>
        <p:spPr>
          <a:xfrm>
            <a:off x="813816" y="3593592"/>
            <a:ext cx="347472"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FFFFFF"/>
                </a:solidFill>
                <a:latin typeface="Courier New" pitchFamily="34" charset="0"/>
                <a:ea typeface="Courier New" pitchFamily="34" charset="-122"/>
                <a:cs typeface="Courier New" pitchFamily="34" charset="-120"/>
              </a:rPr>
              <a:t>3</a:t>
            </a:r>
            <a:endParaRPr lang="en-US" sz="2200" dirty="0"/>
          </a:p>
        </p:txBody>
      </p:sp>
      <p:sp>
        <p:nvSpPr>
          <p:cNvPr id="17" name="Shape 15"/>
          <p:cNvSpPr/>
          <p:nvPr/>
        </p:nvSpPr>
        <p:spPr>
          <a:xfrm>
            <a:off x="1536192" y="3456432"/>
            <a:ext cx="4709160" cy="658368"/>
          </a:xfrm>
          <a:prstGeom prst="rect">
            <a:avLst/>
          </a:prstGeom>
          <a:solidFill>
            <a:srgbClr val="FFDCEB"/>
          </a:solidFill>
          <a:ln w="26670">
            <a:solidFill>
              <a:srgbClr val="0B0B0B"/>
            </a:solidFill>
            <a:prstDash val="solid"/>
          </a:ln>
        </p:spPr>
      </p:sp>
      <p:sp>
        <p:nvSpPr>
          <p:cNvPr id="18" name="Text 16"/>
          <p:cNvSpPr/>
          <p:nvPr/>
        </p:nvSpPr>
        <p:spPr>
          <a:xfrm>
            <a:off x="1719072" y="3639312"/>
            <a:ext cx="4343400" cy="292608"/>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B0B0B"/>
                </a:solidFill>
                <a:latin typeface="Arial" pitchFamily="34" charset="0"/>
                <a:ea typeface="Arial" pitchFamily="34" charset="-122"/>
                <a:cs typeface="Arial" pitchFamily="34" charset="-120"/>
              </a:rPr>
              <a:t>approve one ≤ 0.10 pulse</a:t>
            </a:r>
            <a:endParaRPr lang="en-US" sz="1900" dirty="0"/>
          </a:p>
        </p:txBody>
      </p:sp>
      <p:sp>
        <p:nvSpPr>
          <p:cNvPr id="19" name="Shape 17"/>
          <p:cNvSpPr/>
          <p:nvPr/>
        </p:nvSpPr>
        <p:spPr>
          <a:xfrm>
            <a:off x="658368" y="4507992"/>
            <a:ext cx="658368" cy="658368"/>
          </a:xfrm>
          <a:prstGeom prst="rect">
            <a:avLst/>
          </a:prstGeom>
          <a:solidFill>
            <a:srgbClr val="0B0B0B"/>
          </a:solidFill>
          <a:ln w="26670">
            <a:solidFill>
              <a:srgbClr val="0B0B0B"/>
            </a:solidFill>
            <a:prstDash val="solid"/>
          </a:ln>
        </p:spPr>
      </p:sp>
      <p:sp>
        <p:nvSpPr>
          <p:cNvPr id="20" name="Text 18"/>
          <p:cNvSpPr/>
          <p:nvPr/>
        </p:nvSpPr>
        <p:spPr>
          <a:xfrm>
            <a:off x="813816" y="4645152"/>
            <a:ext cx="347472"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FFFFFF"/>
                </a:solidFill>
                <a:latin typeface="Courier New" pitchFamily="34" charset="0"/>
                <a:ea typeface="Courier New" pitchFamily="34" charset="-122"/>
                <a:cs typeface="Courier New" pitchFamily="34" charset="-120"/>
              </a:rPr>
              <a:t>4</a:t>
            </a:r>
            <a:endParaRPr lang="en-US" sz="2200" dirty="0"/>
          </a:p>
        </p:txBody>
      </p:sp>
      <p:sp>
        <p:nvSpPr>
          <p:cNvPr id="21" name="Shape 19"/>
          <p:cNvSpPr/>
          <p:nvPr/>
        </p:nvSpPr>
        <p:spPr>
          <a:xfrm>
            <a:off x="1536192" y="4507992"/>
            <a:ext cx="4709160" cy="658368"/>
          </a:xfrm>
          <a:prstGeom prst="rect">
            <a:avLst/>
          </a:prstGeom>
          <a:solidFill>
            <a:srgbClr val="B8FF32"/>
          </a:solidFill>
          <a:ln w="26670">
            <a:solidFill>
              <a:srgbClr val="0B0B0B"/>
            </a:solidFill>
            <a:prstDash val="solid"/>
          </a:ln>
        </p:spPr>
      </p:sp>
      <p:sp>
        <p:nvSpPr>
          <p:cNvPr id="22" name="Text 20"/>
          <p:cNvSpPr/>
          <p:nvPr/>
        </p:nvSpPr>
        <p:spPr>
          <a:xfrm>
            <a:off x="1719072" y="4690872"/>
            <a:ext cx="4343400" cy="292608"/>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B0B0B"/>
                </a:solidFill>
                <a:latin typeface="Arial" pitchFamily="34" charset="0"/>
                <a:ea typeface="Arial" pitchFamily="34" charset="-122"/>
                <a:cs typeface="Arial" pitchFamily="34" charset="-120"/>
              </a:rPr>
              <a:t>verify zero + acknowledgement</a:t>
            </a:r>
            <a:endParaRPr lang="en-US" sz="1900" dirty="0"/>
          </a:p>
        </p:txBody>
      </p:sp>
      <p:sp>
        <p:nvSpPr>
          <p:cNvPr id="23" name="Shape 21"/>
          <p:cNvSpPr/>
          <p:nvPr/>
        </p:nvSpPr>
        <p:spPr>
          <a:xfrm>
            <a:off x="6675120" y="1353312"/>
            <a:ext cx="4892040" cy="4498848"/>
          </a:xfrm>
          <a:prstGeom prst="rect">
            <a:avLst/>
          </a:prstGeom>
          <a:solidFill>
            <a:srgbClr val="101419"/>
          </a:solidFill>
          <a:ln w="26670">
            <a:solidFill>
              <a:srgbClr val="EF3340"/>
            </a:solidFill>
            <a:prstDash val="solid"/>
          </a:ln>
        </p:spPr>
      </p:sp>
      <p:sp>
        <p:nvSpPr>
          <p:cNvPr id="24" name="Shape 22"/>
          <p:cNvSpPr/>
          <p:nvPr/>
        </p:nvSpPr>
        <p:spPr>
          <a:xfrm>
            <a:off x="6675120" y="1353312"/>
            <a:ext cx="4892040" cy="356616"/>
          </a:xfrm>
          <a:prstGeom prst="rect">
            <a:avLst/>
          </a:prstGeom>
          <a:solidFill>
            <a:srgbClr val="EF3340"/>
          </a:solidFill>
          <a:ln w="12700">
            <a:solidFill>
              <a:srgbClr val="EF3340"/>
            </a:solidFill>
            <a:prstDash val="solid"/>
          </a:ln>
        </p:spPr>
      </p:sp>
      <p:sp>
        <p:nvSpPr>
          <p:cNvPr id="25" name="Text 23"/>
          <p:cNvSpPr/>
          <p:nvPr/>
        </p:nvSpPr>
        <p:spPr>
          <a:xfrm>
            <a:off x="6793992" y="1435608"/>
            <a:ext cx="4654296" cy="182880"/>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0B0B"/>
                </a:solidFill>
                <a:latin typeface="Courier New" pitchFamily="34" charset="0"/>
                <a:ea typeface="Courier New" pitchFamily="34" charset="-122"/>
                <a:cs typeface="Courier New" pitchFamily="34" charset="-120"/>
              </a:rPr>
              <a:t>operator contract</a:t>
            </a:r>
            <a:endParaRPr lang="en-US" sz="1050" dirty="0"/>
          </a:p>
        </p:txBody>
      </p:sp>
      <p:sp>
        <p:nvSpPr>
          <p:cNvPr id="26" name="Text 24"/>
          <p:cNvSpPr/>
          <p:nvPr/>
        </p:nvSpPr>
        <p:spPr>
          <a:xfrm>
            <a:off x="6839712" y="1865376"/>
            <a:ext cx="4562856" cy="3840480"/>
          </a:xfrm>
          <a:prstGeom prst="rect">
            <a:avLst/>
          </a:prstGeom>
          <a:noFill/>
          <a:ln/>
        </p:spPr>
        <p:txBody>
          <a:bodyPr wrap="square" lIns="0" tIns="0" rIns="0" bIns="0" rtlCol="0" anchor="t">
            <a:normAutofit/>
          </a:bodyPr>
          <a:lstStyle/>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if preflight.is_red() {</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play_recorded_fallback();</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    return;</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assert!(operator_token.is_active());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assert!(pulse.drive &lt;= 0.10);</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assert!(pulse.duration &lt;= 500_ms);</a:t>
            </a:r>
            <a:endParaRPr lang="en-US" sz="1620" dirty="0"/>
          </a:p>
          <a:p>
            <a:pPr algn="l" indent="0" marL="0">
              <a:lnSpc>
                <a:spcPct val="100000"/>
              </a:lnSpc>
              <a:buNone/>
            </a:pP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let evidence = run_once(pulse)?;</a:t>
            </a:r>
            <a:endParaRPr lang="en-US" sz="1620" dirty="0"/>
          </a:p>
          <a:p>
            <a:pPr algn="l" indent="0" marL="0">
              <a:lnSpc>
                <a:spcPct val="100000"/>
              </a:lnSpc>
              <a:buNone/>
            </a:pPr>
            <a:r>
              <a:rPr lang="en-US" sz="1620" dirty="0">
                <a:solidFill>
                  <a:srgbClr val="FFFFFF"/>
                </a:solidFill>
                <a:latin typeface="Courier New" pitchFamily="34" charset="0"/>
                <a:ea typeface="Courier New" pitchFamily="34" charset="-122"/>
                <a:cs typeface="Courier New" pitchFamily="34" charset="-120"/>
              </a:rPr>
              <a:t>assert_eq!(evidence.final_drive, STOP);</a:t>
            </a:r>
            <a:endParaRPr lang="en-US" sz="1620" dirty="0"/>
          </a:p>
        </p:txBody>
      </p:sp>
      <p:sp>
        <p:nvSpPr>
          <p:cNvPr id="27" name="Text 25"/>
          <p:cNvSpPr/>
          <p:nvPr/>
        </p:nvSpPr>
        <p:spPr>
          <a:xfrm>
            <a:off x="749808" y="5833872"/>
            <a:ext cx="5486400" cy="365760"/>
          </a:xfrm>
          <a:prstGeom prst="rect">
            <a:avLst/>
          </a:prstGeom>
          <a:noFill/>
          <a:ln/>
        </p:spPr>
        <p:txBody>
          <a:bodyPr wrap="square" lIns="0" tIns="0" rIns="0" bIns="0" rtlCol="0" anchor="t">
            <a:normAutofit/>
          </a:bodyPr>
          <a:lstStyle/>
          <a:p>
            <a:pPr algn="l" indent="0" marL="0">
              <a:lnSpc>
                <a:spcPct val="100000"/>
              </a:lnSpc>
              <a:buNone/>
            </a:pPr>
            <a:r>
              <a:rPr lang="en-US" sz="2100" b="1" dirty="0">
                <a:solidFill>
                  <a:srgbClr val="EF3340"/>
                </a:solidFill>
                <a:latin typeface="Arial" pitchFamily="34" charset="0"/>
                <a:ea typeface="Arial" pitchFamily="34" charset="-122"/>
                <a:cs typeface="Arial" pitchFamily="34" charset="-120"/>
              </a:rPr>
              <a:t>Never improvise movement on stage.</a:t>
            </a:r>
            <a:endParaRPr lang="en-US" sz="2100" dirty="0"/>
          </a:p>
        </p:txBody>
      </p:sp>
      <p:sp>
        <p:nvSpPr>
          <p:cNvPr id="28" name="Text 26"/>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specdog/leash • 566bc569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855FF"/>
        </a:solidFill>
      </p:bgPr>
    </p:bg>
    <p:spTree>
      <p:nvGrpSpPr>
        <p:cNvPr id="1" name=""/>
        <p:cNvGrpSpPr/>
        <p:nvPr/>
      </p:nvGrpSpPr>
      <p:grpSpPr>
        <a:xfrm>
          <a:off x="0" y="0"/>
          <a:ext cx="0" cy="0"/>
          <a:chOff x="0" y="0"/>
          <a:chExt cx="0" cy="0"/>
        </a:xfrm>
      </p:grpSpPr>
      <p:sp>
        <p:nvSpPr>
          <p:cNvPr id="2" name="Shape 0"/>
          <p:cNvSpPr/>
          <p:nvPr/>
        </p:nvSpPr>
        <p:spPr>
          <a:xfrm>
            <a:off x="292608" y="265176"/>
            <a:ext cx="11603736" cy="0"/>
          </a:xfrm>
          <a:prstGeom prst="line">
            <a:avLst/>
          </a:prstGeom>
          <a:noFill/>
          <a:ln w="15875">
            <a:solidFill>
              <a:srgbClr val="0B0B0B"/>
            </a:solidFill>
            <a:prstDash val="solid"/>
          </a:ln>
        </p:spPr>
      </p:sp>
      <p:sp>
        <p:nvSpPr>
          <p:cNvPr id="3" name="Text 1"/>
          <p:cNvSpPr/>
          <p:nvPr/>
        </p:nvSpPr>
        <p:spPr>
          <a:xfrm>
            <a:off x="393192" y="73152"/>
            <a:ext cx="4023360" cy="173736"/>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0B0B0B"/>
                </a:solidFill>
                <a:latin typeface="Arial" pitchFamily="34" charset="0"/>
                <a:ea typeface="Arial" pitchFamily="34" charset="-122"/>
                <a:cs typeface="Arial" pitchFamily="34" charset="-120"/>
              </a:rPr>
              <a:t>TAKE IT HOME</a:t>
            </a:r>
            <a:endParaRPr lang="en-US" sz="950" dirty="0"/>
          </a:p>
        </p:txBody>
      </p:sp>
      <p:sp>
        <p:nvSpPr>
          <p:cNvPr id="4" name="Text 2"/>
          <p:cNvSpPr/>
          <p:nvPr/>
        </p:nvSpPr>
        <p:spPr>
          <a:xfrm>
            <a:off x="4754880" y="73152"/>
            <a:ext cx="2743200" cy="173736"/>
          </a:xfrm>
          <a:prstGeom prst="rect">
            <a:avLst/>
          </a:prstGeom>
          <a:noFill/>
          <a:ln/>
        </p:spPr>
        <p:txBody>
          <a:bodyPr wrap="square" lIns="0" tIns="0" rIns="0" bIns="0" rtlCol="0" anchor="t">
            <a:normAutofit/>
          </a:bodyPr>
          <a:lstStyle/>
          <a:p>
            <a:pPr algn="ctr" indent="0" marL="0">
              <a:lnSpc>
                <a:spcPct val="100000"/>
              </a:lnSpc>
              <a:buNone/>
            </a:pPr>
            <a:r>
              <a:rPr lang="en-US" sz="950" b="1" dirty="0">
                <a:solidFill>
                  <a:srgbClr val="2855FF"/>
                </a:solidFill>
                <a:latin typeface="Arial" pitchFamily="34" charset="0"/>
                <a:ea typeface="Arial" pitchFamily="34" charset="-122"/>
                <a:cs typeface="Arial" pitchFamily="34" charset="-120"/>
              </a:rPr>
              <a:t>RUST TUESDAYS</a:t>
            </a:r>
            <a:endParaRPr lang="en-US" sz="950" dirty="0"/>
          </a:p>
        </p:txBody>
      </p:sp>
      <p:sp>
        <p:nvSpPr>
          <p:cNvPr id="5" name="Text 3"/>
          <p:cNvSpPr/>
          <p:nvPr/>
        </p:nvSpPr>
        <p:spPr>
          <a:xfrm>
            <a:off x="11384280" y="73152"/>
            <a:ext cx="365760" cy="173736"/>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0B0B0B"/>
                </a:solidFill>
                <a:latin typeface="Courier New" pitchFamily="34" charset="0"/>
                <a:ea typeface="Courier New" pitchFamily="34" charset="-122"/>
                <a:cs typeface="Courier New" pitchFamily="34" charset="-120"/>
              </a:rPr>
              <a:t>41</a:t>
            </a:r>
            <a:endParaRPr lang="en-US" sz="950" dirty="0"/>
          </a:p>
        </p:txBody>
      </p:sp>
      <p:sp>
        <p:nvSpPr>
          <p:cNvPr id="6" name="Text 4"/>
          <p:cNvSpPr/>
          <p:nvPr/>
        </p:nvSpPr>
        <p:spPr>
          <a:xfrm>
            <a:off x="621792" y="749808"/>
            <a:ext cx="6812280" cy="2331720"/>
          </a:xfrm>
          <a:prstGeom prst="rect">
            <a:avLst/>
          </a:prstGeom>
          <a:noFill/>
          <a:ln/>
        </p:spPr>
        <p:txBody>
          <a:bodyPr wrap="square" lIns="0" tIns="0" rIns="0" bIns="0" rtlCol="0" anchor="t">
            <a:normAutofit/>
          </a:bodyPr>
          <a:lstStyle/>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WRITE THE</a:t>
            </a:r>
            <a:endParaRPr lang="en-US" sz="4000" dirty="0"/>
          </a:p>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AUTHORITY RULE</a:t>
            </a:r>
            <a:endParaRPr lang="en-US" sz="4000" dirty="0"/>
          </a:p>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IN TYPES.</a:t>
            </a:r>
            <a:endParaRPr lang="en-US" sz="4000" dirty="0"/>
          </a:p>
        </p:txBody>
      </p:sp>
      <p:sp>
        <p:nvSpPr>
          <p:cNvPr id="7" name="Shape 5"/>
          <p:cNvSpPr/>
          <p:nvPr/>
        </p:nvSpPr>
        <p:spPr>
          <a:xfrm>
            <a:off x="713232" y="3703320"/>
            <a:ext cx="2560320" cy="365760"/>
          </a:xfrm>
          <a:prstGeom prst="roundRect">
            <a:avLst>
              <a:gd name="adj" fmla="val 15000"/>
            </a:avLst>
          </a:prstGeom>
          <a:solidFill>
            <a:srgbClr val="B8FF32"/>
          </a:solidFill>
          <a:ln w="17780">
            <a:solidFill>
              <a:srgbClr val="0B0B0B"/>
            </a:solidFill>
            <a:prstDash val="solid"/>
          </a:ln>
        </p:spPr>
      </p:sp>
      <p:sp>
        <p:nvSpPr>
          <p:cNvPr id="8" name="Text 6"/>
          <p:cNvSpPr/>
          <p:nvPr/>
        </p:nvSpPr>
        <p:spPr>
          <a:xfrm>
            <a:off x="786384" y="3767328"/>
            <a:ext cx="2414016" cy="21031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0B0B"/>
                </a:solidFill>
                <a:latin typeface="Arial" pitchFamily="34" charset="0"/>
                <a:ea typeface="Arial" pitchFamily="34" charset="-122"/>
                <a:cs typeface="Arial" pitchFamily="34" charset="-120"/>
              </a:rPr>
              <a:t>NEWTYPES VALIDATE</a:t>
            </a:r>
            <a:endParaRPr lang="en-US" sz="1050" dirty="0"/>
          </a:p>
        </p:txBody>
      </p:sp>
      <p:sp>
        <p:nvSpPr>
          <p:cNvPr id="9" name="Shape 7"/>
          <p:cNvSpPr/>
          <p:nvPr/>
        </p:nvSpPr>
        <p:spPr>
          <a:xfrm>
            <a:off x="3593592" y="3703320"/>
            <a:ext cx="2560320" cy="365760"/>
          </a:xfrm>
          <a:prstGeom prst="roundRect">
            <a:avLst>
              <a:gd name="adj" fmla="val 15000"/>
            </a:avLst>
          </a:prstGeom>
          <a:solidFill>
            <a:srgbClr val="FF5B9D"/>
          </a:solidFill>
          <a:ln w="17780">
            <a:solidFill>
              <a:srgbClr val="0B0B0B"/>
            </a:solidFill>
            <a:prstDash val="solid"/>
          </a:ln>
        </p:spPr>
      </p:sp>
      <p:sp>
        <p:nvSpPr>
          <p:cNvPr id="10" name="Text 8"/>
          <p:cNvSpPr/>
          <p:nvPr/>
        </p:nvSpPr>
        <p:spPr>
          <a:xfrm>
            <a:off x="3666744" y="3767328"/>
            <a:ext cx="2414016" cy="21031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0B0B"/>
                </a:solidFill>
                <a:latin typeface="Arial" pitchFamily="34" charset="0"/>
                <a:ea typeface="Arial" pitchFamily="34" charset="-122"/>
                <a:cs typeface="Arial" pitchFamily="34" charset="-120"/>
              </a:rPr>
              <a:t>TYPESTATE AUTHORIZES</a:t>
            </a:r>
            <a:endParaRPr lang="en-US" sz="1050" dirty="0"/>
          </a:p>
        </p:txBody>
      </p:sp>
      <p:sp>
        <p:nvSpPr>
          <p:cNvPr id="11" name="Shape 9"/>
          <p:cNvSpPr/>
          <p:nvPr/>
        </p:nvSpPr>
        <p:spPr>
          <a:xfrm>
            <a:off x="713232" y="4279392"/>
            <a:ext cx="2560320" cy="365760"/>
          </a:xfrm>
          <a:prstGeom prst="roundRect">
            <a:avLst>
              <a:gd name="adj" fmla="val 15000"/>
            </a:avLst>
          </a:prstGeom>
          <a:solidFill>
            <a:srgbClr val="B8FF32"/>
          </a:solidFill>
          <a:ln w="17780">
            <a:solidFill>
              <a:srgbClr val="0B0B0B"/>
            </a:solidFill>
            <a:prstDash val="solid"/>
          </a:ln>
        </p:spPr>
      </p:sp>
      <p:sp>
        <p:nvSpPr>
          <p:cNvPr id="12" name="Text 10"/>
          <p:cNvSpPr/>
          <p:nvPr/>
        </p:nvSpPr>
        <p:spPr>
          <a:xfrm>
            <a:off x="786384" y="4343400"/>
            <a:ext cx="2414016" cy="21031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0B0B"/>
                </a:solidFill>
                <a:latin typeface="Arial" pitchFamily="34" charset="0"/>
                <a:ea typeface="Arial" pitchFamily="34" charset="-122"/>
                <a:cs typeface="Arial" pitchFamily="34" charset="-120"/>
              </a:rPr>
              <a:t>OWNERSHIP ISOLATES</a:t>
            </a:r>
            <a:endParaRPr lang="en-US" sz="1050" dirty="0"/>
          </a:p>
        </p:txBody>
      </p:sp>
      <p:sp>
        <p:nvSpPr>
          <p:cNvPr id="13" name="Shape 11"/>
          <p:cNvSpPr/>
          <p:nvPr/>
        </p:nvSpPr>
        <p:spPr>
          <a:xfrm>
            <a:off x="3593592" y="4279392"/>
            <a:ext cx="2560320" cy="365760"/>
          </a:xfrm>
          <a:prstGeom prst="roundRect">
            <a:avLst>
              <a:gd name="adj" fmla="val 15000"/>
            </a:avLst>
          </a:prstGeom>
          <a:solidFill>
            <a:srgbClr val="FF5B9D"/>
          </a:solidFill>
          <a:ln w="17780">
            <a:solidFill>
              <a:srgbClr val="0B0B0B"/>
            </a:solidFill>
            <a:prstDash val="solid"/>
          </a:ln>
        </p:spPr>
      </p:sp>
      <p:sp>
        <p:nvSpPr>
          <p:cNvPr id="14" name="Text 12"/>
          <p:cNvSpPr/>
          <p:nvPr/>
        </p:nvSpPr>
        <p:spPr>
          <a:xfrm>
            <a:off x="3666744" y="4343400"/>
            <a:ext cx="2414016" cy="21031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0B0B"/>
                </a:solidFill>
                <a:latin typeface="Arial" pitchFamily="34" charset="0"/>
                <a:ea typeface="Arial" pitchFamily="34" charset="-122"/>
                <a:cs typeface="Arial" pitchFamily="34" charset="-120"/>
              </a:rPr>
              <a:t>DROP CLOSES</a:t>
            </a:r>
            <a:endParaRPr lang="en-US" sz="1050" dirty="0"/>
          </a:p>
        </p:txBody>
      </p:sp>
      <p:sp>
        <p:nvSpPr>
          <p:cNvPr id="15" name="Shape 13"/>
          <p:cNvSpPr/>
          <p:nvPr/>
        </p:nvSpPr>
        <p:spPr>
          <a:xfrm>
            <a:off x="713232" y="4855464"/>
            <a:ext cx="2560320" cy="365760"/>
          </a:xfrm>
          <a:prstGeom prst="roundRect">
            <a:avLst>
              <a:gd name="adj" fmla="val 15000"/>
            </a:avLst>
          </a:prstGeom>
          <a:solidFill>
            <a:srgbClr val="B8FF32"/>
          </a:solidFill>
          <a:ln w="17780">
            <a:solidFill>
              <a:srgbClr val="0B0B0B"/>
            </a:solidFill>
            <a:prstDash val="solid"/>
          </a:ln>
        </p:spPr>
      </p:sp>
      <p:sp>
        <p:nvSpPr>
          <p:cNvPr id="16" name="Text 14"/>
          <p:cNvSpPr/>
          <p:nvPr/>
        </p:nvSpPr>
        <p:spPr>
          <a:xfrm>
            <a:off x="786384" y="4919472"/>
            <a:ext cx="2414016" cy="21031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0B0B"/>
                </a:solidFill>
                <a:latin typeface="Arial" pitchFamily="34" charset="0"/>
                <a:ea typeface="Arial" pitchFamily="34" charset="-122"/>
                <a:cs typeface="Arial" pitchFamily="34" charset="-120"/>
              </a:rPr>
              <a:t>EVIDENCE PROVES</a:t>
            </a:r>
            <a:endParaRPr lang="en-US" sz="1050" dirty="0"/>
          </a:p>
        </p:txBody>
      </p:sp>
      <p:sp>
        <p:nvSpPr>
          <p:cNvPr id="17" name="Shape 15"/>
          <p:cNvSpPr/>
          <p:nvPr/>
        </p:nvSpPr>
        <p:spPr>
          <a:xfrm>
            <a:off x="8275320" y="777240"/>
            <a:ext cx="2971800" cy="4160520"/>
          </a:xfrm>
          <a:prstGeom prst="rect">
            <a:avLst/>
          </a:prstGeom>
          <a:solidFill>
            <a:srgbClr val="FFFDF7"/>
          </a:solidFill>
          <a:ln w="38100">
            <a:solidFill>
              <a:srgbClr val="0B0B0B"/>
            </a:solidFill>
            <a:prstDash val="solid"/>
          </a:ln>
        </p:spPr>
      </p:sp>
      <p:pic>
        <p:nvPicPr>
          <p:cNvPr id="18" name="Image 0" descr="/Users/ericmanganaro/leash-worktrees/geek-on-a-leash-talk/talks/geek-on-a-leash/output/geek-on-a-leash-qr.png">    </p:cNvPr>
          <p:cNvPicPr>
            <a:picLocks noChangeAspect="1"/>
          </p:cNvPicPr>
          <p:nvPr/>
        </p:nvPicPr>
        <p:blipFill>
          <a:blip r:embed="rId1"/>
          <a:stretch>
            <a:fillRect/>
          </a:stretch>
        </p:blipFill>
        <p:spPr>
          <a:xfrm>
            <a:off x="8613648" y="1078992"/>
            <a:ext cx="2286000" cy="2286000"/>
          </a:xfrm>
          <a:prstGeom prst="rect">
            <a:avLst/>
          </a:prstGeom>
        </p:spPr>
      </p:pic>
      <p:sp>
        <p:nvSpPr>
          <p:cNvPr id="19" name="Text 16"/>
          <p:cNvSpPr/>
          <p:nvPr/>
        </p:nvSpPr>
        <p:spPr>
          <a:xfrm>
            <a:off x="8549640" y="3611880"/>
            <a:ext cx="2423160" cy="32004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0B0B0B"/>
                </a:solidFill>
                <a:latin typeface="Arial" pitchFamily="34" charset="0"/>
                <a:ea typeface="Arial" pitchFamily="34" charset="-122"/>
                <a:cs typeface="Arial" pitchFamily="34" charset="-120"/>
              </a:rPr>
              <a:t>SLIDES + CODE</a:t>
            </a:r>
            <a:endParaRPr lang="en-US" sz="1700" dirty="0"/>
          </a:p>
        </p:txBody>
      </p:sp>
      <p:sp>
        <p:nvSpPr>
          <p:cNvPr id="20" name="Text 17"/>
          <p:cNvSpPr/>
          <p:nvPr/>
        </p:nvSpPr>
        <p:spPr>
          <a:xfrm>
            <a:off x="8503920" y="4096512"/>
            <a:ext cx="2514600" cy="457200"/>
          </a:xfrm>
          <a:prstGeom prst="rect">
            <a:avLst/>
          </a:prstGeom>
          <a:noFill/>
          <a:ln/>
        </p:spPr>
        <p:txBody>
          <a:bodyPr wrap="square" lIns="0" tIns="0" rIns="0" bIns="0" rtlCol="0" anchor="t">
            <a:normAutofit/>
          </a:bodyPr>
          <a:lstStyle/>
          <a:p>
            <a:pPr algn="ctr" indent="0" marL="0">
              <a:lnSpc>
                <a:spcPct val="100000"/>
              </a:lnSpc>
              <a:buNone/>
            </a:pPr>
            <a:r>
              <a:rPr lang="en-US" sz="1050" b="1" dirty="0">
                <a:solidFill>
                  <a:srgbClr val="6B6B66"/>
                </a:solidFill>
                <a:latin typeface="Arial" pitchFamily="34" charset="0"/>
                <a:ea typeface="Arial" pitchFamily="34" charset="-122"/>
                <a:cs typeface="Arial" pitchFamily="34" charset="-120"/>
              </a:rPr>
              <a:t>Direct PDF QR • valid through Sep 8, 2026 12:59 PM ET</a:t>
            </a:r>
            <a:endParaRPr lang="en-US" sz="1050" dirty="0"/>
          </a:p>
        </p:txBody>
      </p:sp>
      <p:sp>
        <p:nvSpPr>
          <p:cNvPr id="21" name="Text 18"/>
          <p:cNvSpPr/>
          <p:nvPr/>
        </p:nvSpPr>
        <p:spPr>
          <a:xfrm>
            <a:off x="7699248" y="5394960"/>
            <a:ext cx="4160520" cy="3657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FFFFFF"/>
                </a:solidFill>
                <a:latin typeface="Arial" pitchFamily="34" charset="0"/>
                <a:ea typeface="Arial" pitchFamily="34" charset="-122"/>
                <a:cs typeface="Arial" pitchFamily="34" charset="-120"/>
              </a:rPr>
              <a:t>github.com/specdog/leash</a:t>
            </a:r>
            <a:endParaRPr lang="en-US" sz="1700" dirty="0"/>
          </a:p>
        </p:txBody>
      </p:sp>
      <p:sp>
        <p:nvSpPr>
          <p:cNvPr id="22" name="Text 19"/>
          <p:cNvSpPr/>
          <p:nvPr/>
        </p:nvSpPr>
        <p:spPr>
          <a:xfrm>
            <a:off x="512064" y="6547104"/>
            <a:ext cx="5852160" cy="128016"/>
          </a:xfrm>
          <a:prstGeom prst="rect">
            <a:avLst/>
          </a:prstGeom>
          <a:noFill/>
          <a:ln/>
        </p:spPr>
        <p:txBody>
          <a:bodyPr wrap="square" lIns="0" tIns="0" rIns="0" bIns="0" rtlCol="0" anchor="t">
            <a:normAutofit/>
          </a:bodyPr>
          <a:lstStyle/>
          <a:p>
            <a:pPr algn="l" indent="0" marL="0">
              <a:lnSpc>
                <a:spcPct val="100000"/>
              </a:lnSpc>
              <a:buNone/>
            </a:pPr>
            <a:r>
              <a:rPr lang="en-US" sz="850" b="1" dirty="0">
                <a:solidFill>
                  <a:srgbClr val="6B6B66"/>
                </a:solidFill>
                <a:latin typeface="Arial" pitchFamily="34" charset="0"/>
                <a:ea typeface="Arial" pitchFamily="34" charset="-122"/>
                <a:cs typeface="Arial" pitchFamily="34" charset="-120"/>
              </a:rPr>
              <a:t>Rust Tuesdays • thank you</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specdog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Geek on a Leash — Rust Tuesdays</dc:title>
  <dc:subject>A source-level Rust Tuesdays talk about Leash and physical authority</dc:subject>
  <dc:creator>Eric Manganaro</dc:creator>
  <cp:lastModifiedBy>Eric Manganaro</cp:lastModifiedBy>
  <cp:revision>1</cp:revision>
  <dcterms:created xsi:type="dcterms:W3CDTF">2026-09-01T17:23:40Z</dcterms:created>
  <dcterms:modified xsi:type="dcterms:W3CDTF">2026-09-01T17:23:40Z</dcterms:modified>
</cp:coreProperties>
</file>